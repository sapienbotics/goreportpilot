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TC Avant Garde Gothic Bold" charset="1" panose="020B0802020202020204"/>
      <p:regular r:id="rId16"/>
    </p:embeddedFont>
    <p:embeddedFont>
      <p:font typeface="Inter Ultra-Bold" charset="1" panose="02000503000000020004"/>
      <p:regular r:id="rId17"/>
    </p:embeddedFont>
    <p:embeddedFont>
      <p:font typeface="Inter Bold" charset="1" panose="020B0802030000000004"/>
      <p:regular r:id="rId18"/>
    </p:embeddedFont>
    <p:embeddedFont>
      <p:font typeface="Inter" charset="1" panose="020B05020300000000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238492" y="2847551"/>
            <a:ext cx="13811016" cy="5980426"/>
          </a:xfrm>
          <a:prstGeom prst="rect">
            <a:avLst/>
          </a:prstGeom>
        </p:spPr>
        <p:txBody>
          <a:bodyPr anchor="t" rtlCol="false" tIns="0" lIns="0" bIns="0" rIns="0">
            <a:spAutoFit/>
          </a:bodyPr>
          <a:lstStyle/>
          <a:p>
            <a:pPr algn="ctr">
              <a:lnSpc>
                <a:spcPts val="20999"/>
              </a:lnSpc>
            </a:pPr>
            <a:r>
              <a:rPr lang="en-US" b="true" sz="23332" spc="-979">
                <a:solidFill>
                  <a:srgbClr val="A0F8EE"/>
                </a:solidFill>
                <a:latin typeface="ITC Avant Garde Gothic Bold"/>
                <a:ea typeface="ITC Avant Garde Gothic Bold"/>
                <a:cs typeface="ITC Avant Garde Gothic Bold"/>
                <a:sym typeface="ITC Avant Garde Gothic Bold"/>
              </a:rPr>
              <a:t>MONTHLY REPORT</a:t>
            </a:r>
          </a:p>
        </p:txBody>
      </p:sp>
      <p:grpSp>
        <p:nvGrpSpPr>
          <p:cNvPr name="Group 6" id="6"/>
          <p:cNvGrpSpPr/>
          <p:nvPr/>
        </p:nvGrpSpPr>
        <p:grpSpPr>
          <a:xfrm rot="0">
            <a:off x="6226400" y="4455569"/>
            <a:ext cx="5835200" cy="1375862"/>
            <a:chOff x="0" y="0"/>
            <a:chExt cx="1536843" cy="362367"/>
          </a:xfrm>
        </p:grpSpPr>
        <p:sp>
          <p:nvSpPr>
            <p:cNvPr name="Freeform 7" id="7"/>
            <p:cNvSpPr/>
            <p:nvPr/>
          </p:nvSpPr>
          <p:spPr>
            <a:xfrm flipH="false" flipV="false" rot="0">
              <a:off x="0" y="0"/>
              <a:ext cx="1536843" cy="362367"/>
            </a:xfrm>
            <a:custGeom>
              <a:avLst/>
              <a:gdLst/>
              <a:ahLst/>
              <a:cxnLst/>
              <a:rect r="r" b="b" t="t" l="l"/>
              <a:pathLst>
                <a:path h="362367" w="1536843">
                  <a:moveTo>
                    <a:pt x="132676" y="0"/>
                  </a:moveTo>
                  <a:lnTo>
                    <a:pt x="1404167" y="0"/>
                  </a:lnTo>
                  <a:cubicBezTo>
                    <a:pt x="1477442" y="0"/>
                    <a:pt x="1536843" y="59401"/>
                    <a:pt x="1536843" y="132676"/>
                  </a:cubicBezTo>
                  <a:lnTo>
                    <a:pt x="1536843" y="229691"/>
                  </a:lnTo>
                  <a:cubicBezTo>
                    <a:pt x="1536843" y="302966"/>
                    <a:pt x="1477442" y="362367"/>
                    <a:pt x="1404167" y="362367"/>
                  </a:cubicBezTo>
                  <a:lnTo>
                    <a:pt x="132676" y="362367"/>
                  </a:lnTo>
                  <a:cubicBezTo>
                    <a:pt x="59401" y="362367"/>
                    <a:pt x="0" y="302966"/>
                    <a:pt x="0" y="229691"/>
                  </a:cubicBezTo>
                  <a:lnTo>
                    <a:pt x="0" y="132676"/>
                  </a:lnTo>
                  <a:cubicBezTo>
                    <a:pt x="0" y="59401"/>
                    <a:pt x="59401" y="0"/>
                    <a:pt x="132676" y="0"/>
                  </a:cubicBezTo>
                  <a:close/>
                </a:path>
              </a:pathLst>
            </a:custGeom>
            <a:solidFill>
              <a:srgbClr val="FFB0F1"/>
            </a:solidFill>
            <a:ln w="38100" cap="rnd">
              <a:solidFill>
                <a:srgbClr val="000000"/>
              </a:solidFill>
              <a:prstDash val="solid"/>
              <a:round/>
            </a:ln>
          </p:spPr>
        </p:sp>
        <p:sp>
          <p:nvSpPr>
            <p:cNvPr name="TextBox 8" id="8"/>
            <p:cNvSpPr txBox="true"/>
            <p:nvPr/>
          </p:nvSpPr>
          <p:spPr>
            <a:xfrm>
              <a:off x="0" y="-85725"/>
              <a:ext cx="1536843" cy="448092"/>
            </a:xfrm>
            <a:prstGeom prst="rect">
              <a:avLst/>
            </a:prstGeom>
          </p:spPr>
          <p:txBody>
            <a:bodyPr anchor="ctr" rtlCol="false" tIns="50800" lIns="50800" bIns="50800" rIns="50800"/>
            <a:lstStyle/>
            <a:p>
              <a:pPr algn="ctr">
                <a:lnSpc>
                  <a:spcPts val="6299"/>
                </a:lnSpc>
                <a:spcBef>
                  <a:spcPct val="0"/>
                </a:spcBef>
              </a:pPr>
              <a:r>
                <a:rPr lang="en-US" b="true" sz="4499">
                  <a:solidFill>
                    <a:srgbClr val="272727"/>
                  </a:solidFill>
                  <a:latin typeface="Inter Ultra-Bold"/>
                  <a:ea typeface="Inter Ultra-Bold"/>
                  <a:cs typeface="Inter Ultra-Bold"/>
                  <a:sym typeface="Inter Ultra-Bold"/>
                </a:rPr>
                <a:t>PERFORMANCE</a:t>
              </a:r>
              <a:r>
                <a:rPr lang="en-US" b="true" sz="4499">
                  <a:solidFill>
                    <a:srgbClr val="272727"/>
                  </a:solidFill>
                  <a:latin typeface="Inter Ultra-Bold"/>
                  <a:ea typeface="Inter Ultra-Bold"/>
                  <a:cs typeface="Inter Ultra-Bold"/>
                  <a:sym typeface="Inter Ultra-Bold"/>
                </a:rPr>
                <a:t> </a:t>
              </a:r>
            </a:p>
          </p:txBody>
        </p:sp>
      </p:grpSp>
      <p:grpSp>
        <p:nvGrpSpPr>
          <p:cNvPr name="Group 9" id="9"/>
          <p:cNvGrpSpPr/>
          <p:nvPr/>
        </p:nvGrpSpPr>
        <p:grpSpPr>
          <a:xfrm rot="0">
            <a:off x="5892924" y="4810024"/>
            <a:ext cx="666952" cy="666952"/>
            <a:chOff x="0" y="0"/>
            <a:chExt cx="889270" cy="889270"/>
          </a:xfrm>
        </p:grpSpPr>
        <p:grpSp>
          <p:nvGrpSpPr>
            <p:cNvPr name="Group 10" id="10"/>
            <p:cNvGrpSpPr/>
            <p:nvPr/>
          </p:nvGrpSpPr>
          <p:grpSpPr>
            <a:xfrm rot="0">
              <a:off x="0" y="0"/>
              <a:ext cx="889270" cy="889270"/>
              <a:chOff x="0" y="0"/>
              <a:chExt cx="812800" cy="812800"/>
            </a:xfrm>
          </p:grpSpPr>
          <p:sp>
            <p:nvSpPr>
              <p:cNvPr name="Freeform 11" id="1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2" id="12"/>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4" id="14"/>
          <p:cNvGrpSpPr/>
          <p:nvPr/>
        </p:nvGrpSpPr>
        <p:grpSpPr>
          <a:xfrm rot="0">
            <a:off x="663949" y="663949"/>
            <a:ext cx="729502" cy="729502"/>
            <a:chOff x="0" y="0"/>
            <a:chExt cx="972669" cy="972669"/>
          </a:xfrm>
        </p:grpSpPr>
        <p:grpSp>
          <p:nvGrpSpPr>
            <p:cNvPr name="Group 15" id="15"/>
            <p:cNvGrpSpPr/>
            <p:nvPr/>
          </p:nvGrpSpPr>
          <p:grpSpPr>
            <a:xfrm rot="0">
              <a:off x="0" y="0"/>
              <a:ext cx="972669" cy="972669"/>
              <a:chOff x="0" y="0"/>
              <a:chExt cx="812800" cy="812800"/>
            </a:xfrm>
          </p:grpSpPr>
          <p:sp>
            <p:nvSpPr>
              <p:cNvPr name="Freeform 16" id="1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7" id="17"/>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9" id="19"/>
          <p:cNvGrpSpPr/>
          <p:nvPr/>
        </p:nvGrpSpPr>
        <p:grpSpPr>
          <a:xfrm rot="0">
            <a:off x="16894549" y="8827977"/>
            <a:ext cx="729502" cy="729502"/>
            <a:chOff x="0" y="0"/>
            <a:chExt cx="972669" cy="972669"/>
          </a:xfrm>
        </p:grpSpPr>
        <p:grpSp>
          <p:nvGrpSpPr>
            <p:cNvPr name="Group 20" id="20"/>
            <p:cNvGrpSpPr/>
            <p:nvPr/>
          </p:nvGrpSpPr>
          <p:grpSpPr>
            <a:xfrm rot="0">
              <a:off x="0" y="0"/>
              <a:ext cx="972669" cy="972669"/>
              <a:chOff x="0" y="0"/>
              <a:chExt cx="812800" cy="812800"/>
            </a:xfrm>
          </p:grpSpPr>
          <p:sp>
            <p:nvSpPr>
              <p:cNvPr name="Freeform 21" id="2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2" id="22"/>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4" id="24"/>
          <p:cNvGrpSpPr/>
          <p:nvPr/>
        </p:nvGrpSpPr>
        <p:grpSpPr>
          <a:xfrm rot="0">
            <a:off x="11728124" y="4810024"/>
            <a:ext cx="666952" cy="666952"/>
            <a:chOff x="0" y="0"/>
            <a:chExt cx="889270" cy="889270"/>
          </a:xfrm>
        </p:grpSpPr>
        <p:grpSp>
          <p:nvGrpSpPr>
            <p:cNvPr name="Group 25" id="25"/>
            <p:cNvGrpSpPr/>
            <p:nvPr/>
          </p:nvGrpSpPr>
          <p:grpSpPr>
            <a:xfrm rot="0">
              <a:off x="0" y="0"/>
              <a:ext cx="889270" cy="889270"/>
              <a:chOff x="0" y="0"/>
              <a:chExt cx="812800" cy="812800"/>
            </a:xfrm>
          </p:grpSpPr>
          <p:sp>
            <p:nvSpPr>
              <p:cNvPr name="Freeform 26" id="2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7" id="27"/>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076261" y="2039106"/>
            <a:ext cx="7633324" cy="2616850"/>
          </a:xfrm>
          <a:prstGeom prst="rect">
            <a:avLst/>
          </a:prstGeom>
        </p:spPr>
        <p:txBody>
          <a:bodyPr anchor="t" rtlCol="false" tIns="0" lIns="0" bIns="0" rIns="0">
            <a:spAutoFit/>
          </a:bodyPr>
          <a:lstStyle/>
          <a:p>
            <a:pPr algn="l">
              <a:lnSpc>
                <a:spcPts val="9165"/>
              </a:lnSpc>
            </a:pPr>
            <a:r>
              <a:rPr lang="en-US" b="true" sz="10183" spc="-427">
                <a:solidFill>
                  <a:srgbClr val="A0F8EE"/>
                </a:solidFill>
                <a:latin typeface="ITC Avant Garde Gothic Bold"/>
                <a:ea typeface="ITC Avant Garde Gothic Bold"/>
                <a:cs typeface="ITC Avant Garde Gothic Bold"/>
                <a:sym typeface="ITC Avant Garde Gothic Bold"/>
              </a:rPr>
              <a:t>EXECUTIVE SUMMARY</a:t>
            </a:r>
          </a:p>
        </p:txBody>
      </p:sp>
      <p:grpSp>
        <p:nvGrpSpPr>
          <p:cNvPr name="Group 6" id="6"/>
          <p:cNvGrpSpPr/>
          <p:nvPr/>
        </p:nvGrpSpPr>
        <p:grpSpPr>
          <a:xfrm rot="0">
            <a:off x="2041552" y="5603074"/>
            <a:ext cx="3627946" cy="687931"/>
            <a:chOff x="0" y="0"/>
            <a:chExt cx="955508" cy="181183"/>
          </a:xfrm>
        </p:grpSpPr>
        <p:sp>
          <p:nvSpPr>
            <p:cNvPr name="Freeform 7" id="7"/>
            <p:cNvSpPr/>
            <p:nvPr/>
          </p:nvSpPr>
          <p:spPr>
            <a:xfrm flipH="false" flipV="false" rot="0">
              <a:off x="0" y="0"/>
              <a:ext cx="955508" cy="181183"/>
            </a:xfrm>
            <a:custGeom>
              <a:avLst/>
              <a:gdLst/>
              <a:ahLst/>
              <a:cxnLst/>
              <a:rect r="r" b="b" t="t" l="l"/>
              <a:pathLst>
                <a:path h="181183" w="955508">
                  <a:moveTo>
                    <a:pt x="90592" y="0"/>
                  </a:moveTo>
                  <a:lnTo>
                    <a:pt x="864917" y="0"/>
                  </a:lnTo>
                  <a:cubicBezTo>
                    <a:pt x="888943" y="0"/>
                    <a:pt x="911985" y="9544"/>
                    <a:pt x="928975" y="26534"/>
                  </a:cubicBezTo>
                  <a:cubicBezTo>
                    <a:pt x="945964" y="43523"/>
                    <a:pt x="955508" y="66565"/>
                    <a:pt x="955508" y="90592"/>
                  </a:cubicBezTo>
                  <a:lnTo>
                    <a:pt x="955508" y="90592"/>
                  </a:lnTo>
                  <a:cubicBezTo>
                    <a:pt x="955508" y="114618"/>
                    <a:pt x="945964" y="137661"/>
                    <a:pt x="928975" y="154650"/>
                  </a:cubicBezTo>
                  <a:cubicBezTo>
                    <a:pt x="911985" y="171639"/>
                    <a:pt x="888943" y="181183"/>
                    <a:pt x="864917"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FFB0F1"/>
            </a:solidFill>
            <a:ln w="38100" cap="rnd">
              <a:solidFill>
                <a:srgbClr val="000000"/>
              </a:solidFill>
              <a:prstDash val="solid"/>
              <a:round/>
            </a:ln>
          </p:spPr>
        </p:sp>
        <p:sp>
          <p:nvSpPr>
            <p:cNvPr name="TextBox 8" id="8"/>
            <p:cNvSpPr txBox="true"/>
            <p:nvPr/>
          </p:nvSpPr>
          <p:spPr>
            <a:xfrm>
              <a:off x="0" y="-47625"/>
              <a:ext cx="955508" cy="228808"/>
            </a:xfrm>
            <a:prstGeom prst="rect">
              <a:avLst/>
            </a:prstGeom>
          </p:spPr>
          <p:txBody>
            <a:bodyPr anchor="ctr" rtlCol="false" tIns="50800" lIns="50800" bIns="50800" rIns="50800"/>
            <a:lstStyle/>
            <a:p>
              <a:pPr algn="ctr">
                <a:lnSpc>
                  <a:spcPts val="3359"/>
                </a:lnSpc>
                <a:spcBef>
                  <a:spcPct val="0"/>
                </a:spcBef>
              </a:pPr>
              <a:r>
                <a:rPr lang="en-US" b="true" sz="2399">
                  <a:solidFill>
                    <a:srgbClr val="272727"/>
                  </a:solidFill>
                  <a:latin typeface="Inter Ultra-Bold"/>
                  <a:ea typeface="Inter Ultra-Bold"/>
                  <a:cs typeface="Inter Ultra-Bold"/>
                  <a:sym typeface="Inter Ultra-Bold"/>
                </a:rPr>
                <a:t>QUICK</a:t>
              </a:r>
              <a:r>
                <a:rPr lang="en-US" b="true" sz="2399">
                  <a:solidFill>
                    <a:srgbClr val="272727"/>
                  </a:solidFill>
                  <a:latin typeface="Inter Ultra-Bold"/>
                  <a:ea typeface="Inter Ultra-Bold"/>
                  <a:cs typeface="Inter Ultra-Bold"/>
                  <a:sym typeface="Inter Ultra-Bold"/>
                </a:rPr>
                <a:t> SNAPSHOT</a:t>
              </a:r>
            </a:p>
          </p:txBody>
        </p:sp>
      </p:grpSp>
      <p:grpSp>
        <p:nvGrpSpPr>
          <p:cNvPr name="Group 9" id="9"/>
          <p:cNvGrpSpPr/>
          <p:nvPr/>
        </p:nvGrpSpPr>
        <p:grpSpPr>
          <a:xfrm rot="0">
            <a:off x="1708076" y="5603074"/>
            <a:ext cx="666952" cy="666952"/>
            <a:chOff x="0" y="0"/>
            <a:chExt cx="812800" cy="812800"/>
          </a:xfrm>
        </p:grpSpPr>
        <p:sp>
          <p:nvSpPr>
            <p:cNvPr name="Freeform 10" id="1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1" id="11"/>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2" id="12"/>
          <p:cNvSpPr/>
          <p:nvPr/>
        </p:nvSpPr>
        <p:spPr>
          <a:xfrm flipH="false" flipV="false" rot="0">
            <a:off x="1894990" y="5791853"/>
            <a:ext cx="293125" cy="289395"/>
          </a:xfrm>
          <a:custGeom>
            <a:avLst/>
            <a:gdLst/>
            <a:ahLst/>
            <a:cxnLst/>
            <a:rect r="r" b="b" t="t" l="l"/>
            <a:pathLst>
              <a:path h="289395" w="293125">
                <a:moveTo>
                  <a:pt x="0" y="0"/>
                </a:moveTo>
                <a:lnTo>
                  <a:pt x="293125" y="0"/>
                </a:lnTo>
                <a:lnTo>
                  <a:pt x="293125" y="289395"/>
                </a:lnTo>
                <a:lnTo>
                  <a:pt x="0" y="289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5336022" y="5603074"/>
            <a:ext cx="666952" cy="666952"/>
            <a:chOff x="0" y="0"/>
            <a:chExt cx="889270" cy="889270"/>
          </a:xfrm>
        </p:grpSpPr>
        <p:grpSp>
          <p:nvGrpSpPr>
            <p:cNvPr name="Group 14" id="14"/>
            <p:cNvGrpSpPr/>
            <p:nvPr/>
          </p:nvGrpSpPr>
          <p:grpSpPr>
            <a:xfrm rot="0">
              <a:off x="0" y="0"/>
              <a:ext cx="889270" cy="889270"/>
              <a:chOff x="0" y="0"/>
              <a:chExt cx="812800" cy="812800"/>
            </a:xfrm>
          </p:grpSpPr>
          <p:sp>
            <p:nvSpPr>
              <p:cNvPr name="Freeform 15" id="1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6" id="1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7" id="17"/>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8" id="18"/>
          <p:cNvGrpSpPr/>
          <p:nvPr/>
        </p:nvGrpSpPr>
        <p:grpSpPr>
          <a:xfrm rot="0">
            <a:off x="11275519" y="4136931"/>
            <a:ext cx="4843831" cy="687931"/>
            <a:chOff x="0" y="0"/>
            <a:chExt cx="6458442" cy="917241"/>
          </a:xfrm>
        </p:grpSpPr>
        <p:grpSp>
          <p:nvGrpSpPr>
            <p:cNvPr name="Group 19" id="19"/>
            <p:cNvGrpSpPr/>
            <p:nvPr/>
          </p:nvGrpSpPr>
          <p:grpSpPr>
            <a:xfrm rot="0">
              <a:off x="276014" y="0"/>
              <a:ext cx="5870825" cy="917241"/>
              <a:chOff x="0" y="0"/>
              <a:chExt cx="1159669" cy="181183"/>
            </a:xfrm>
          </p:grpSpPr>
          <p:sp>
            <p:nvSpPr>
              <p:cNvPr name="Freeform 20" id="20"/>
              <p:cNvSpPr/>
              <p:nvPr/>
            </p:nvSpPr>
            <p:spPr>
              <a:xfrm flipH="false" flipV="false" rot="0">
                <a:off x="0" y="0"/>
                <a:ext cx="1159669" cy="181183"/>
              </a:xfrm>
              <a:custGeom>
                <a:avLst/>
                <a:gdLst/>
                <a:ahLst/>
                <a:cxnLst/>
                <a:rect r="r" b="b" t="t" l="l"/>
                <a:pathLst>
                  <a:path h="181183" w="1159669">
                    <a:moveTo>
                      <a:pt x="90592" y="0"/>
                    </a:moveTo>
                    <a:lnTo>
                      <a:pt x="1069077" y="0"/>
                    </a:lnTo>
                    <a:cubicBezTo>
                      <a:pt x="1093104" y="0"/>
                      <a:pt x="1116146" y="9544"/>
                      <a:pt x="1133135" y="26534"/>
                    </a:cubicBezTo>
                    <a:cubicBezTo>
                      <a:pt x="1150125" y="43523"/>
                      <a:pt x="1159669" y="66565"/>
                      <a:pt x="1159669" y="90592"/>
                    </a:cubicBezTo>
                    <a:lnTo>
                      <a:pt x="1159669" y="90592"/>
                    </a:lnTo>
                    <a:cubicBezTo>
                      <a:pt x="1159669" y="114618"/>
                      <a:pt x="1150125" y="137661"/>
                      <a:pt x="1133135" y="154650"/>
                    </a:cubicBezTo>
                    <a:cubicBezTo>
                      <a:pt x="1116146" y="171639"/>
                      <a:pt x="1093104" y="181183"/>
                      <a:pt x="1069077"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21" id="21"/>
              <p:cNvSpPr txBox="true"/>
              <p:nvPr/>
            </p:nvSpPr>
            <p:spPr>
              <a:xfrm>
                <a:off x="0" y="-38100"/>
                <a:ext cx="1159669"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HIGHLIGHTS OF</a:t>
                </a:r>
                <a:r>
                  <a:rPr lang="en-US" b="true" sz="1899">
                    <a:solidFill>
                      <a:srgbClr val="272727"/>
                    </a:solidFill>
                    <a:latin typeface="Inter Bold"/>
                    <a:ea typeface="Inter Bold"/>
                    <a:cs typeface="Inter Bold"/>
                    <a:sym typeface="Inter Bold"/>
                  </a:rPr>
                  <a:t> THE MONTH</a:t>
                </a:r>
              </a:p>
            </p:txBody>
          </p:sp>
        </p:grpSp>
        <p:grpSp>
          <p:nvGrpSpPr>
            <p:cNvPr name="Group 22" id="22"/>
            <p:cNvGrpSpPr/>
            <p:nvPr/>
          </p:nvGrpSpPr>
          <p:grpSpPr>
            <a:xfrm rot="0">
              <a:off x="0" y="27972"/>
              <a:ext cx="889270" cy="889270"/>
              <a:chOff x="0" y="0"/>
              <a:chExt cx="812800" cy="812800"/>
            </a:xfrm>
          </p:grpSpPr>
          <p:sp>
            <p:nvSpPr>
              <p:cNvPr name="Freeform 23" id="23"/>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24" id="24"/>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25" id="25"/>
            <p:cNvSpPr/>
            <p:nvPr/>
          </p:nvSpPr>
          <p:spPr>
            <a:xfrm flipH="false" flipV="false" rot="0">
              <a:off x="249218" y="279677"/>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6" id="26"/>
            <p:cNvGrpSpPr/>
            <p:nvPr/>
          </p:nvGrpSpPr>
          <p:grpSpPr>
            <a:xfrm rot="0">
              <a:off x="5569172" y="0"/>
              <a:ext cx="889270" cy="889270"/>
              <a:chOff x="0" y="0"/>
              <a:chExt cx="812800" cy="812800"/>
            </a:xfrm>
          </p:grpSpPr>
          <p:sp>
            <p:nvSpPr>
              <p:cNvPr name="Freeform 27" id="27"/>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28" id="28"/>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29" id="29"/>
            <p:cNvSpPr/>
            <p:nvPr/>
          </p:nvSpPr>
          <p:spPr>
            <a:xfrm flipH="false" flipV="false" rot="0">
              <a:off x="5817959"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30" id="30"/>
          <p:cNvGrpSpPr/>
          <p:nvPr/>
        </p:nvGrpSpPr>
        <p:grpSpPr>
          <a:xfrm rot="0">
            <a:off x="11705994" y="2810825"/>
            <a:ext cx="3982882" cy="687931"/>
            <a:chOff x="0" y="0"/>
            <a:chExt cx="5310509" cy="917241"/>
          </a:xfrm>
        </p:grpSpPr>
        <p:grpSp>
          <p:nvGrpSpPr>
            <p:cNvPr name="Group 31" id="31"/>
            <p:cNvGrpSpPr/>
            <p:nvPr/>
          </p:nvGrpSpPr>
          <p:grpSpPr>
            <a:xfrm rot="0">
              <a:off x="311380" y="0"/>
              <a:ext cx="4660821" cy="917241"/>
              <a:chOff x="0" y="0"/>
              <a:chExt cx="920656" cy="181183"/>
            </a:xfrm>
          </p:grpSpPr>
          <p:sp>
            <p:nvSpPr>
              <p:cNvPr name="Freeform 32" id="32"/>
              <p:cNvSpPr/>
              <p:nvPr/>
            </p:nvSpPr>
            <p:spPr>
              <a:xfrm flipH="false" flipV="false" rot="0">
                <a:off x="0" y="0"/>
                <a:ext cx="920656" cy="181183"/>
              </a:xfrm>
              <a:custGeom>
                <a:avLst/>
                <a:gdLst/>
                <a:ahLst/>
                <a:cxnLst/>
                <a:rect r="r" b="b" t="t" l="l"/>
                <a:pathLst>
                  <a:path h="181183" w="920656">
                    <a:moveTo>
                      <a:pt x="90592" y="0"/>
                    </a:moveTo>
                    <a:lnTo>
                      <a:pt x="830064" y="0"/>
                    </a:lnTo>
                    <a:cubicBezTo>
                      <a:pt x="854091" y="0"/>
                      <a:pt x="877133" y="9544"/>
                      <a:pt x="894122" y="26534"/>
                    </a:cubicBezTo>
                    <a:cubicBezTo>
                      <a:pt x="911112" y="43523"/>
                      <a:pt x="920656" y="66565"/>
                      <a:pt x="920656" y="90592"/>
                    </a:cubicBezTo>
                    <a:lnTo>
                      <a:pt x="920656" y="90592"/>
                    </a:lnTo>
                    <a:cubicBezTo>
                      <a:pt x="920656" y="114618"/>
                      <a:pt x="911112" y="137661"/>
                      <a:pt x="894122" y="154650"/>
                    </a:cubicBezTo>
                    <a:cubicBezTo>
                      <a:pt x="877133" y="171639"/>
                      <a:pt x="854091" y="181183"/>
                      <a:pt x="830064"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33" id="33"/>
              <p:cNvSpPr txBox="true"/>
              <p:nvPr/>
            </p:nvSpPr>
            <p:spPr>
              <a:xfrm>
                <a:off x="0" y="-38100"/>
                <a:ext cx="920656"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KEY ACHIEV</a:t>
                </a:r>
                <a:r>
                  <a:rPr lang="en-US" b="true" sz="1899">
                    <a:solidFill>
                      <a:srgbClr val="272727"/>
                    </a:solidFill>
                    <a:latin typeface="Inter Bold"/>
                    <a:ea typeface="Inter Bold"/>
                    <a:cs typeface="Inter Bold"/>
                    <a:sym typeface="Inter Bold"/>
                  </a:rPr>
                  <a:t>EMENTS</a:t>
                </a:r>
              </a:p>
            </p:txBody>
          </p:sp>
        </p:grpSp>
        <p:grpSp>
          <p:nvGrpSpPr>
            <p:cNvPr name="Group 34" id="34"/>
            <p:cNvGrpSpPr/>
            <p:nvPr/>
          </p:nvGrpSpPr>
          <p:grpSpPr>
            <a:xfrm rot="0">
              <a:off x="0" y="0"/>
              <a:ext cx="889270" cy="889270"/>
              <a:chOff x="0" y="0"/>
              <a:chExt cx="812800" cy="812800"/>
            </a:xfrm>
          </p:grpSpPr>
          <p:sp>
            <p:nvSpPr>
              <p:cNvPr name="Freeform 35" id="3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36" id="3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37" id="37"/>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8" id="38"/>
            <p:cNvGrpSpPr/>
            <p:nvPr/>
          </p:nvGrpSpPr>
          <p:grpSpPr>
            <a:xfrm rot="0">
              <a:off x="4421240" y="27972"/>
              <a:ext cx="889270" cy="889270"/>
              <a:chOff x="0" y="0"/>
              <a:chExt cx="812800" cy="812800"/>
            </a:xfrm>
          </p:grpSpPr>
          <p:sp>
            <p:nvSpPr>
              <p:cNvPr name="Freeform 39" id="39"/>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40" id="40"/>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41" id="41"/>
            <p:cNvSpPr/>
            <p:nvPr/>
          </p:nvSpPr>
          <p:spPr>
            <a:xfrm flipH="false" flipV="false" rot="0">
              <a:off x="4670458" y="279677"/>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42" id="42"/>
          <p:cNvGrpSpPr/>
          <p:nvPr/>
        </p:nvGrpSpPr>
        <p:grpSpPr>
          <a:xfrm rot="0">
            <a:off x="11275987" y="5462138"/>
            <a:ext cx="4842896" cy="687931"/>
            <a:chOff x="0" y="0"/>
            <a:chExt cx="6457195" cy="917241"/>
          </a:xfrm>
        </p:grpSpPr>
        <p:grpSp>
          <p:nvGrpSpPr>
            <p:cNvPr name="Group 43" id="43"/>
            <p:cNvGrpSpPr/>
            <p:nvPr/>
          </p:nvGrpSpPr>
          <p:grpSpPr>
            <a:xfrm rot="0">
              <a:off x="463685" y="0"/>
              <a:ext cx="5487737" cy="917241"/>
              <a:chOff x="0" y="0"/>
              <a:chExt cx="1083997" cy="181183"/>
            </a:xfrm>
          </p:grpSpPr>
          <p:sp>
            <p:nvSpPr>
              <p:cNvPr name="Freeform 44" id="44"/>
              <p:cNvSpPr/>
              <p:nvPr/>
            </p:nvSpPr>
            <p:spPr>
              <a:xfrm flipH="false" flipV="false" rot="0">
                <a:off x="0" y="0"/>
                <a:ext cx="1083997" cy="181183"/>
              </a:xfrm>
              <a:custGeom>
                <a:avLst/>
                <a:gdLst/>
                <a:ahLst/>
                <a:cxnLst/>
                <a:rect r="r" b="b" t="t" l="l"/>
                <a:pathLst>
                  <a:path h="181183" w="1083997">
                    <a:moveTo>
                      <a:pt x="90592" y="0"/>
                    </a:moveTo>
                    <a:lnTo>
                      <a:pt x="993406" y="0"/>
                    </a:lnTo>
                    <a:cubicBezTo>
                      <a:pt x="1017432" y="0"/>
                      <a:pt x="1040475" y="9544"/>
                      <a:pt x="1057464" y="26534"/>
                    </a:cubicBezTo>
                    <a:cubicBezTo>
                      <a:pt x="1074453" y="43523"/>
                      <a:pt x="1083997" y="66565"/>
                      <a:pt x="1083997" y="90592"/>
                    </a:cubicBezTo>
                    <a:lnTo>
                      <a:pt x="1083997" y="90592"/>
                    </a:lnTo>
                    <a:cubicBezTo>
                      <a:pt x="1083997" y="114618"/>
                      <a:pt x="1074453" y="137661"/>
                      <a:pt x="1057464" y="154650"/>
                    </a:cubicBezTo>
                    <a:cubicBezTo>
                      <a:pt x="1040475" y="171639"/>
                      <a:pt x="1017432" y="181183"/>
                      <a:pt x="993406"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45" id="45"/>
              <p:cNvSpPr txBox="true"/>
              <p:nvPr/>
            </p:nvSpPr>
            <p:spPr>
              <a:xfrm>
                <a:off x="0" y="-38100"/>
                <a:ext cx="1083997"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MAJOR CHALL</a:t>
                </a:r>
                <a:r>
                  <a:rPr lang="en-US" b="true" sz="1899">
                    <a:solidFill>
                      <a:srgbClr val="272727"/>
                    </a:solidFill>
                    <a:latin typeface="Inter Bold"/>
                    <a:ea typeface="Inter Bold"/>
                    <a:cs typeface="Inter Bold"/>
                    <a:sym typeface="Inter Bold"/>
                  </a:rPr>
                  <a:t>ENGES FACED</a:t>
                </a:r>
              </a:p>
            </p:txBody>
          </p:sp>
        </p:grpSp>
        <p:grpSp>
          <p:nvGrpSpPr>
            <p:cNvPr name="Group 46" id="46"/>
            <p:cNvGrpSpPr/>
            <p:nvPr/>
          </p:nvGrpSpPr>
          <p:grpSpPr>
            <a:xfrm rot="0">
              <a:off x="0" y="27972"/>
              <a:ext cx="889270" cy="889270"/>
              <a:chOff x="0" y="0"/>
              <a:chExt cx="812800" cy="812800"/>
            </a:xfrm>
          </p:grpSpPr>
          <p:sp>
            <p:nvSpPr>
              <p:cNvPr name="Freeform 47" id="47"/>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48" id="48"/>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49" id="49"/>
            <p:cNvSpPr/>
            <p:nvPr/>
          </p:nvSpPr>
          <p:spPr>
            <a:xfrm flipH="false" flipV="false" rot="0">
              <a:off x="249218" y="279677"/>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0" id="50"/>
            <p:cNvGrpSpPr/>
            <p:nvPr/>
          </p:nvGrpSpPr>
          <p:grpSpPr>
            <a:xfrm rot="0">
              <a:off x="5567925" y="13986"/>
              <a:ext cx="889270" cy="889270"/>
              <a:chOff x="0" y="0"/>
              <a:chExt cx="812800" cy="812800"/>
            </a:xfrm>
          </p:grpSpPr>
          <p:sp>
            <p:nvSpPr>
              <p:cNvPr name="Freeform 51" id="5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52" id="5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53" id="53"/>
            <p:cNvSpPr/>
            <p:nvPr/>
          </p:nvSpPr>
          <p:spPr>
            <a:xfrm flipH="false" flipV="false" rot="0">
              <a:off x="5817143" y="265691"/>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4" id="54"/>
          <p:cNvGrpSpPr/>
          <p:nvPr/>
        </p:nvGrpSpPr>
        <p:grpSpPr>
          <a:xfrm rot="0">
            <a:off x="10959978" y="6788244"/>
            <a:ext cx="5474913" cy="687931"/>
            <a:chOff x="0" y="0"/>
            <a:chExt cx="7299884" cy="917241"/>
          </a:xfrm>
        </p:grpSpPr>
        <p:grpSp>
          <p:nvGrpSpPr>
            <p:cNvPr name="Group 55" id="55"/>
            <p:cNvGrpSpPr/>
            <p:nvPr/>
          </p:nvGrpSpPr>
          <p:grpSpPr>
            <a:xfrm rot="0">
              <a:off x="381135" y="0"/>
              <a:ext cx="6474115" cy="917241"/>
              <a:chOff x="0" y="0"/>
              <a:chExt cx="1278837" cy="181183"/>
            </a:xfrm>
          </p:grpSpPr>
          <p:sp>
            <p:nvSpPr>
              <p:cNvPr name="Freeform 56" id="56"/>
              <p:cNvSpPr/>
              <p:nvPr/>
            </p:nvSpPr>
            <p:spPr>
              <a:xfrm flipH="false" flipV="false" rot="0">
                <a:off x="0" y="0"/>
                <a:ext cx="1278837" cy="181183"/>
              </a:xfrm>
              <a:custGeom>
                <a:avLst/>
                <a:gdLst/>
                <a:ahLst/>
                <a:cxnLst/>
                <a:rect r="r" b="b" t="t" l="l"/>
                <a:pathLst>
                  <a:path h="181183" w="1278837">
                    <a:moveTo>
                      <a:pt x="90592" y="0"/>
                    </a:moveTo>
                    <a:lnTo>
                      <a:pt x="1188246" y="0"/>
                    </a:lnTo>
                    <a:cubicBezTo>
                      <a:pt x="1212272" y="0"/>
                      <a:pt x="1235315" y="9544"/>
                      <a:pt x="1252304" y="26534"/>
                    </a:cubicBezTo>
                    <a:cubicBezTo>
                      <a:pt x="1269293" y="43523"/>
                      <a:pt x="1278837" y="66565"/>
                      <a:pt x="1278837" y="90592"/>
                    </a:cubicBezTo>
                    <a:lnTo>
                      <a:pt x="1278837" y="90592"/>
                    </a:lnTo>
                    <a:cubicBezTo>
                      <a:pt x="1278837" y="114618"/>
                      <a:pt x="1269293" y="137661"/>
                      <a:pt x="1252304" y="154650"/>
                    </a:cubicBezTo>
                    <a:cubicBezTo>
                      <a:pt x="1235315" y="171639"/>
                      <a:pt x="1212272" y="181183"/>
                      <a:pt x="1188246"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57" id="57"/>
              <p:cNvSpPr txBox="true"/>
              <p:nvPr/>
            </p:nvSpPr>
            <p:spPr>
              <a:xfrm>
                <a:off x="0" y="-38100"/>
                <a:ext cx="1278837"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OVERALL</a:t>
                </a:r>
                <a:r>
                  <a:rPr lang="en-US" b="true" sz="1899">
                    <a:solidFill>
                      <a:srgbClr val="272727"/>
                    </a:solidFill>
                    <a:latin typeface="Inter Bold"/>
                    <a:ea typeface="Inter Bold"/>
                    <a:cs typeface="Inter Bold"/>
                    <a:sym typeface="Inter Bold"/>
                  </a:rPr>
                  <a:t> PERFORMANCE RATING</a:t>
                </a:r>
              </a:p>
            </p:txBody>
          </p:sp>
        </p:grpSp>
        <p:grpSp>
          <p:nvGrpSpPr>
            <p:cNvPr name="Group 58" id="58"/>
            <p:cNvGrpSpPr/>
            <p:nvPr/>
          </p:nvGrpSpPr>
          <p:grpSpPr>
            <a:xfrm rot="0">
              <a:off x="0" y="0"/>
              <a:ext cx="889270" cy="889270"/>
              <a:chOff x="0" y="0"/>
              <a:chExt cx="812800" cy="812800"/>
            </a:xfrm>
          </p:grpSpPr>
          <p:sp>
            <p:nvSpPr>
              <p:cNvPr name="Freeform 59" id="59"/>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60" id="60"/>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61" id="61"/>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2" id="62"/>
            <p:cNvGrpSpPr/>
            <p:nvPr/>
          </p:nvGrpSpPr>
          <p:grpSpPr>
            <a:xfrm rot="0">
              <a:off x="6410615" y="13986"/>
              <a:ext cx="889270" cy="889270"/>
              <a:chOff x="0" y="0"/>
              <a:chExt cx="812800" cy="812800"/>
            </a:xfrm>
          </p:grpSpPr>
          <p:sp>
            <p:nvSpPr>
              <p:cNvPr name="Freeform 63" id="63"/>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64" id="64"/>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65" id="65"/>
            <p:cNvSpPr/>
            <p:nvPr/>
          </p:nvSpPr>
          <p:spPr>
            <a:xfrm flipH="false" flipV="false" rot="0">
              <a:off x="6659833" y="265691"/>
              <a:ext cx="390834" cy="385860"/>
            </a:xfrm>
            <a:custGeom>
              <a:avLst/>
              <a:gdLst/>
              <a:ahLst/>
              <a:cxnLst/>
              <a:rect r="r" b="b" t="t" l="l"/>
              <a:pathLst>
                <a:path h="385860" w="390834">
                  <a:moveTo>
                    <a:pt x="0" y="0"/>
                  </a:moveTo>
                  <a:lnTo>
                    <a:pt x="390833" y="0"/>
                  </a:lnTo>
                  <a:lnTo>
                    <a:pt x="390833"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6" id="66"/>
          <p:cNvGrpSpPr/>
          <p:nvPr/>
        </p:nvGrpSpPr>
        <p:grpSpPr>
          <a:xfrm rot="0">
            <a:off x="663949" y="663949"/>
            <a:ext cx="729502" cy="729502"/>
            <a:chOff x="0" y="0"/>
            <a:chExt cx="972669" cy="972669"/>
          </a:xfrm>
        </p:grpSpPr>
        <p:grpSp>
          <p:nvGrpSpPr>
            <p:cNvPr name="Group 67" id="67"/>
            <p:cNvGrpSpPr/>
            <p:nvPr/>
          </p:nvGrpSpPr>
          <p:grpSpPr>
            <a:xfrm rot="0">
              <a:off x="0" y="0"/>
              <a:ext cx="972669" cy="972669"/>
              <a:chOff x="0" y="0"/>
              <a:chExt cx="812800" cy="812800"/>
            </a:xfrm>
          </p:grpSpPr>
          <p:sp>
            <p:nvSpPr>
              <p:cNvPr name="Freeform 68" id="68"/>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69" id="69"/>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70" id="70"/>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1" id="71"/>
          <p:cNvGrpSpPr/>
          <p:nvPr/>
        </p:nvGrpSpPr>
        <p:grpSpPr>
          <a:xfrm rot="0">
            <a:off x="16894549" y="8827977"/>
            <a:ext cx="729502" cy="729502"/>
            <a:chOff x="0" y="0"/>
            <a:chExt cx="972669" cy="972669"/>
          </a:xfrm>
        </p:grpSpPr>
        <p:grpSp>
          <p:nvGrpSpPr>
            <p:cNvPr name="Group 72" id="72"/>
            <p:cNvGrpSpPr/>
            <p:nvPr/>
          </p:nvGrpSpPr>
          <p:grpSpPr>
            <a:xfrm rot="0">
              <a:off x="0" y="0"/>
              <a:ext cx="972669" cy="972669"/>
              <a:chOff x="0" y="0"/>
              <a:chExt cx="812800" cy="812800"/>
            </a:xfrm>
          </p:grpSpPr>
          <p:sp>
            <p:nvSpPr>
              <p:cNvPr name="Freeform 73" id="73"/>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74" id="74"/>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75" id="75"/>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76" id="76"/>
          <p:cNvSpPr txBox="true"/>
          <p:nvPr/>
        </p:nvSpPr>
        <p:spPr>
          <a:xfrm rot="0">
            <a:off x="2076261" y="6779139"/>
            <a:ext cx="6786591" cy="1564005"/>
          </a:xfrm>
          <a:prstGeom prst="rect">
            <a:avLst/>
          </a:prstGeom>
        </p:spPr>
        <p:txBody>
          <a:bodyPr anchor="t" rtlCol="false" tIns="0" lIns="0" bIns="0" rIns="0">
            <a:spAutoFit/>
          </a:bodyPr>
          <a:lstStyle/>
          <a:p>
            <a:pPr algn="just">
              <a:lnSpc>
                <a:spcPts val="2520"/>
              </a:lnSpc>
              <a:spcBef>
                <a:spcPct val="0"/>
              </a:spcBef>
            </a:pPr>
            <a:r>
              <a:rPr lang="en-US" sz="1800">
                <a:solidFill>
                  <a:srgbClr val="A0F8EE"/>
                </a:solidFill>
                <a:latin typeface="Inter"/>
                <a:ea typeface="Inter"/>
                <a:cs typeface="Inter"/>
                <a:sym typeface="Inter"/>
              </a:rPr>
              <a:t>L</a:t>
            </a:r>
            <a:r>
              <a:rPr lang="en-US" sz="1800">
                <a:solidFill>
                  <a:srgbClr val="A0F8EE"/>
                </a:solidFill>
                <a:latin typeface="Inter"/>
                <a:ea typeface="Inter"/>
                <a:cs typeface="Inter"/>
                <a:sym typeface="Inter"/>
              </a:rPr>
              <a:t>orem ipsum dolor sit amet, consectetur adipiscing elit. In facilisis dolor sit amet ex sagittis, non blandit lorem fringilla. In aliquam quam risus, eu ultrices magna euismod vel. In at facilisis nulla. Integer a enim eget purus vehicula tincidunt sit amet et libero.</a:t>
            </a:r>
          </a:p>
        </p:txBody>
      </p:sp>
      <p:sp>
        <p:nvSpPr>
          <p:cNvPr name="AutoShape 77" id="77"/>
          <p:cNvSpPr/>
          <p:nvPr/>
        </p:nvSpPr>
        <p:spPr>
          <a:xfrm>
            <a:off x="10033436" y="1028700"/>
            <a:ext cx="0" cy="8229600"/>
          </a:xfrm>
          <a:prstGeom prst="line">
            <a:avLst/>
          </a:prstGeom>
          <a:ln cap="flat" w="19050">
            <a:solidFill>
              <a:srgbClr val="A0F8EE"/>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894616" y="2198694"/>
            <a:ext cx="7633324" cy="1454800"/>
          </a:xfrm>
          <a:prstGeom prst="rect">
            <a:avLst/>
          </a:prstGeom>
        </p:spPr>
        <p:txBody>
          <a:bodyPr anchor="t" rtlCol="false" tIns="0" lIns="0" bIns="0" rIns="0">
            <a:spAutoFit/>
          </a:bodyPr>
          <a:lstStyle/>
          <a:p>
            <a:pPr algn="l">
              <a:lnSpc>
                <a:spcPts val="9165"/>
              </a:lnSpc>
            </a:pPr>
            <a:r>
              <a:rPr lang="en-US" b="true" sz="10183" spc="-427">
                <a:solidFill>
                  <a:srgbClr val="A0F8EE"/>
                </a:solidFill>
                <a:latin typeface="ITC Avant Garde Gothic Bold"/>
                <a:ea typeface="ITC Avant Garde Gothic Bold"/>
                <a:cs typeface="ITC Avant Garde Gothic Bold"/>
                <a:sym typeface="ITC Avant Garde Gothic Bold"/>
              </a:rPr>
              <a:t>OBJECTIVES</a:t>
            </a:r>
          </a:p>
        </p:txBody>
      </p:sp>
      <p:grpSp>
        <p:nvGrpSpPr>
          <p:cNvPr name="Group 6" id="6"/>
          <p:cNvGrpSpPr/>
          <p:nvPr/>
        </p:nvGrpSpPr>
        <p:grpSpPr>
          <a:xfrm rot="0">
            <a:off x="2041179" y="5757811"/>
            <a:ext cx="5384068" cy="687931"/>
            <a:chOff x="0" y="0"/>
            <a:chExt cx="1418026" cy="181183"/>
          </a:xfrm>
        </p:grpSpPr>
        <p:sp>
          <p:nvSpPr>
            <p:cNvPr name="Freeform 7" id="7"/>
            <p:cNvSpPr/>
            <p:nvPr/>
          </p:nvSpPr>
          <p:spPr>
            <a:xfrm flipH="false" flipV="false" rot="0">
              <a:off x="0" y="0"/>
              <a:ext cx="1418026" cy="181183"/>
            </a:xfrm>
            <a:custGeom>
              <a:avLst/>
              <a:gdLst/>
              <a:ahLst/>
              <a:cxnLst/>
              <a:rect r="r" b="b" t="t" l="l"/>
              <a:pathLst>
                <a:path h="181183" w="1418026">
                  <a:moveTo>
                    <a:pt x="90592" y="0"/>
                  </a:moveTo>
                  <a:lnTo>
                    <a:pt x="1327434" y="0"/>
                  </a:lnTo>
                  <a:cubicBezTo>
                    <a:pt x="1351461" y="0"/>
                    <a:pt x="1374503" y="9544"/>
                    <a:pt x="1391492" y="26534"/>
                  </a:cubicBezTo>
                  <a:cubicBezTo>
                    <a:pt x="1408482" y="43523"/>
                    <a:pt x="1418026" y="66565"/>
                    <a:pt x="1418026" y="90592"/>
                  </a:cubicBezTo>
                  <a:lnTo>
                    <a:pt x="1418026" y="90592"/>
                  </a:lnTo>
                  <a:cubicBezTo>
                    <a:pt x="1418026" y="114618"/>
                    <a:pt x="1408482" y="137661"/>
                    <a:pt x="1391492" y="154650"/>
                  </a:cubicBezTo>
                  <a:cubicBezTo>
                    <a:pt x="1374503" y="171639"/>
                    <a:pt x="1351461" y="181183"/>
                    <a:pt x="1327434"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FFB0F1"/>
            </a:solidFill>
            <a:ln w="38100" cap="rnd">
              <a:solidFill>
                <a:srgbClr val="000000"/>
              </a:solidFill>
              <a:prstDash val="solid"/>
              <a:round/>
            </a:ln>
          </p:spPr>
        </p:sp>
        <p:sp>
          <p:nvSpPr>
            <p:cNvPr name="TextBox 8" id="8"/>
            <p:cNvSpPr txBox="true"/>
            <p:nvPr/>
          </p:nvSpPr>
          <p:spPr>
            <a:xfrm>
              <a:off x="0" y="-47625"/>
              <a:ext cx="1418026" cy="228808"/>
            </a:xfrm>
            <a:prstGeom prst="rect">
              <a:avLst/>
            </a:prstGeom>
          </p:spPr>
          <p:txBody>
            <a:bodyPr anchor="ctr" rtlCol="false" tIns="50800" lIns="50800" bIns="50800" rIns="50800"/>
            <a:lstStyle/>
            <a:p>
              <a:pPr algn="ctr">
                <a:lnSpc>
                  <a:spcPts val="3359"/>
                </a:lnSpc>
                <a:spcBef>
                  <a:spcPct val="0"/>
                </a:spcBef>
              </a:pPr>
              <a:r>
                <a:rPr lang="en-US" b="true" sz="2399">
                  <a:solidFill>
                    <a:srgbClr val="272727"/>
                  </a:solidFill>
                  <a:latin typeface="Inter Ultra-Bold"/>
                  <a:ea typeface="Inter Ultra-Bold"/>
                  <a:cs typeface="Inter Ultra-Bold"/>
                  <a:sym typeface="Inter Ultra-Bold"/>
                </a:rPr>
                <a:t>WHAT WE AIMED</a:t>
              </a:r>
              <a:r>
                <a:rPr lang="en-US" b="true" sz="2399">
                  <a:solidFill>
                    <a:srgbClr val="272727"/>
                  </a:solidFill>
                  <a:latin typeface="Inter Ultra-Bold"/>
                  <a:ea typeface="Inter Ultra-Bold"/>
                  <a:cs typeface="Inter Ultra-Bold"/>
                  <a:sym typeface="Inter Ultra-Bold"/>
                </a:rPr>
                <a:t> TO ACHIEVE</a:t>
              </a:r>
            </a:p>
          </p:txBody>
        </p:sp>
      </p:grpSp>
      <p:grpSp>
        <p:nvGrpSpPr>
          <p:cNvPr name="Group 9" id="9"/>
          <p:cNvGrpSpPr/>
          <p:nvPr/>
        </p:nvGrpSpPr>
        <p:grpSpPr>
          <a:xfrm rot="0">
            <a:off x="1707703" y="5757811"/>
            <a:ext cx="666952" cy="666952"/>
            <a:chOff x="0" y="0"/>
            <a:chExt cx="812800" cy="812800"/>
          </a:xfrm>
        </p:grpSpPr>
        <p:sp>
          <p:nvSpPr>
            <p:cNvPr name="Freeform 10" id="1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1" id="11"/>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2" id="12"/>
          <p:cNvSpPr/>
          <p:nvPr/>
        </p:nvSpPr>
        <p:spPr>
          <a:xfrm flipH="false" flipV="false" rot="0">
            <a:off x="1894616" y="5957080"/>
            <a:ext cx="293125" cy="289395"/>
          </a:xfrm>
          <a:custGeom>
            <a:avLst/>
            <a:gdLst/>
            <a:ahLst/>
            <a:cxnLst/>
            <a:rect r="r" b="b" t="t" l="l"/>
            <a:pathLst>
              <a:path h="289395" w="293125">
                <a:moveTo>
                  <a:pt x="0" y="0"/>
                </a:moveTo>
                <a:lnTo>
                  <a:pt x="293126" y="0"/>
                </a:lnTo>
                <a:lnTo>
                  <a:pt x="293126" y="289394"/>
                </a:lnTo>
                <a:lnTo>
                  <a:pt x="0" y="2893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7091770" y="5757811"/>
            <a:ext cx="666952" cy="666952"/>
            <a:chOff x="0" y="0"/>
            <a:chExt cx="889270" cy="889270"/>
          </a:xfrm>
        </p:grpSpPr>
        <p:grpSp>
          <p:nvGrpSpPr>
            <p:cNvPr name="Group 14" id="14"/>
            <p:cNvGrpSpPr/>
            <p:nvPr/>
          </p:nvGrpSpPr>
          <p:grpSpPr>
            <a:xfrm rot="0">
              <a:off x="0" y="0"/>
              <a:ext cx="889270" cy="889270"/>
              <a:chOff x="0" y="0"/>
              <a:chExt cx="812800" cy="812800"/>
            </a:xfrm>
          </p:grpSpPr>
          <p:sp>
            <p:nvSpPr>
              <p:cNvPr name="Freeform 15" id="1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6" id="1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7" id="17"/>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8" id="18"/>
          <p:cNvGrpSpPr/>
          <p:nvPr/>
        </p:nvGrpSpPr>
        <p:grpSpPr>
          <a:xfrm rot="0">
            <a:off x="663949" y="663949"/>
            <a:ext cx="729502" cy="729502"/>
            <a:chOff x="0" y="0"/>
            <a:chExt cx="972669" cy="972669"/>
          </a:xfrm>
        </p:grpSpPr>
        <p:grpSp>
          <p:nvGrpSpPr>
            <p:cNvPr name="Group 19" id="19"/>
            <p:cNvGrpSpPr/>
            <p:nvPr/>
          </p:nvGrpSpPr>
          <p:grpSpPr>
            <a:xfrm rot="0">
              <a:off x="0" y="0"/>
              <a:ext cx="972669" cy="972669"/>
              <a:chOff x="0" y="0"/>
              <a:chExt cx="812800" cy="812800"/>
            </a:xfrm>
          </p:grpSpPr>
          <p:sp>
            <p:nvSpPr>
              <p:cNvPr name="Freeform 20" id="2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1" id="21"/>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3" id="23"/>
          <p:cNvGrpSpPr/>
          <p:nvPr/>
        </p:nvGrpSpPr>
        <p:grpSpPr>
          <a:xfrm rot="0">
            <a:off x="16894549" y="8827977"/>
            <a:ext cx="729502" cy="729502"/>
            <a:chOff x="0" y="0"/>
            <a:chExt cx="972669" cy="972669"/>
          </a:xfrm>
        </p:grpSpPr>
        <p:grpSp>
          <p:nvGrpSpPr>
            <p:cNvPr name="Group 24" id="24"/>
            <p:cNvGrpSpPr/>
            <p:nvPr/>
          </p:nvGrpSpPr>
          <p:grpSpPr>
            <a:xfrm rot="0">
              <a:off x="0" y="0"/>
              <a:ext cx="972669" cy="972669"/>
              <a:chOff x="0" y="0"/>
              <a:chExt cx="812800" cy="812800"/>
            </a:xfrm>
          </p:grpSpPr>
          <p:sp>
            <p:nvSpPr>
              <p:cNvPr name="Freeform 25" id="2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6" id="26"/>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28" id="28"/>
          <p:cNvSpPr txBox="true"/>
          <p:nvPr/>
        </p:nvSpPr>
        <p:spPr>
          <a:xfrm rot="0">
            <a:off x="2075888" y="6933876"/>
            <a:ext cx="7452053" cy="1249680"/>
          </a:xfrm>
          <a:prstGeom prst="rect">
            <a:avLst/>
          </a:prstGeom>
        </p:spPr>
        <p:txBody>
          <a:bodyPr anchor="t" rtlCol="false" tIns="0" lIns="0" bIns="0" rIns="0">
            <a:spAutoFit/>
          </a:bodyPr>
          <a:lstStyle/>
          <a:p>
            <a:pPr algn="just">
              <a:lnSpc>
                <a:spcPts val="2520"/>
              </a:lnSpc>
              <a:spcBef>
                <a:spcPct val="0"/>
              </a:spcBef>
            </a:pPr>
            <a:r>
              <a:rPr lang="en-US" sz="1800">
                <a:solidFill>
                  <a:srgbClr val="A0F8EE"/>
                </a:solidFill>
                <a:latin typeface="Inter"/>
                <a:ea typeface="Inter"/>
                <a:cs typeface="Inter"/>
                <a:sym typeface="Inter"/>
              </a:rPr>
              <a:t>L</a:t>
            </a:r>
            <a:r>
              <a:rPr lang="en-US" sz="1800">
                <a:solidFill>
                  <a:srgbClr val="A0F8EE"/>
                </a:solidFill>
                <a:latin typeface="Inter"/>
                <a:ea typeface="Inter"/>
                <a:cs typeface="Inter"/>
                <a:sym typeface="Inter"/>
              </a:rPr>
              <a:t>orem ipsum dolor sit amet, consectetur adipiscing elit. In facilisis dolor sit amet ex sagittis, non blandit lorem fringilla. In aliquam quam risus, eu ultrices magna euismod vel. In at facilisis nulla. Integer a enim eget purus vehicula tincidunt sit amet et libero.</a:t>
            </a:r>
          </a:p>
        </p:txBody>
      </p:sp>
      <p:sp>
        <p:nvSpPr>
          <p:cNvPr name="AutoShape 29" id="29"/>
          <p:cNvSpPr/>
          <p:nvPr/>
        </p:nvSpPr>
        <p:spPr>
          <a:xfrm flipH="true">
            <a:off x="10832866" y="1028700"/>
            <a:ext cx="0" cy="8229600"/>
          </a:xfrm>
          <a:prstGeom prst="line">
            <a:avLst/>
          </a:prstGeom>
          <a:ln cap="flat" w="19050">
            <a:solidFill>
              <a:srgbClr val="A0F8EE"/>
            </a:solidFill>
            <a:prstDash val="solid"/>
            <a:headEnd type="none" len="sm" w="sm"/>
            <a:tailEnd type="none" len="sm" w="sm"/>
          </a:ln>
        </p:spPr>
      </p:sp>
      <p:sp>
        <p:nvSpPr>
          <p:cNvPr name="Freeform 30" id="30"/>
          <p:cNvSpPr/>
          <p:nvPr/>
        </p:nvSpPr>
        <p:spPr>
          <a:xfrm flipH="false" flipV="false" rot="0">
            <a:off x="12137417" y="2630904"/>
            <a:ext cx="3947059" cy="5025191"/>
          </a:xfrm>
          <a:custGeom>
            <a:avLst/>
            <a:gdLst/>
            <a:ahLst/>
            <a:cxnLst/>
            <a:rect r="r" b="b" t="t" l="l"/>
            <a:pathLst>
              <a:path h="5025191" w="3947059">
                <a:moveTo>
                  <a:pt x="0" y="0"/>
                </a:moveTo>
                <a:lnTo>
                  <a:pt x="3947060" y="0"/>
                </a:lnTo>
                <a:lnTo>
                  <a:pt x="3947060" y="5025192"/>
                </a:lnTo>
                <a:lnTo>
                  <a:pt x="0" y="5025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894616" y="2198694"/>
            <a:ext cx="8352162" cy="2616850"/>
          </a:xfrm>
          <a:prstGeom prst="rect">
            <a:avLst/>
          </a:prstGeom>
        </p:spPr>
        <p:txBody>
          <a:bodyPr anchor="t" rtlCol="false" tIns="0" lIns="0" bIns="0" rIns="0">
            <a:spAutoFit/>
          </a:bodyPr>
          <a:lstStyle/>
          <a:p>
            <a:pPr algn="l">
              <a:lnSpc>
                <a:spcPts val="9165"/>
              </a:lnSpc>
            </a:pPr>
            <a:r>
              <a:rPr lang="en-US" b="true" sz="10183" spc="-427">
                <a:solidFill>
                  <a:srgbClr val="A0F8EE"/>
                </a:solidFill>
                <a:latin typeface="ITC Avant Garde Gothic Bold"/>
                <a:ea typeface="ITC Avant Garde Gothic Bold"/>
                <a:cs typeface="ITC Avant Garde Gothic Bold"/>
                <a:sym typeface="ITC Avant Garde Gothic Bold"/>
              </a:rPr>
              <a:t>KEY METRICS OVERVIEW</a:t>
            </a:r>
          </a:p>
        </p:txBody>
      </p:sp>
      <p:grpSp>
        <p:nvGrpSpPr>
          <p:cNvPr name="Group 6" id="6"/>
          <p:cNvGrpSpPr/>
          <p:nvPr/>
        </p:nvGrpSpPr>
        <p:grpSpPr>
          <a:xfrm rot="0">
            <a:off x="2041179" y="5757811"/>
            <a:ext cx="3604505" cy="687931"/>
            <a:chOff x="0" y="0"/>
            <a:chExt cx="949335" cy="181183"/>
          </a:xfrm>
        </p:grpSpPr>
        <p:sp>
          <p:nvSpPr>
            <p:cNvPr name="Freeform 7" id="7"/>
            <p:cNvSpPr/>
            <p:nvPr/>
          </p:nvSpPr>
          <p:spPr>
            <a:xfrm flipH="false" flipV="false" rot="0">
              <a:off x="0" y="0"/>
              <a:ext cx="949335" cy="181183"/>
            </a:xfrm>
            <a:custGeom>
              <a:avLst/>
              <a:gdLst/>
              <a:ahLst/>
              <a:cxnLst/>
              <a:rect r="r" b="b" t="t" l="l"/>
              <a:pathLst>
                <a:path h="181183" w="949335">
                  <a:moveTo>
                    <a:pt x="90592" y="0"/>
                  </a:moveTo>
                  <a:lnTo>
                    <a:pt x="858743" y="0"/>
                  </a:lnTo>
                  <a:cubicBezTo>
                    <a:pt x="882769" y="0"/>
                    <a:pt x="905812" y="9544"/>
                    <a:pt x="922801" y="26534"/>
                  </a:cubicBezTo>
                  <a:cubicBezTo>
                    <a:pt x="939790" y="43523"/>
                    <a:pt x="949335" y="66565"/>
                    <a:pt x="949335" y="90592"/>
                  </a:cubicBezTo>
                  <a:lnTo>
                    <a:pt x="949335" y="90592"/>
                  </a:lnTo>
                  <a:cubicBezTo>
                    <a:pt x="949335" y="114618"/>
                    <a:pt x="939790" y="137661"/>
                    <a:pt x="922801" y="154650"/>
                  </a:cubicBezTo>
                  <a:cubicBezTo>
                    <a:pt x="905812" y="171639"/>
                    <a:pt x="882769" y="181183"/>
                    <a:pt x="858743"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FFB0F1"/>
            </a:solidFill>
            <a:ln w="38100" cap="rnd">
              <a:solidFill>
                <a:srgbClr val="000000"/>
              </a:solidFill>
              <a:prstDash val="solid"/>
              <a:round/>
            </a:ln>
          </p:spPr>
        </p:sp>
        <p:sp>
          <p:nvSpPr>
            <p:cNvPr name="TextBox 8" id="8"/>
            <p:cNvSpPr txBox="true"/>
            <p:nvPr/>
          </p:nvSpPr>
          <p:spPr>
            <a:xfrm>
              <a:off x="0" y="-47625"/>
              <a:ext cx="949335" cy="228808"/>
            </a:xfrm>
            <a:prstGeom prst="rect">
              <a:avLst/>
            </a:prstGeom>
          </p:spPr>
          <p:txBody>
            <a:bodyPr anchor="ctr" rtlCol="false" tIns="50800" lIns="50800" bIns="50800" rIns="50800"/>
            <a:lstStyle/>
            <a:p>
              <a:pPr algn="ctr">
                <a:lnSpc>
                  <a:spcPts val="3359"/>
                </a:lnSpc>
                <a:spcBef>
                  <a:spcPct val="0"/>
                </a:spcBef>
              </a:pPr>
              <a:r>
                <a:rPr lang="en-US" b="true" sz="2399">
                  <a:solidFill>
                    <a:srgbClr val="272727"/>
                  </a:solidFill>
                  <a:latin typeface="Inter Ultra-Bold"/>
                  <a:ea typeface="Inter Ultra-Bold"/>
                  <a:cs typeface="Inter Ultra-Bold"/>
                  <a:sym typeface="Inter Ultra-Bold"/>
                </a:rPr>
                <a:t>BY</a:t>
              </a:r>
              <a:r>
                <a:rPr lang="en-US" b="true" sz="2399">
                  <a:solidFill>
                    <a:srgbClr val="272727"/>
                  </a:solidFill>
                  <a:latin typeface="Inter Ultra-Bold"/>
                  <a:ea typeface="Inter Ultra-Bold"/>
                  <a:cs typeface="Inter Ultra-Bold"/>
                  <a:sym typeface="Inter Ultra-Bold"/>
                </a:rPr>
                <a:t> THE NUMBERS</a:t>
              </a:r>
            </a:p>
          </p:txBody>
        </p:sp>
      </p:grpSp>
      <p:grpSp>
        <p:nvGrpSpPr>
          <p:cNvPr name="Group 9" id="9"/>
          <p:cNvGrpSpPr/>
          <p:nvPr/>
        </p:nvGrpSpPr>
        <p:grpSpPr>
          <a:xfrm rot="0">
            <a:off x="1707703" y="5757811"/>
            <a:ext cx="666952" cy="666952"/>
            <a:chOff x="0" y="0"/>
            <a:chExt cx="812800" cy="812800"/>
          </a:xfrm>
        </p:grpSpPr>
        <p:sp>
          <p:nvSpPr>
            <p:cNvPr name="Freeform 10" id="1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1" id="11"/>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2" id="12"/>
          <p:cNvSpPr/>
          <p:nvPr/>
        </p:nvSpPr>
        <p:spPr>
          <a:xfrm flipH="false" flipV="false" rot="0">
            <a:off x="1894616" y="5946590"/>
            <a:ext cx="293125" cy="289395"/>
          </a:xfrm>
          <a:custGeom>
            <a:avLst/>
            <a:gdLst/>
            <a:ahLst/>
            <a:cxnLst/>
            <a:rect r="r" b="b" t="t" l="l"/>
            <a:pathLst>
              <a:path h="289395" w="293125">
                <a:moveTo>
                  <a:pt x="0" y="0"/>
                </a:moveTo>
                <a:lnTo>
                  <a:pt x="293126" y="0"/>
                </a:lnTo>
                <a:lnTo>
                  <a:pt x="293126" y="289395"/>
                </a:lnTo>
                <a:lnTo>
                  <a:pt x="0" y="289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5312208" y="5778790"/>
            <a:ext cx="666952" cy="666952"/>
            <a:chOff x="0" y="0"/>
            <a:chExt cx="889270" cy="889270"/>
          </a:xfrm>
        </p:grpSpPr>
        <p:grpSp>
          <p:nvGrpSpPr>
            <p:cNvPr name="Group 14" id="14"/>
            <p:cNvGrpSpPr/>
            <p:nvPr/>
          </p:nvGrpSpPr>
          <p:grpSpPr>
            <a:xfrm rot="0">
              <a:off x="0" y="0"/>
              <a:ext cx="889270" cy="889270"/>
              <a:chOff x="0" y="0"/>
              <a:chExt cx="812800" cy="812800"/>
            </a:xfrm>
          </p:grpSpPr>
          <p:sp>
            <p:nvSpPr>
              <p:cNvPr name="Freeform 15" id="1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6" id="1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7" id="17"/>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8" id="18"/>
          <p:cNvGrpSpPr/>
          <p:nvPr/>
        </p:nvGrpSpPr>
        <p:grpSpPr>
          <a:xfrm rot="0">
            <a:off x="663949" y="663949"/>
            <a:ext cx="729502" cy="729502"/>
            <a:chOff x="0" y="0"/>
            <a:chExt cx="972669" cy="972669"/>
          </a:xfrm>
        </p:grpSpPr>
        <p:grpSp>
          <p:nvGrpSpPr>
            <p:cNvPr name="Group 19" id="19"/>
            <p:cNvGrpSpPr/>
            <p:nvPr/>
          </p:nvGrpSpPr>
          <p:grpSpPr>
            <a:xfrm rot="0">
              <a:off x="0" y="0"/>
              <a:ext cx="972669" cy="972669"/>
              <a:chOff x="0" y="0"/>
              <a:chExt cx="812800" cy="812800"/>
            </a:xfrm>
          </p:grpSpPr>
          <p:sp>
            <p:nvSpPr>
              <p:cNvPr name="Freeform 20" id="2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1" id="21"/>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3" id="23"/>
          <p:cNvGrpSpPr/>
          <p:nvPr/>
        </p:nvGrpSpPr>
        <p:grpSpPr>
          <a:xfrm rot="0">
            <a:off x="16894549" y="8827977"/>
            <a:ext cx="729502" cy="729502"/>
            <a:chOff x="0" y="0"/>
            <a:chExt cx="972669" cy="972669"/>
          </a:xfrm>
        </p:grpSpPr>
        <p:grpSp>
          <p:nvGrpSpPr>
            <p:cNvPr name="Group 24" id="24"/>
            <p:cNvGrpSpPr/>
            <p:nvPr/>
          </p:nvGrpSpPr>
          <p:grpSpPr>
            <a:xfrm rot="0">
              <a:off x="0" y="0"/>
              <a:ext cx="972669" cy="972669"/>
              <a:chOff x="0" y="0"/>
              <a:chExt cx="812800" cy="812800"/>
            </a:xfrm>
          </p:grpSpPr>
          <p:sp>
            <p:nvSpPr>
              <p:cNvPr name="Freeform 25" id="2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6" id="26"/>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28" id="28"/>
          <p:cNvSpPr txBox="true"/>
          <p:nvPr/>
        </p:nvSpPr>
        <p:spPr>
          <a:xfrm rot="0">
            <a:off x="2075888" y="6933876"/>
            <a:ext cx="7452053" cy="1249680"/>
          </a:xfrm>
          <a:prstGeom prst="rect">
            <a:avLst/>
          </a:prstGeom>
        </p:spPr>
        <p:txBody>
          <a:bodyPr anchor="t" rtlCol="false" tIns="0" lIns="0" bIns="0" rIns="0">
            <a:spAutoFit/>
          </a:bodyPr>
          <a:lstStyle/>
          <a:p>
            <a:pPr algn="just">
              <a:lnSpc>
                <a:spcPts val="2520"/>
              </a:lnSpc>
              <a:spcBef>
                <a:spcPct val="0"/>
              </a:spcBef>
            </a:pPr>
            <a:r>
              <a:rPr lang="en-US" sz="1800">
                <a:solidFill>
                  <a:srgbClr val="A0F8EE"/>
                </a:solidFill>
                <a:latin typeface="Inter"/>
                <a:ea typeface="Inter"/>
                <a:cs typeface="Inter"/>
                <a:sym typeface="Inter"/>
              </a:rPr>
              <a:t>L</a:t>
            </a:r>
            <a:r>
              <a:rPr lang="en-US" sz="1800">
                <a:solidFill>
                  <a:srgbClr val="A0F8EE"/>
                </a:solidFill>
                <a:latin typeface="Inter"/>
                <a:ea typeface="Inter"/>
                <a:cs typeface="Inter"/>
                <a:sym typeface="Inter"/>
              </a:rPr>
              <a:t>orem ipsum dolor sit amet, consectetur adipiscing elit. In facilisis dolor sit amet ex sagittis, non blandit lorem fringilla. In aliquam quam risus, eu ultrices magna euismod vel. In at facilisis nulla. Integer a enim eget purus vehicula tincidunt sit amet et libero.</a:t>
            </a:r>
          </a:p>
        </p:txBody>
      </p:sp>
      <p:sp>
        <p:nvSpPr>
          <p:cNvPr name="AutoShape 29" id="29"/>
          <p:cNvSpPr/>
          <p:nvPr/>
        </p:nvSpPr>
        <p:spPr>
          <a:xfrm flipH="true">
            <a:off x="10904004" y="1028700"/>
            <a:ext cx="0" cy="8229600"/>
          </a:xfrm>
          <a:prstGeom prst="line">
            <a:avLst/>
          </a:prstGeom>
          <a:ln cap="flat" w="19050">
            <a:solidFill>
              <a:srgbClr val="A0F8EE"/>
            </a:solidFill>
            <a:prstDash val="solid"/>
            <a:headEnd type="none" len="sm" w="sm"/>
            <a:tailEnd type="none" len="sm" w="sm"/>
          </a:ln>
        </p:spPr>
      </p:sp>
      <p:sp>
        <p:nvSpPr>
          <p:cNvPr name="AutoShape 30" id="30"/>
          <p:cNvSpPr/>
          <p:nvPr/>
        </p:nvSpPr>
        <p:spPr>
          <a:xfrm flipH="true" flipV="true">
            <a:off x="10904004" y="5689194"/>
            <a:ext cx="6355296" cy="0"/>
          </a:xfrm>
          <a:prstGeom prst="line">
            <a:avLst/>
          </a:prstGeom>
          <a:ln cap="flat" w="19050">
            <a:solidFill>
              <a:srgbClr val="A0F8EE"/>
            </a:solidFill>
            <a:prstDash val="solid"/>
            <a:headEnd type="none" len="sm" w="sm"/>
            <a:tailEnd type="none" len="sm" w="sm"/>
          </a:ln>
        </p:spPr>
      </p:sp>
      <p:sp>
        <p:nvSpPr>
          <p:cNvPr name="Freeform 31" id="31"/>
          <p:cNvSpPr/>
          <p:nvPr/>
        </p:nvSpPr>
        <p:spPr>
          <a:xfrm flipH="false" flipV="false" rot="0">
            <a:off x="13019577" y="1669478"/>
            <a:ext cx="2292855" cy="3474022"/>
          </a:xfrm>
          <a:custGeom>
            <a:avLst/>
            <a:gdLst/>
            <a:ahLst/>
            <a:cxnLst/>
            <a:rect r="r" b="b" t="t" l="l"/>
            <a:pathLst>
              <a:path h="3474022" w="2292855">
                <a:moveTo>
                  <a:pt x="0" y="0"/>
                </a:moveTo>
                <a:lnTo>
                  <a:pt x="2292855" y="0"/>
                </a:lnTo>
                <a:lnTo>
                  <a:pt x="2292855" y="3474022"/>
                </a:lnTo>
                <a:lnTo>
                  <a:pt x="0" y="34740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2" id="32"/>
          <p:cNvGrpSpPr/>
          <p:nvPr/>
        </p:nvGrpSpPr>
        <p:grpSpPr>
          <a:xfrm rot="0">
            <a:off x="11877018" y="6232119"/>
            <a:ext cx="1908107" cy="687931"/>
            <a:chOff x="0" y="0"/>
            <a:chExt cx="502547" cy="181183"/>
          </a:xfrm>
        </p:grpSpPr>
        <p:sp>
          <p:nvSpPr>
            <p:cNvPr name="Freeform 33" id="33"/>
            <p:cNvSpPr/>
            <p:nvPr/>
          </p:nvSpPr>
          <p:spPr>
            <a:xfrm flipH="false" flipV="false" rot="0">
              <a:off x="0" y="0"/>
              <a:ext cx="502547" cy="181183"/>
            </a:xfrm>
            <a:custGeom>
              <a:avLst/>
              <a:gdLst/>
              <a:ahLst/>
              <a:cxnLst/>
              <a:rect r="r" b="b" t="t" l="l"/>
              <a:pathLst>
                <a:path h="181183" w="502547">
                  <a:moveTo>
                    <a:pt x="90592" y="0"/>
                  </a:moveTo>
                  <a:lnTo>
                    <a:pt x="411955" y="0"/>
                  </a:lnTo>
                  <a:cubicBezTo>
                    <a:pt x="435981" y="0"/>
                    <a:pt x="459024" y="9544"/>
                    <a:pt x="476013" y="26534"/>
                  </a:cubicBezTo>
                  <a:cubicBezTo>
                    <a:pt x="493002" y="43523"/>
                    <a:pt x="502547" y="66565"/>
                    <a:pt x="502547" y="90592"/>
                  </a:cubicBezTo>
                  <a:lnTo>
                    <a:pt x="502547" y="90592"/>
                  </a:lnTo>
                  <a:cubicBezTo>
                    <a:pt x="502547" y="114618"/>
                    <a:pt x="493002" y="137661"/>
                    <a:pt x="476013" y="154650"/>
                  </a:cubicBezTo>
                  <a:cubicBezTo>
                    <a:pt x="459024" y="171639"/>
                    <a:pt x="435981" y="181183"/>
                    <a:pt x="411955"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34" id="34"/>
            <p:cNvSpPr txBox="true"/>
            <p:nvPr/>
          </p:nvSpPr>
          <p:spPr>
            <a:xfrm>
              <a:off x="0" y="-38100"/>
              <a:ext cx="502547"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REV</a:t>
              </a:r>
              <a:r>
                <a:rPr lang="en-US" b="true" sz="1899">
                  <a:solidFill>
                    <a:srgbClr val="272727"/>
                  </a:solidFill>
                  <a:latin typeface="Inter Bold"/>
                  <a:ea typeface="Inter Bold"/>
                  <a:cs typeface="Inter Bold"/>
                  <a:sym typeface="Inter Bold"/>
                </a:rPr>
                <a:t>ENUE</a:t>
              </a:r>
            </a:p>
          </p:txBody>
        </p:sp>
      </p:grpSp>
      <p:grpSp>
        <p:nvGrpSpPr>
          <p:cNvPr name="Group 35" id="35"/>
          <p:cNvGrpSpPr/>
          <p:nvPr/>
        </p:nvGrpSpPr>
        <p:grpSpPr>
          <a:xfrm rot="0">
            <a:off x="11877018" y="7118053"/>
            <a:ext cx="3026088" cy="687931"/>
            <a:chOff x="0" y="0"/>
            <a:chExt cx="796994" cy="181183"/>
          </a:xfrm>
        </p:grpSpPr>
        <p:sp>
          <p:nvSpPr>
            <p:cNvPr name="Freeform 36" id="36"/>
            <p:cNvSpPr/>
            <p:nvPr/>
          </p:nvSpPr>
          <p:spPr>
            <a:xfrm flipH="false" flipV="false" rot="0">
              <a:off x="0" y="0"/>
              <a:ext cx="796994" cy="181183"/>
            </a:xfrm>
            <a:custGeom>
              <a:avLst/>
              <a:gdLst/>
              <a:ahLst/>
              <a:cxnLst/>
              <a:rect r="r" b="b" t="t" l="l"/>
              <a:pathLst>
                <a:path h="181183" w="796994">
                  <a:moveTo>
                    <a:pt x="90592" y="0"/>
                  </a:moveTo>
                  <a:lnTo>
                    <a:pt x="706403" y="0"/>
                  </a:lnTo>
                  <a:cubicBezTo>
                    <a:pt x="730429" y="0"/>
                    <a:pt x="753471" y="9544"/>
                    <a:pt x="770461" y="26534"/>
                  </a:cubicBezTo>
                  <a:cubicBezTo>
                    <a:pt x="787450" y="43523"/>
                    <a:pt x="796994" y="66565"/>
                    <a:pt x="796994" y="90592"/>
                  </a:cubicBezTo>
                  <a:lnTo>
                    <a:pt x="796994" y="90592"/>
                  </a:lnTo>
                  <a:cubicBezTo>
                    <a:pt x="796994" y="114618"/>
                    <a:pt x="787450" y="137661"/>
                    <a:pt x="770461" y="154650"/>
                  </a:cubicBezTo>
                  <a:cubicBezTo>
                    <a:pt x="753471" y="171639"/>
                    <a:pt x="730429" y="181183"/>
                    <a:pt x="706403"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37" id="37"/>
            <p:cNvSpPr txBox="true"/>
            <p:nvPr/>
          </p:nvSpPr>
          <p:spPr>
            <a:xfrm>
              <a:off x="0" y="-38100"/>
              <a:ext cx="796994"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CONV</a:t>
              </a:r>
              <a:r>
                <a:rPr lang="en-US" b="true" sz="1899">
                  <a:solidFill>
                    <a:srgbClr val="272727"/>
                  </a:solidFill>
                  <a:latin typeface="Inter Bold"/>
                  <a:ea typeface="Inter Bold"/>
                  <a:cs typeface="Inter Bold"/>
                  <a:sym typeface="Inter Bold"/>
                </a:rPr>
                <a:t>ERSION RATE</a:t>
              </a:r>
            </a:p>
          </p:txBody>
        </p:sp>
      </p:grpSp>
      <p:grpSp>
        <p:nvGrpSpPr>
          <p:cNvPr name="Group 38" id="38"/>
          <p:cNvGrpSpPr/>
          <p:nvPr/>
        </p:nvGrpSpPr>
        <p:grpSpPr>
          <a:xfrm rot="0">
            <a:off x="11877018" y="8020778"/>
            <a:ext cx="3101937" cy="687931"/>
            <a:chOff x="0" y="0"/>
            <a:chExt cx="816971" cy="181183"/>
          </a:xfrm>
        </p:grpSpPr>
        <p:sp>
          <p:nvSpPr>
            <p:cNvPr name="Freeform 39" id="39"/>
            <p:cNvSpPr/>
            <p:nvPr/>
          </p:nvSpPr>
          <p:spPr>
            <a:xfrm flipH="false" flipV="false" rot="0">
              <a:off x="0" y="0"/>
              <a:ext cx="816971" cy="181183"/>
            </a:xfrm>
            <a:custGeom>
              <a:avLst/>
              <a:gdLst/>
              <a:ahLst/>
              <a:cxnLst/>
              <a:rect r="r" b="b" t="t" l="l"/>
              <a:pathLst>
                <a:path h="181183" w="816971">
                  <a:moveTo>
                    <a:pt x="90592" y="0"/>
                  </a:moveTo>
                  <a:lnTo>
                    <a:pt x="726379" y="0"/>
                  </a:lnTo>
                  <a:cubicBezTo>
                    <a:pt x="750406" y="0"/>
                    <a:pt x="773448" y="9544"/>
                    <a:pt x="790437" y="26534"/>
                  </a:cubicBezTo>
                  <a:cubicBezTo>
                    <a:pt x="807427" y="43523"/>
                    <a:pt x="816971" y="66565"/>
                    <a:pt x="816971" y="90592"/>
                  </a:cubicBezTo>
                  <a:lnTo>
                    <a:pt x="816971" y="90592"/>
                  </a:lnTo>
                  <a:cubicBezTo>
                    <a:pt x="816971" y="114618"/>
                    <a:pt x="807427" y="137661"/>
                    <a:pt x="790437" y="154650"/>
                  </a:cubicBezTo>
                  <a:cubicBezTo>
                    <a:pt x="773448" y="171639"/>
                    <a:pt x="750406" y="181183"/>
                    <a:pt x="726379"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40" id="40"/>
            <p:cNvSpPr txBox="true"/>
            <p:nvPr/>
          </p:nvSpPr>
          <p:spPr>
            <a:xfrm>
              <a:off x="0" y="-38100"/>
              <a:ext cx="816971"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CONV</a:t>
              </a:r>
              <a:r>
                <a:rPr lang="en-US" b="true" sz="1899">
                  <a:solidFill>
                    <a:srgbClr val="272727"/>
                  </a:solidFill>
                  <a:latin typeface="Inter Bold"/>
                  <a:ea typeface="Inter Bold"/>
                  <a:cs typeface="Inter Bold"/>
                  <a:sym typeface="Inter Bold"/>
                </a:rPr>
                <a:t>ERSION RATE</a:t>
              </a:r>
            </a:p>
          </p:txBody>
        </p:sp>
      </p:grpSp>
      <p:grpSp>
        <p:nvGrpSpPr>
          <p:cNvPr name="Group 41" id="41"/>
          <p:cNvGrpSpPr/>
          <p:nvPr/>
        </p:nvGrpSpPr>
        <p:grpSpPr>
          <a:xfrm rot="0">
            <a:off x="13861768" y="6232119"/>
            <a:ext cx="2593222" cy="687931"/>
            <a:chOff x="0" y="0"/>
            <a:chExt cx="682988" cy="181183"/>
          </a:xfrm>
        </p:grpSpPr>
        <p:sp>
          <p:nvSpPr>
            <p:cNvPr name="Freeform 42" id="42"/>
            <p:cNvSpPr/>
            <p:nvPr/>
          </p:nvSpPr>
          <p:spPr>
            <a:xfrm flipH="false" flipV="false" rot="0">
              <a:off x="0" y="0"/>
              <a:ext cx="682988" cy="181183"/>
            </a:xfrm>
            <a:custGeom>
              <a:avLst/>
              <a:gdLst/>
              <a:ahLst/>
              <a:cxnLst/>
              <a:rect r="r" b="b" t="t" l="l"/>
              <a:pathLst>
                <a:path h="181183" w="682988">
                  <a:moveTo>
                    <a:pt x="90592" y="0"/>
                  </a:moveTo>
                  <a:lnTo>
                    <a:pt x="592397" y="0"/>
                  </a:lnTo>
                  <a:cubicBezTo>
                    <a:pt x="616423" y="0"/>
                    <a:pt x="639466" y="9544"/>
                    <a:pt x="656455" y="26534"/>
                  </a:cubicBezTo>
                  <a:cubicBezTo>
                    <a:pt x="673444" y="43523"/>
                    <a:pt x="682988" y="66565"/>
                    <a:pt x="682988" y="90592"/>
                  </a:cubicBezTo>
                  <a:lnTo>
                    <a:pt x="682988" y="90592"/>
                  </a:lnTo>
                  <a:cubicBezTo>
                    <a:pt x="682988" y="114618"/>
                    <a:pt x="673444" y="137661"/>
                    <a:pt x="656455" y="154650"/>
                  </a:cubicBezTo>
                  <a:cubicBezTo>
                    <a:pt x="639466" y="171639"/>
                    <a:pt x="616423" y="181183"/>
                    <a:pt x="592397"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43" id="43"/>
            <p:cNvSpPr txBox="true"/>
            <p:nvPr/>
          </p:nvSpPr>
          <p:spPr>
            <a:xfrm>
              <a:off x="0" y="-38100"/>
              <a:ext cx="682988"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$100,000 (+8%)</a:t>
              </a:r>
            </a:p>
          </p:txBody>
        </p:sp>
      </p:grpSp>
      <p:grpSp>
        <p:nvGrpSpPr>
          <p:cNvPr name="Group 44" id="44"/>
          <p:cNvGrpSpPr/>
          <p:nvPr/>
        </p:nvGrpSpPr>
        <p:grpSpPr>
          <a:xfrm rot="0">
            <a:off x="14836503" y="7118053"/>
            <a:ext cx="1618487" cy="687931"/>
            <a:chOff x="0" y="0"/>
            <a:chExt cx="426268" cy="181183"/>
          </a:xfrm>
        </p:grpSpPr>
        <p:sp>
          <p:nvSpPr>
            <p:cNvPr name="Freeform 45" id="45"/>
            <p:cNvSpPr/>
            <p:nvPr/>
          </p:nvSpPr>
          <p:spPr>
            <a:xfrm flipH="false" flipV="false" rot="0">
              <a:off x="0" y="0"/>
              <a:ext cx="426268" cy="181183"/>
            </a:xfrm>
            <a:custGeom>
              <a:avLst/>
              <a:gdLst/>
              <a:ahLst/>
              <a:cxnLst/>
              <a:rect r="r" b="b" t="t" l="l"/>
              <a:pathLst>
                <a:path h="181183" w="426268">
                  <a:moveTo>
                    <a:pt x="90592" y="0"/>
                  </a:moveTo>
                  <a:lnTo>
                    <a:pt x="335676" y="0"/>
                  </a:lnTo>
                  <a:cubicBezTo>
                    <a:pt x="359703" y="0"/>
                    <a:pt x="382745" y="9544"/>
                    <a:pt x="399735" y="26534"/>
                  </a:cubicBezTo>
                  <a:cubicBezTo>
                    <a:pt x="416724" y="43523"/>
                    <a:pt x="426268" y="66565"/>
                    <a:pt x="426268" y="90592"/>
                  </a:cubicBezTo>
                  <a:lnTo>
                    <a:pt x="426268" y="90592"/>
                  </a:lnTo>
                  <a:cubicBezTo>
                    <a:pt x="426268" y="114618"/>
                    <a:pt x="416724" y="137661"/>
                    <a:pt x="399735" y="154650"/>
                  </a:cubicBezTo>
                  <a:cubicBezTo>
                    <a:pt x="382745" y="171639"/>
                    <a:pt x="359703" y="181183"/>
                    <a:pt x="335676"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46" id="46"/>
            <p:cNvSpPr txBox="true"/>
            <p:nvPr/>
          </p:nvSpPr>
          <p:spPr>
            <a:xfrm>
              <a:off x="0" y="-38100"/>
              <a:ext cx="426268"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4,200</a:t>
              </a:r>
            </a:p>
          </p:txBody>
        </p:sp>
      </p:grpSp>
      <p:grpSp>
        <p:nvGrpSpPr>
          <p:cNvPr name="Group 47" id="47"/>
          <p:cNvGrpSpPr/>
          <p:nvPr/>
        </p:nvGrpSpPr>
        <p:grpSpPr>
          <a:xfrm rot="0">
            <a:off x="14978955" y="8020778"/>
            <a:ext cx="1408963" cy="687931"/>
            <a:chOff x="0" y="0"/>
            <a:chExt cx="371085" cy="181183"/>
          </a:xfrm>
        </p:grpSpPr>
        <p:sp>
          <p:nvSpPr>
            <p:cNvPr name="Freeform 48" id="48"/>
            <p:cNvSpPr/>
            <p:nvPr/>
          </p:nvSpPr>
          <p:spPr>
            <a:xfrm flipH="false" flipV="false" rot="0">
              <a:off x="0" y="0"/>
              <a:ext cx="371085" cy="181183"/>
            </a:xfrm>
            <a:custGeom>
              <a:avLst/>
              <a:gdLst/>
              <a:ahLst/>
              <a:cxnLst/>
              <a:rect r="r" b="b" t="t" l="l"/>
              <a:pathLst>
                <a:path h="181183" w="371085">
                  <a:moveTo>
                    <a:pt x="90592" y="0"/>
                  </a:moveTo>
                  <a:lnTo>
                    <a:pt x="280493" y="0"/>
                  </a:lnTo>
                  <a:cubicBezTo>
                    <a:pt x="330526" y="0"/>
                    <a:pt x="371085" y="40559"/>
                    <a:pt x="371085" y="90592"/>
                  </a:cubicBezTo>
                  <a:lnTo>
                    <a:pt x="371085" y="90592"/>
                  </a:lnTo>
                  <a:cubicBezTo>
                    <a:pt x="371085" y="114618"/>
                    <a:pt x="361540" y="137661"/>
                    <a:pt x="344551" y="154650"/>
                  </a:cubicBezTo>
                  <a:cubicBezTo>
                    <a:pt x="327562" y="171639"/>
                    <a:pt x="304520" y="181183"/>
                    <a:pt x="280493"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49" id="49"/>
            <p:cNvSpPr txBox="true"/>
            <p:nvPr/>
          </p:nvSpPr>
          <p:spPr>
            <a:xfrm>
              <a:off x="0" y="-38100"/>
              <a:ext cx="371085"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6,5%</a:t>
              </a:r>
            </a:p>
          </p:txBody>
        </p:sp>
      </p:grpSp>
      <p:grpSp>
        <p:nvGrpSpPr>
          <p:cNvPr name="Group 50" id="50"/>
          <p:cNvGrpSpPr/>
          <p:nvPr/>
        </p:nvGrpSpPr>
        <p:grpSpPr>
          <a:xfrm rot="0">
            <a:off x="11543542" y="6242609"/>
            <a:ext cx="666952" cy="666952"/>
            <a:chOff x="0" y="0"/>
            <a:chExt cx="812800" cy="812800"/>
          </a:xfrm>
        </p:grpSpPr>
        <p:sp>
          <p:nvSpPr>
            <p:cNvPr name="Freeform 51" id="5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52" id="5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53" id="53"/>
          <p:cNvSpPr/>
          <p:nvPr/>
        </p:nvSpPr>
        <p:spPr>
          <a:xfrm flipH="false" flipV="false" rot="0">
            <a:off x="11730456" y="6431387"/>
            <a:ext cx="293125" cy="289395"/>
          </a:xfrm>
          <a:custGeom>
            <a:avLst/>
            <a:gdLst/>
            <a:ahLst/>
            <a:cxnLst/>
            <a:rect r="r" b="b" t="t" l="l"/>
            <a:pathLst>
              <a:path h="289395" w="293125">
                <a:moveTo>
                  <a:pt x="0" y="0"/>
                </a:moveTo>
                <a:lnTo>
                  <a:pt x="293125" y="0"/>
                </a:lnTo>
                <a:lnTo>
                  <a:pt x="293125" y="289395"/>
                </a:lnTo>
                <a:lnTo>
                  <a:pt x="0" y="289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4" id="54"/>
          <p:cNvGrpSpPr/>
          <p:nvPr/>
        </p:nvGrpSpPr>
        <p:grpSpPr>
          <a:xfrm rot="0">
            <a:off x="11543542" y="7128542"/>
            <a:ext cx="666952" cy="666952"/>
            <a:chOff x="0" y="0"/>
            <a:chExt cx="812800" cy="812800"/>
          </a:xfrm>
        </p:grpSpPr>
        <p:sp>
          <p:nvSpPr>
            <p:cNvPr name="Freeform 55" id="5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56" id="5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57" id="57"/>
          <p:cNvSpPr/>
          <p:nvPr/>
        </p:nvSpPr>
        <p:spPr>
          <a:xfrm flipH="false" flipV="false" rot="0">
            <a:off x="11730456" y="7317321"/>
            <a:ext cx="293125" cy="289395"/>
          </a:xfrm>
          <a:custGeom>
            <a:avLst/>
            <a:gdLst/>
            <a:ahLst/>
            <a:cxnLst/>
            <a:rect r="r" b="b" t="t" l="l"/>
            <a:pathLst>
              <a:path h="289395" w="293125">
                <a:moveTo>
                  <a:pt x="0" y="0"/>
                </a:moveTo>
                <a:lnTo>
                  <a:pt x="293125" y="0"/>
                </a:lnTo>
                <a:lnTo>
                  <a:pt x="293125" y="289395"/>
                </a:lnTo>
                <a:lnTo>
                  <a:pt x="0" y="289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8" id="58"/>
          <p:cNvGrpSpPr/>
          <p:nvPr/>
        </p:nvGrpSpPr>
        <p:grpSpPr>
          <a:xfrm rot="0">
            <a:off x="11543542" y="8031268"/>
            <a:ext cx="666952" cy="666952"/>
            <a:chOff x="0" y="0"/>
            <a:chExt cx="812800" cy="812800"/>
          </a:xfrm>
        </p:grpSpPr>
        <p:sp>
          <p:nvSpPr>
            <p:cNvPr name="Freeform 59" id="59"/>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60" id="60"/>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61" id="61"/>
          <p:cNvSpPr/>
          <p:nvPr/>
        </p:nvSpPr>
        <p:spPr>
          <a:xfrm flipH="false" flipV="false" rot="0">
            <a:off x="11730456" y="8220047"/>
            <a:ext cx="293125" cy="289395"/>
          </a:xfrm>
          <a:custGeom>
            <a:avLst/>
            <a:gdLst/>
            <a:ahLst/>
            <a:cxnLst/>
            <a:rect r="r" b="b" t="t" l="l"/>
            <a:pathLst>
              <a:path h="289395" w="293125">
                <a:moveTo>
                  <a:pt x="0" y="0"/>
                </a:moveTo>
                <a:lnTo>
                  <a:pt x="293125" y="0"/>
                </a:lnTo>
                <a:lnTo>
                  <a:pt x="293125" y="289394"/>
                </a:lnTo>
                <a:lnTo>
                  <a:pt x="0" y="2893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2" id="62"/>
          <p:cNvGrpSpPr/>
          <p:nvPr/>
        </p:nvGrpSpPr>
        <p:grpSpPr>
          <a:xfrm rot="0">
            <a:off x="13467559" y="6242609"/>
            <a:ext cx="666952" cy="666952"/>
            <a:chOff x="0" y="0"/>
            <a:chExt cx="812800" cy="812800"/>
          </a:xfrm>
        </p:grpSpPr>
        <p:sp>
          <p:nvSpPr>
            <p:cNvPr name="Freeform 63" id="63"/>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64" id="64"/>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65" id="65"/>
          <p:cNvSpPr/>
          <p:nvPr/>
        </p:nvSpPr>
        <p:spPr>
          <a:xfrm flipH="false" flipV="false" rot="0">
            <a:off x="13654473" y="6431387"/>
            <a:ext cx="293125" cy="289395"/>
          </a:xfrm>
          <a:custGeom>
            <a:avLst/>
            <a:gdLst/>
            <a:ahLst/>
            <a:cxnLst/>
            <a:rect r="r" b="b" t="t" l="l"/>
            <a:pathLst>
              <a:path h="289395" w="293125">
                <a:moveTo>
                  <a:pt x="0" y="0"/>
                </a:moveTo>
                <a:lnTo>
                  <a:pt x="293125" y="0"/>
                </a:lnTo>
                <a:lnTo>
                  <a:pt x="293125" y="289395"/>
                </a:lnTo>
                <a:lnTo>
                  <a:pt x="0" y="289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6" id="66"/>
          <p:cNvGrpSpPr/>
          <p:nvPr/>
        </p:nvGrpSpPr>
        <p:grpSpPr>
          <a:xfrm rot="0">
            <a:off x="14569630" y="7128542"/>
            <a:ext cx="666952" cy="666952"/>
            <a:chOff x="0" y="0"/>
            <a:chExt cx="812800" cy="812800"/>
          </a:xfrm>
        </p:grpSpPr>
        <p:sp>
          <p:nvSpPr>
            <p:cNvPr name="Freeform 67" id="67"/>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68" id="68"/>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69" id="69"/>
          <p:cNvSpPr/>
          <p:nvPr/>
        </p:nvSpPr>
        <p:spPr>
          <a:xfrm flipH="false" flipV="false" rot="0">
            <a:off x="14756544" y="7317321"/>
            <a:ext cx="293125" cy="289395"/>
          </a:xfrm>
          <a:custGeom>
            <a:avLst/>
            <a:gdLst/>
            <a:ahLst/>
            <a:cxnLst/>
            <a:rect r="r" b="b" t="t" l="l"/>
            <a:pathLst>
              <a:path h="289395" w="293125">
                <a:moveTo>
                  <a:pt x="0" y="0"/>
                </a:moveTo>
                <a:lnTo>
                  <a:pt x="293125" y="0"/>
                </a:lnTo>
                <a:lnTo>
                  <a:pt x="293125" y="289395"/>
                </a:lnTo>
                <a:lnTo>
                  <a:pt x="0" y="289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0" id="70"/>
          <p:cNvGrpSpPr/>
          <p:nvPr/>
        </p:nvGrpSpPr>
        <p:grpSpPr>
          <a:xfrm rot="0">
            <a:off x="14645479" y="8031268"/>
            <a:ext cx="666952" cy="666952"/>
            <a:chOff x="0" y="0"/>
            <a:chExt cx="812800" cy="812800"/>
          </a:xfrm>
        </p:grpSpPr>
        <p:sp>
          <p:nvSpPr>
            <p:cNvPr name="Freeform 71" id="7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72" id="7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73" id="73"/>
          <p:cNvSpPr/>
          <p:nvPr/>
        </p:nvSpPr>
        <p:spPr>
          <a:xfrm flipH="false" flipV="false" rot="0">
            <a:off x="14832393" y="8220047"/>
            <a:ext cx="293125" cy="289395"/>
          </a:xfrm>
          <a:custGeom>
            <a:avLst/>
            <a:gdLst/>
            <a:ahLst/>
            <a:cxnLst/>
            <a:rect r="r" b="b" t="t" l="l"/>
            <a:pathLst>
              <a:path h="289395" w="293125">
                <a:moveTo>
                  <a:pt x="0" y="0"/>
                </a:moveTo>
                <a:lnTo>
                  <a:pt x="293125" y="0"/>
                </a:lnTo>
                <a:lnTo>
                  <a:pt x="293125" y="289394"/>
                </a:lnTo>
                <a:lnTo>
                  <a:pt x="0" y="2893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4" id="74"/>
          <p:cNvGrpSpPr/>
          <p:nvPr/>
        </p:nvGrpSpPr>
        <p:grpSpPr>
          <a:xfrm rot="0">
            <a:off x="16121514" y="6242609"/>
            <a:ext cx="666952" cy="666952"/>
            <a:chOff x="0" y="0"/>
            <a:chExt cx="812800" cy="812800"/>
          </a:xfrm>
        </p:grpSpPr>
        <p:sp>
          <p:nvSpPr>
            <p:cNvPr name="Freeform 75" id="7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76" id="7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77" id="77"/>
          <p:cNvSpPr/>
          <p:nvPr/>
        </p:nvSpPr>
        <p:spPr>
          <a:xfrm flipH="false" flipV="false" rot="0">
            <a:off x="16308427" y="6431387"/>
            <a:ext cx="293125" cy="289395"/>
          </a:xfrm>
          <a:custGeom>
            <a:avLst/>
            <a:gdLst/>
            <a:ahLst/>
            <a:cxnLst/>
            <a:rect r="r" b="b" t="t" l="l"/>
            <a:pathLst>
              <a:path h="289395" w="293125">
                <a:moveTo>
                  <a:pt x="0" y="0"/>
                </a:moveTo>
                <a:lnTo>
                  <a:pt x="293126" y="0"/>
                </a:lnTo>
                <a:lnTo>
                  <a:pt x="293126" y="289395"/>
                </a:lnTo>
                <a:lnTo>
                  <a:pt x="0" y="289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8" id="78"/>
          <p:cNvGrpSpPr/>
          <p:nvPr/>
        </p:nvGrpSpPr>
        <p:grpSpPr>
          <a:xfrm rot="0">
            <a:off x="16121514" y="7128542"/>
            <a:ext cx="666952" cy="666952"/>
            <a:chOff x="0" y="0"/>
            <a:chExt cx="812800" cy="812800"/>
          </a:xfrm>
        </p:grpSpPr>
        <p:sp>
          <p:nvSpPr>
            <p:cNvPr name="Freeform 79" id="79"/>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80" id="80"/>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81" id="81"/>
          <p:cNvSpPr/>
          <p:nvPr/>
        </p:nvSpPr>
        <p:spPr>
          <a:xfrm flipH="false" flipV="false" rot="0">
            <a:off x="16308427" y="7317321"/>
            <a:ext cx="293125" cy="289395"/>
          </a:xfrm>
          <a:custGeom>
            <a:avLst/>
            <a:gdLst/>
            <a:ahLst/>
            <a:cxnLst/>
            <a:rect r="r" b="b" t="t" l="l"/>
            <a:pathLst>
              <a:path h="289395" w="293125">
                <a:moveTo>
                  <a:pt x="0" y="0"/>
                </a:moveTo>
                <a:lnTo>
                  <a:pt x="293126" y="0"/>
                </a:lnTo>
                <a:lnTo>
                  <a:pt x="293126" y="289395"/>
                </a:lnTo>
                <a:lnTo>
                  <a:pt x="0" y="289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2" id="82"/>
          <p:cNvGrpSpPr/>
          <p:nvPr/>
        </p:nvGrpSpPr>
        <p:grpSpPr>
          <a:xfrm rot="0">
            <a:off x="16121514" y="8031268"/>
            <a:ext cx="666952" cy="666952"/>
            <a:chOff x="0" y="0"/>
            <a:chExt cx="812800" cy="812800"/>
          </a:xfrm>
        </p:grpSpPr>
        <p:sp>
          <p:nvSpPr>
            <p:cNvPr name="Freeform 83" id="83"/>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84" id="84"/>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85" id="85"/>
          <p:cNvSpPr/>
          <p:nvPr/>
        </p:nvSpPr>
        <p:spPr>
          <a:xfrm flipH="false" flipV="false" rot="0">
            <a:off x="16308427" y="8220047"/>
            <a:ext cx="293125" cy="289395"/>
          </a:xfrm>
          <a:custGeom>
            <a:avLst/>
            <a:gdLst/>
            <a:ahLst/>
            <a:cxnLst/>
            <a:rect r="r" b="b" t="t" l="l"/>
            <a:pathLst>
              <a:path h="289395" w="293125">
                <a:moveTo>
                  <a:pt x="0" y="0"/>
                </a:moveTo>
                <a:lnTo>
                  <a:pt x="293126" y="0"/>
                </a:lnTo>
                <a:lnTo>
                  <a:pt x="293126" y="289394"/>
                </a:lnTo>
                <a:lnTo>
                  <a:pt x="0" y="2893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433813" y="2093498"/>
            <a:ext cx="11420374" cy="1454800"/>
          </a:xfrm>
          <a:prstGeom prst="rect">
            <a:avLst/>
          </a:prstGeom>
        </p:spPr>
        <p:txBody>
          <a:bodyPr anchor="t" rtlCol="false" tIns="0" lIns="0" bIns="0" rIns="0">
            <a:spAutoFit/>
          </a:bodyPr>
          <a:lstStyle/>
          <a:p>
            <a:pPr algn="ctr">
              <a:lnSpc>
                <a:spcPts val="9165"/>
              </a:lnSpc>
            </a:pPr>
            <a:r>
              <a:rPr lang="en-US" b="true" sz="10183" spc="-427">
                <a:solidFill>
                  <a:srgbClr val="A0F8EE"/>
                </a:solidFill>
                <a:latin typeface="ITC Avant Garde Gothic Bold"/>
                <a:ea typeface="ITC Avant Garde Gothic Bold"/>
                <a:cs typeface="ITC Avant Garde Gothic Bold"/>
                <a:sym typeface="ITC Avant Garde Gothic Bold"/>
              </a:rPr>
              <a:t>ACHIEVEMENTS</a:t>
            </a:r>
          </a:p>
        </p:txBody>
      </p:sp>
      <p:grpSp>
        <p:nvGrpSpPr>
          <p:cNvPr name="Group 6" id="6"/>
          <p:cNvGrpSpPr/>
          <p:nvPr/>
        </p:nvGrpSpPr>
        <p:grpSpPr>
          <a:xfrm rot="0">
            <a:off x="2147376" y="5372862"/>
            <a:ext cx="4978448" cy="687931"/>
            <a:chOff x="0" y="0"/>
            <a:chExt cx="6637931" cy="917241"/>
          </a:xfrm>
        </p:grpSpPr>
        <p:grpSp>
          <p:nvGrpSpPr>
            <p:cNvPr name="Group 7" id="7"/>
            <p:cNvGrpSpPr/>
            <p:nvPr/>
          </p:nvGrpSpPr>
          <p:grpSpPr>
            <a:xfrm rot="0">
              <a:off x="444635" y="0"/>
              <a:ext cx="5811211" cy="917241"/>
              <a:chOff x="0" y="0"/>
              <a:chExt cx="1147894" cy="181183"/>
            </a:xfrm>
          </p:grpSpPr>
          <p:sp>
            <p:nvSpPr>
              <p:cNvPr name="Freeform 8" id="8"/>
              <p:cNvSpPr/>
              <p:nvPr/>
            </p:nvSpPr>
            <p:spPr>
              <a:xfrm flipH="false" flipV="false" rot="0">
                <a:off x="0" y="0"/>
                <a:ext cx="1147894" cy="181183"/>
              </a:xfrm>
              <a:custGeom>
                <a:avLst/>
                <a:gdLst/>
                <a:ahLst/>
                <a:cxnLst/>
                <a:rect r="r" b="b" t="t" l="l"/>
                <a:pathLst>
                  <a:path h="181183" w="1147894">
                    <a:moveTo>
                      <a:pt x="90592" y="0"/>
                    </a:moveTo>
                    <a:lnTo>
                      <a:pt x="1057302" y="0"/>
                    </a:lnTo>
                    <a:cubicBezTo>
                      <a:pt x="1081328" y="0"/>
                      <a:pt x="1104371" y="9544"/>
                      <a:pt x="1121360" y="26534"/>
                    </a:cubicBezTo>
                    <a:cubicBezTo>
                      <a:pt x="1138349" y="43523"/>
                      <a:pt x="1147894" y="66565"/>
                      <a:pt x="1147894" y="90592"/>
                    </a:cubicBezTo>
                    <a:lnTo>
                      <a:pt x="1147894" y="90592"/>
                    </a:lnTo>
                    <a:cubicBezTo>
                      <a:pt x="1147894" y="114618"/>
                      <a:pt x="1138349" y="137661"/>
                      <a:pt x="1121360" y="154650"/>
                    </a:cubicBezTo>
                    <a:cubicBezTo>
                      <a:pt x="1104371" y="171639"/>
                      <a:pt x="1081328" y="181183"/>
                      <a:pt x="1057302"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FFB0F1"/>
              </a:solidFill>
              <a:ln w="38100" cap="rnd">
                <a:solidFill>
                  <a:srgbClr val="000000"/>
                </a:solidFill>
                <a:prstDash val="solid"/>
                <a:round/>
              </a:ln>
            </p:spPr>
          </p:sp>
          <p:sp>
            <p:nvSpPr>
              <p:cNvPr name="TextBox 9" id="9"/>
              <p:cNvSpPr txBox="true"/>
              <p:nvPr/>
            </p:nvSpPr>
            <p:spPr>
              <a:xfrm>
                <a:off x="0" y="-47625"/>
                <a:ext cx="1147894" cy="228808"/>
              </a:xfrm>
              <a:prstGeom prst="rect">
                <a:avLst/>
              </a:prstGeom>
            </p:spPr>
            <p:txBody>
              <a:bodyPr anchor="ctr" rtlCol="false" tIns="50800" lIns="50800" bIns="50800" rIns="50800"/>
              <a:lstStyle/>
              <a:p>
                <a:pPr algn="ctr">
                  <a:lnSpc>
                    <a:spcPts val="3359"/>
                  </a:lnSpc>
                  <a:spcBef>
                    <a:spcPct val="0"/>
                  </a:spcBef>
                </a:pPr>
                <a:r>
                  <a:rPr lang="en-US" b="true" sz="2399">
                    <a:solidFill>
                      <a:srgbClr val="272727"/>
                    </a:solidFill>
                    <a:latin typeface="Inter Ultra-Bold"/>
                    <a:ea typeface="Inter Ultra-Bold"/>
                    <a:cs typeface="Inter Ultra-Bold"/>
                    <a:sym typeface="Inter Ultra-Bold"/>
                  </a:rPr>
                  <a:t>MILES</a:t>
                </a:r>
                <a:r>
                  <a:rPr lang="en-US" b="true" sz="2399">
                    <a:solidFill>
                      <a:srgbClr val="272727"/>
                    </a:solidFill>
                    <a:latin typeface="Inter Ultra-Bold"/>
                    <a:ea typeface="Inter Ultra-Bold"/>
                    <a:cs typeface="Inter Ultra-Bold"/>
                    <a:sym typeface="Inter Ultra-Bold"/>
                  </a:rPr>
                  <a:t>TONES REACHED</a:t>
                </a:r>
              </a:p>
            </p:txBody>
          </p:sp>
        </p:grpSp>
        <p:grpSp>
          <p:nvGrpSpPr>
            <p:cNvPr name="Group 10" id="10"/>
            <p:cNvGrpSpPr/>
            <p:nvPr/>
          </p:nvGrpSpPr>
          <p:grpSpPr>
            <a:xfrm rot="0">
              <a:off x="0" y="13986"/>
              <a:ext cx="889270" cy="889270"/>
              <a:chOff x="0" y="0"/>
              <a:chExt cx="812800" cy="812800"/>
            </a:xfrm>
          </p:grpSpPr>
          <p:sp>
            <p:nvSpPr>
              <p:cNvPr name="Freeform 11" id="1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2" id="1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3" id="13"/>
            <p:cNvSpPr/>
            <p:nvPr/>
          </p:nvSpPr>
          <p:spPr>
            <a:xfrm flipH="false" flipV="false" rot="0">
              <a:off x="249218" y="265691"/>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5748661" y="13986"/>
              <a:ext cx="889270" cy="889270"/>
              <a:chOff x="0" y="0"/>
              <a:chExt cx="812800" cy="812800"/>
            </a:xfrm>
          </p:grpSpPr>
          <p:sp>
            <p:nvSpPr>
              <p:cNvPr name="Freeform 15" id="1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6" id="1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7" id="17"/>
            <p:cNvSpPr/>
            <p:nvPr/>
          </p:nvSpPr>
          <p:spPr>
            <a:xfrm flipH="false" flipV="false" rot="0">
              <a:off x="5997879" y="265691"/>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8" id="18"/>
          <p:cNvGrpSpPr/>
          <p:nvPr/>
        </p:nvGrpSpPr>
        <p:grpSpPr>
          <a:xfrm rot="0">
            <a:off x="663949" y="663949"/>
            <a:ext cx="729502" cy="729502"/>
            <a:chOff x="0" y="0"/>
            <a:chExt cx="972669" cy="972669"/>
          </a:xfrm>
        </p:grpSpPr>
        <p:grpSp>
          <p:nvGrpSpPr>
            <p:cNvPr name="Group 19" id="19"/>
            <p:cNvGrpSpPr/>
            <p:nvPr/>
          </p:nvGrpSpPr>
          <p:grpSpPr>
            <a:xfrm rot="0">
              <a:off x="0" y="0"/>
              <a:ext cx="972669" cy="972669"/>
              <a:chOff x="0" y="0"/>
              <a:chExt cx="812800" cy="812800"/>
            </a:xfrm>
          </p:grpSpPr>
          <p:sp>
            <p:nvSpPr>
              <p:cNvPr name="Freeform 20" id="2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1" id="21"/>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3" id="23"/>
          <p:cNvGrpSpPr/>
          <p:nvPr/>
        </p:nvGrpSpPr>
        <p:grpSpPr>
          <a:xfrm rot="0">
            <a:off x="16894549" y="8827977"/>
            <a:ext cx="729502" cy="729502"/>
            <a:chOff x="0" y="0"/>
            <a:chExt cx="972669" cy="972669"/>
          </a:xfrm>
        </p:grpSpPr>
        <p:grpSp>
          <p:nvGrpSpPr>
            <p:cNvPr name="Group 24" id="24"/>
            <p:cNvGrpSpPr/>
            <p:nvPr/>
          </p:nvGrpSpPr>
          <p:grpSpPr>
            <a:xfrm rot="0">
              <a:off x="0" y="0"/>
              <a:ext cx="972669" cy="972669"/>
              <a:chOff x="0" y="0"/>
              <a:chExt cx="812800" cy="812800"/>
            </a:xfrm>
          </p:grpSpPr>
          <p:sp>
            <p:nvSpPr>
              <p:cNvPr name="Freeform 25" id="2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6" id="26"/>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28" id="28"/>
          <p:cNvSpPr txBox="true"/>
          <p:nvPr/>
        </p:nvSpPr>
        <p:spPr>
          <a:xfrm rot="0">
            <a:off x="1802537" y="6504697"/>
            <a:ext cx="5668127" cy="1564005"/>
          </a:xfrm>
          <a:prstGeom prst="rect">
            <a:avLst/>
          </a:prstGeom>
        </p:spPr>
        <p:txBody>
          <a:bodyPr anchor="t" rtlCol="false" tIns="0" lIns="0" bIns="0" rIns="0">
            <a:spAutoFit/>
          </a:bodyPr>
          <a:lstStyle/>
          <a:p>
            <a:pPr algn="just">
              <a:lnSpc>
                <a:spcPts val="2520"/>
              </a:lnSpc>
              <a:spcBef>
                <a:spcPct val="0"/>
              </a:spcBef>
            </a:pPr>
            <a:r>
              <a:rPr lang="en-US" sz="1800">
                <a:solidFill>
                  <a:srgbClr val="A0F8EE"/>
                </a:solidFill>
                <a:latin typeface="Inter"/>
                <a:ea typeface="Inter"/>
                <a:cs typeface="Inter"/>
                <a:sym typeface="Inter"/>
              </a:rPr>
              <a:t>L</a:t>
            </a:r>
            <a:r>
              <a:rPr lang="en-US" sz="1800">
                <a:solidFill>
                  <a:srgbClr val="A0F8EE"/>
                </a:solidFill>
                <a:latin typeface="Inter"/>
                <a:ea typeface="Inter"/>
                <a:cs typeface="Inter"/>
                <a:sym typeface="Inter"/>
              </a:rPr>
              <a:t>orem ipsum dolor sit amet, consectetur adipiscing elit. In facilisis dolor sit amet ex sagittis, non blandit lorem fringilla. In aliquam quam risus, eu ultrices magna euismod vel. In at facilisis nulla. Integer a enim eget purus vehicula tincidunt sit amet et libero.</a:t>
            </a:r>
          </a:p>
        </p:txBody>
      </p:sp>
      <p:sp>
        <p:nvSpPr>
          <p:cNvPr name="AutoShape 29" id="29"/>
          <p:cNvSpPr/>
          <p:nvPr/>
        </p:nvSpPr>
        <p:spPr>
          <a:xfrm>
            <a:off x="8384575" y="4273840"/>
            <a:ext cx="0" cy="4984460"/>
          </a:xfrm>
          <a:prstGeom prst="line">
            <a:avLst/>
          </a:prstGeom>
          <a:ln cap="flat" w="19050">
            <a:solidFill>
              <a:srgbClr val="A0F8EE"/>
            </a:solidFill>
            <a:prstDash val="solid"/>
            <a:headEnd type="none" len="sm" w="sm"/>
            <a:tailEnd type="none" len="sm" w="sm"/>
          </a:ln>
        </p:spPr>
      </p:sp>
      <p:sp>
        <p:nvSpPr>
          <p:cNvPr name="AutoShape 30" id="30"/>
          <p:cNvSpPr/>
          <p:nvPr/>
        </p:nvSpPr>
        <p:spPr>
          <a:xfrm flipH="true">
            <a:off x="1028700" y="4273840"/>
            <a:ext cx="16230600" cy="0"/>
          </a:xfrm>
          <a:prstGeom prst="line">
            <a:avLst/>
          </a:prstGeom>
          <a:ln cap="flat" w="19050">
            <a:solidFill>
              <a:srgbClr val="A0F8EE"/>
            </a:solidFill>
            <a:prstDash val="solid"/>
            <a:headEnd type="none" len="sm" w="sm"/>
            <a:tailEnd type="none" len="sm" w="sm"/>
          </a:ln>
        </p:spPr>
      </p:sp>
      <p:sp>
        <p:nvSpPr>
          <p:cNvPr name="Freeform 31" id="31"/>
          <p:cNvSpPr/>
          <p:nvPr/>
        </p:nvSpPr>
        <p:spPr>
          <a:xfrm flipH="false" flipV="false" rot="0">
            <a:off x="16318852" y="8473523"/>
            <a:ext cx="293125" cy="289395"/>
          </a:xfrm>
          <a:custGeom>
            <a:avLst/>
            <a:gdLst/>
            <a:ahLst/>
            <a:cxnLst/>
            <a:rect r="r" b="b" t="t" l="l"/>
            <a:pathLst>
              <a:path h="289395" w="293125">
                <a:moveTo>
                  <a:pt x="0" y="0"/>
                </a:moveTo>
                <a:lnTo>
                  <a:pt x="293126" y="0"/>
                </a:lnTo>
                <a:lnTo>
                  <a:pt x="293126" y="289394"/>
                </a:lnTo>
                <a:lnTo>
                  <a:pt x="0" y="2893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2" id="32"/>
          <p:cNvGrpSpPr/>
          <p:nvPr/>
        </p:nvGrpSpPr>
        <p:grpSpPr>
          <a:xfrm rot="0">
            <a:off x="9527979" y="7055175"/>
            <a:ext cx="6470357" cy="687931"/>
            <a:chOff x="0" y="0"/>
            <a:chExt cx="1704127" cy="181183"/>
          </a:xfrm>
        </p:grpSpPr>
        <p:sp>
          <p:nvSpPr>
            <p:cNvPr name="Freeform 33" id="33"/>
            <p:cNvSpPr/>
            <p:nvPr/>
          </p:nvSpPr>
          <p:spPr>
            <a:xfrm flipH="false" flipV="false" rot="0">
              <a:off x="0" y="0"/>
              <a:ext cx="1704127" cy="181183"/>
            </a:xfrm>
            <a:custGeom>
              <a:avLst/>
              <a:gdLst/>
              <a:ahLst/>
              <a:cxnLst/>
              <a:rect r="r" b="b" t="t" l="l"/>
              <a:pathLst>
                <a:path h="181183" w="1704127">
                  <a:moveTo>
                    <a:pt x="90592" y="0"/>
                  </a:moveTo>
                  <a:lnTo>
                    <a:pt x="1613535" y="0"/>
                  </a:lnTo>
                  <a:cubicBezTo>
                    <a:pt x="1637562" y="0"/>
                    <a:pt x="1660604" y="9544"/>
                    <a:pt x="1677593" y="26534"/>
                  </a:cubicBezTo>
                  <a:cubicBezTo>
                    <a:pt x="1694583" y="43523"/>
                    <a:pt x="1704127" y="66565"/>
                    <a:pt x="1704127" y="90592"/>
                  </a:cubicBezTo>
                  <a:lnTo>
                    <a:pt x="1704127" y="90592"/>
                  </a:lnTo>
                  <a:cubicBezTo>
                    <a:pt x="1704127" y="114618"/>
                    <a:pt x="1694583" y="137661"/>
                    <a:pt x="1677593" y="154650"/>
                  </a:cubicBezTo>
                  <a:cubicBezTo>
                    <a:pt x="1660604" y="171639"/>
                    <a:pt x="1637562" y="181183"/>
                    <a:pt x="1613535"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34" id="34"/>
            <p:cNvSpPr txBox="true"/>
            <p:nvPr/>
          </p:nvSpPr>
          <p:spPr>
            <a:xfrm>
              <a:off x="0" y="-38100"/>
              <a:ext cx="1704127"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LAUNCH</a:t>
              </a:r>
              <a:r>
                <a:rPr lang="en-US" b="true" sz="1899">
                  <a:solidFill>
                    <a:srgbClr val="272727"/>
                  </a:solidFill>
                  <a:latin typeface="Inter Bold"/>
                  <a:ea typeface="Inter Bold"/>
                  <a:cs typeface="Inter Bold"/>
                  <a:sym typeface="Inter Bold"/>
                </a:rPr>
                <a:t>ED SPRING CAMPAIGN SUCCESSFULLY</a:t>
              </a:r>
            </a:p>
          </p:txBody>
        </p:sp>
      </p:grpSp>
      <p:grpSp>
        <p:nvGrpSpPr>
          <p:cNvPr name="Group 35" id="35"/>
          <p:cNvGrpSpPr/>
          <p:nvPr/>
        </p:nvGrpSpPr>
        <p:grpSpPr>
          <a:xfrm rot="0">
            <a:off x="10059652" y="5970303"/>
            <a:ext cx="5243429" cy="687931"/>
            <a:chOff x="0" y="0"/>
            <a:chExt cx="1380985" cy="181183"/>
          </a:xfrm>
        </p:grpSpPr>
        <p:sp>
          <p:nvSpPr>
            <p:cNvPr name="Freeform 36" id="36"/>
            <p:cNvSpPr/>
            <p:nvPr/>
          </p:nvSpPr>
          <p:spPr>
            <a:xfrm flipH="false" flipV="false" rot="0">
              <a:off x="0" y="0"/>
              <a:ext cx="1380985" cy="181183"/>
            </a:xfrm>
            <a:custGeom>
              <a:avLst/>
              <a:gdLst/>
              <a:ahLst/>
              <a:cxnLst/>
              <a:rect r="r" b="b" t="t" l="l"/>
              <a:pathLst>
                <a:path h="181183" w="1380985">
                  <a:moveTo>
                    <a:pt x="90592" y="0"/>
                  </a:moveTo>
                  <a:lnTo>
                    <a:pt x="1290394" y="0"/>
                  </a:lnTo>
                  <a:cubicBezTo>
                    <a:pt x="1314420" y="0"/>
                    <a:pt x="1337462" y="9544"/>
                    <a:pt x="1354452" y="26534"/>
                  </a:cubicBezTo>
                  <a:cubicBezTo>
                    <a:pt x="1371441" y="43523"/>
                    <a:pt x="1380985" y="66565"/>
                    <a:pt x="1380985" y="90592"/>
                  </a:cubicBezTo>
                  <a:lnTo>
                    <a:pt x="1380985" y="90592"/>
                  </a:lnTo>
                  <a:cubicBezTo>
                    <a:pt x="1380985" y="114618"/>
                    <a:pt x="1371441" y="137661"/>
                    <a:pt x="1354452" y="154650"/>
                  </a:cubicBezTo>
                  <a:cubicBezTo>
                    <a:pt x="1337462" y="171639"/>
                    <a:pt x="1314420" y="181183"/>
                    <a:pt x="1290394"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37" id="37"/>
            <p:cNvSpPr txBox="true"/>
            <p:nvPr/>
          </p:nvSpPr>
          <p:spPr>
            <a:xfrm>
              <a:off x="0" y="-38100"/>
              <a:ext cx="1380985"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W</a:t>
              </a:r>
              <a:r>
                <a:rPr lang="en-US" b="true" sz="1899">
                  <a:solidFill>
                    <a:srgbClr val="272727"/>
                  </a:solidFill>
                  <a:latin typeface="Inter Bold"/>
                  <a:ea typeface="Inter Bold"/>
                  <a:cs typeface="Inter Bold"/>
                  <a:sym typeface="Inter Bold"/>
                </a:rPr>
                <a:t>EBSITE TRAFFIC INCREASED BY 15%</a:t>
              </a:r>
            </a:p>
          </p:txBody>
        </p:sp>
      </p:grpSp>
      <p:grpSp>
        <p:nvGrpSpPr>
          <p:cNvPr name="Group 38" id="38"/>
          <p:cNvGrpSpPr/>
          <p:nvPr/>
        </p:nvGrpSpPr>
        <p:grpSpPr>
          <a:xfrm rot="0">
            <a:off x="10112887" y="4863272"/>
            <a:ext cx="5106673" cy="687931"/>
            <a:chOff x="0" y="0"/>
            <a:chExt cx="1344967" cy="181183"/>
          </a:xfrm>
        </p:grpSpPr>
        <p:sp>
          <p:nvSpPr>
            <p:cNvPr name="Freeform 39" id="39"/>
            <p:cNvSpPr/>
            <p:nvPr/>
          </p:nvSpPr>
          <p:spPr>
            <a:xfrm flipH="false" flipV="false" rot="0">
              <a:off x="0" y="0"/>
              <a:ext cx="1344967" cy="181183"/>
            </a:xfrm>
            <a:custGeom>
              <a:avLst/>
              <a:gdLst/>
              <a:ahLst/>
              <a:cxnLst/>
              <a:rect r="r" b="b" t="t" l="l"/>
              <a:pathLst>
                <a:path h="181183" w="1344967">
                  <a:moveTo>
                    <a:pt x="90592" y="0"/>
                  </a:moveTo>
                  <a:lnTo>
                    <a:pt x="1254376" y="0"/>
                  </a:lnTo>
                  <a:cubicBezTo>
                    <a:pt x="1278402" y="0"/>
                    <a:pt x="1301444" y="9544"/>
                    <a:pt x="1318434" y="26534"/>
                  </a:cubicBezTo>
                  <a:cubicBezTo>
                    <a:pt x="1335423" y="43523"/>
                    <a:pt x="1344967" y="66565"/>
                    <a:pt x="1344967" y="90592"/>
                  </a:cubicBezTo>
                  <a:lnTo>
                    <a:pt x="1344967" y="90592"/>
                  </a:lnTo>
                  <a:cubicBezTo>
                    <a:pt x="1344967" y="114618"/>
                    <a:pt x="1335423" y="137661"/>
                    <a:pt x="1318434" y="154650"/>
                  </a:cubicBezTo>
                  <a:cubicBezTo>
                    <a:pt x="1301444" y="171639"/>
                    <a:pt x="1278402" y="181183"/>
                    <a:pt x="1254376"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40" id="40"/>
            <p:cNvSpPr txBox="true"/>
            <p:nvPr/>
          </p:nvSpPr>
          <p:spPr>
            <a:xfrm>
              <a:off x="0" y="-38100"/>
              <a:ext cx="1344967"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PAR</a:t>
              </a:r>
              <a:r>
                <a:rPr lang="en-US" b="true" sz="1899">
                  <a:solidFill>
                    <a:srgbClr val="272727"/>
                  </a:solidFill>
                  <a:latin typeface="Inter Bold"/>
                  <a:ea typeface="Inter Bold"/>
                  <a:cs typeface="Inter Bold"/>
                  <a:sym typeface="Inter Bold"/>
                </a:rPr>
                <a:t>TNERED WITH 3 NEW VENDORS</a:t>
              </a:r>
            </a:p>
          </p:txBody>
        </p:sp>
      </p:grpSp>
      <p:grpSp>
        <p:nvGrpSpPr>
          <p:cNvPr name="Group 41" id="41"/>
          <p:cNvGrpSpPr/>
          <p:nvPr/>
        </p:nvGrpSpPr>
        <p:grpSpPr>
          <a:xfrm rot="0">
            <a:off x="8914336" y="8140047"/>
            <a:ext cx="7697641" cy="687931"/>
            <a:chOff x="0" y="0"/>
            <a:chExt cx="2027362" cy="181183"/>
          </a:xfrm>
        </p:grpSpPr>
        <p:sp>
          <p:nvSpPr>
            <p:cNvPr name="Freeform 42" id="42"/>
            <p:cNvSpPr/>
            <p:nvPr/>
          </p:nvSpPr>
          <p:spPr>
            <a:xfrm flipH="false" flipV="false" rot="0">
              <a:off x="0" y="0"/>
              <a:ext cx="2027362" cy="181183"/>
            </a:xfrm>
            <a:custGeom>
              <a:avLst/>
              <a:gdLst/>
              <a:ahLst/>
              <a:cxnLst/>
              <a:rect r="r" b="b" t="t" l="l"/>
              <a:pathLst>
                <a:path h="181183" w="2027362">
                  <a:moveTo>
                    <a:pt x="90592" y="0"/>
                  </a:moveTo>
                  <a:lnTo>
                    <a:pt x="1936771" y="0"/>
                  </a:lnTo>
                  <a:cubicBezTo>
                    <a:pt x="1960797" y="0"/>
                    <a:pt x="1983839" y="9544"/>
                    <a:pt x="2000829" y="26534"/>
                  </a:cubicBezTo>
                  <a:cubicBezTo>
                    <a:pt x="2017818" y="43523"/>
                    <a:pt x="2027362" y="66565"/>
                    <a:pt x="2027362" y="90592"/>
                  </a:cubicBezTo>
                  <a:lnTo>
                    <a:pt x="2027362" y="90592"/>
                  </a:lnTo>
                  <a:cubicBezTo>
                    <a:pt x="2027362" y="114618"/>
                    <a:pt x="2017818" y="137661"/>
                    <a:pt x="2000829" y="154650"/>
                  </a:cubicBezTo>
                  <a:cubicBezTo>
                    <a:pt x="1983839" y="171639"/>
                    <a:pt x="1960797" y="181183"/>
                    <a:pt x="1936771"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43" id="43"/>
            <p:cNvSpPr txBox="true"/>
            <p:nvPr/>
          </p:nvSpPr>
          <p:spPr>
            <a:xfrm>
              <a:off x="0" y="-38100"/>
              <a:ext cx="2027362"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REDUC</a:t>
              </a:r>
              <a:r>
                <a:rPr lang="en-US" b="true" sz="1899">
                  <a:solidFill>
                    <a:srgbClr val="272727"/>
                  </a:solidFill>
                  <a:latin typeface="Inter Bold"/>
                  <a:ea typeface="Inter Bold"/>
                  <a:cs typeface="Inter Bold"/>
                  <a:sym typeface="Inter Bold"/>
                </a:rPr>
                <a:t>ED CUSTOMER RESPONSE TIME TO UNDER 2 HOURS</a:t>
              </a:r>
            </a:p>
          </p:txBody>
        </p:sp>
      </p:grpSp>
      <p:grpSp>
        <p:nvGrpSpPr>
          <p:cNvPr name="Group 44" id="44"/>
          <p:cNvGrpSpPr/>
          <p:nvPr/>
        </p:nvGrpSpPr>
        <p:grpSpPr>
          <a:xfrm rot="0">
            <a:off x="8580860" y="8150536"/>
            <a:ext cx="666952" cy="666952"/>
            <a:chOff x="0" y="0"/>
            <a:chExt cx="889270" cy="889270"/>
          </a:xfrm>
        </p:grpSpPr>
        <p:grpSp>
          <p:nvGrpSpPr>
            <p:cNvPr name="Group 45" id="45"/>
            <p:cNvGrpSpPr/>
            <p:nvPr/>
          </p:nvGrpSpPr>
          <p:grpSpPr>
            <a:xfrm rot="0">
              <a:off x="0" y="0"/>
              <a:ext cx="889270" cy="889270"/>
              <a:chOff x="0" y="0"/>
              <a:chExt cx="812800" cy="812800"/>
            </a:xfrm>
          </p:grpSpPr>
          <p:sp>
            <p:nvSpPr>
              <p:cNvPr name="Freeform 46" id="4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47" id="47"/>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48" id="48"/>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49" id="49"/>
          <p:cNvGrpSpPr/>
          <p:nvPr/>
        </p:nvGrpSpPr>
        <p:grpSpPr>
          <a:xfrm rot="0">
            <a:off x="16318852" y="8150536"/>
            <a:ext cx="666952" cy="666952"/>
            <a:chOff x="0" y="0"/>
            <a:chExt cx="889270" cy="889270"/>
          </a:xfrm>
        </p:grpSpPr>
        <p:grpSp>
          <p:nvGrpSpPr>
            <p:cNvPr name="Group 50" id="50"/>
            <p:cNvGrpSpPr/>
            <p:nvPr/>
          </p:nvGrpSpPr>
          <p:grpSpPr>
            <a:xfrm rot="0">
              <a:off x="0" y="0"/>
              <a:ext cx="889270" cy="889270"/>
              <a:chOff x="0" y="0"/>
              <a:chExt cx="812800" cy="812800"/>
            </a:xfrm>
          </p:grpSpPr>
          <p:sp>
            <p:nvSpPr>
              <p:cNvPr name="Freeform 51" id="5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52" id="5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53" id="53"/>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4" id="54"/>
          <p:cNvGrpSpPr/>
          <p:nvPr/>
        </p:nvGrpSpPr>
        <p:grpSpPr>
          <a:xfrm rot="0">
            <a:off x="15651900" y="7076154"/>
            <a:ext cx="666952" cy="666952"/>
            <a:chOff x="0" y="0"/>
            <a:chExt cx="889270" cy="889270"/>
          </a:xfrm>
        </p:grpSpPr>
        <p:grpSp>
          <p:nvGrpSpPr>
            <p:cNvPr name="Group 55" id="55"/>
            <p:cNvGrpSpPr/>
            <p:nvPr/>
          </p:nvGrpSpPr>
          <p:grpSpPr>
            <a:xfrm rot="0">
              <a:off x="0" y="0"/>
              <a:ext cx="889270" cy="889270"/>
              <a:chOff x="0" y="0"/>
              <a:chExt cx="812800" cy="812800"/>
            </a:xfrm>
          </p:grpSpPr>
          <p:sp>
            <p:nvSpPr>
              <p:cNvPr name="Freeform 56" id="5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57" id="57"/>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58" id="58"/>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9" id="59"/>
          <p:cNvGrpSpPr/>
          <p:nvPr/>
        </p:nvGrpSpPr>
        <p:grpSpPr>
          <a:xfrm rot="0">
            <a:off x="9194502" y="7055175"/>
            <a:ext cx="666952" cy="666952"/>
            <a:chOff x="0" y="0"/>
            <a:chExt cx="889270" cy="889270"/>
          </a:xfrm>
        </p:grpSpPr>
        <p:grpSp>
          <p:nvGrpSpPr>
            <p:cNvPr name="Group 60" id="60"/>
            <p:cNvGrpSpPr/>
            <p:nvPr/>
          </p:nvGrpSpPr>
          <p:grpSpPr>
            <a:xfrm rot="0">
              <a:off x="0" y="0"/>
              <a:ext cx="889270" cy="889270"/>
              <a:chOff x="0" y="0"/>
              <a:chExt cx="812800" cy="812800"/>
            </a:xfrm>
          </p:grpSpPr>
          <p:sp>
            <p:nvSpPr>
              <p:cNvPr name="Freeform 61" id="6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62" id="6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63" id="63"/>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4" id="64"/>
          <p:cNvGrpSpPr/>
          <p:nvPr/>
        </p:nvGrpSpPr>
        <p:grpSpPr>
          <a:xfrm rot="0">
            <a:off x="9726176" y="5970303"/>
            <a:ext cx="666952" cy="666952"/>
            <a:chOff x="0" y="0"/>
            <a:chExt cx="889270" cy="889270"/>
          </a:xfrm>
        </p:grpSpPr>
        <p:grpSp>
          <p:nvGrpSpPr>
            <p:cNvPr name="Group 65" id="65"/>
            <p:cNvGrpSpPr/>
            <p:nvPr/>
          </p:nvGrpSpPr>
          <p:grpSpPr>
            <a:xfrm rot="0">
              <a:off x="0" y="0"/>
              <a:ext cx="889270" cy="889270"/>
              <a:chOff x="0" y="0"/>
              <a:chExt cx="812800" cy="812800"/>
            </a:xfrm>
          </p:grpSpPr>
          <p:sp>
            <p:nvSpPr>
              <p:cNvPr name="Freeform 66" id="6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67" id="67"/>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68" id="68"/>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9" id="69"/>
          <p:cNvGrpSpPr/>
          <p:nvPr/>
        </p:nvGrpSpPr>
        <p:grpSpPr>
          <a:xfrm rot="0">
            <a:off x="9846311" y="4863272"/>
            <a:ext cx="666952" cy="666952"/>
            <a:chOff x="0" y="0"/>
            <a:chExt cx="889270" cy="889270"/>
          </a:xfrm>
        </p:grpSpPr>
        <p:grpSp>
          <p:nvGrpSpPr>
            <p:cNvPr name="Group 70" id="70"/>
            <p:cNvGrpSpPr/>
            <p:nvPr/>
          </p:nvGrpSpPr>
          <p:grpSpPr>
            <a:xfrm rot="0">
              <a:off x="0" y="0"/>
              <a:ext cx="889270" cy="889270"/>
              <a:chOff x="0" y="0"/>
              <a:chExt cx="812800" cy="812800"/>
            </a:xfrm>
          </p:grpSpPr>
          <p:sp>
            <p:nvSpPr>
              <p:cNvPr name="Freeform 71" id="7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72" id="7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73" id="73"/>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4" id="74"/>
          <p:cNvGrpSpPr/>
          <p:nvPr/>
        </p:nvGrpSpPr>
        <p:grpSpPr>
          <a:xfrm rot="0">
            <a:off x="14984948" y="5980793"/>
            <a:ext cx="666952" cy="666952"/>
            <a:chOff x="0" y="0"/>
            <a:chExt cx="889270" cy="889270"/>
          </a:xfrm>
        </p:grpSpPr>
        <p:grpSp>
          <p:nvGrpSpPr>
            <p:cNvPr name="Group 75" id="75"/>
            <p:cNvGrpSpPr/>
            <p:nvPr/>
          </p:nvGrpSpPr>
          <p:grpSpPr>
            <a:xfrm rot="0">
              <a:off x="0" y="0"/>
              <a:ext cx="889270" cy="889270"/>
              <a:chOff x="0" y="0"/>
              <a:chExt cx="812800" cy="812800"/>
            </a:xfrm>
          </p:grpSpPr>
          <p:sp>
            <p:nvSpPr>
              <p:cNvPr name="Freeform 76" id="7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77" id="77"/>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78" id="78"/>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9" id="79"/>
          <p:cNvGrpSpPr/>
          <p:nvPr/>
        </p:nvGrpSpPr>
        <p:grpSpPr>
          <a:xfrm rot="0">
            <a:off x="14849469" y="4873762"/>
            <a:ext cx="666952" cy="666952"/>
            <a:chOff x="0" y="0"/>
            <a:chExt cx="889270" cy="889270"/>
          </a:xfrm>
        </p:grpSpPr>
        <p:grpSp>
          <p:nvGrpSpPr>
            <p:cNvPr name="Group 80" id="80"/>
            <p:cNvGrpSpPr/>
            <p:nvPr/>
          </p:nvGrpSpPr>
          <p:grpSpPr>
            <a:xfrm rot="0">
              <a:off x="0" y="0"/>
              <a:ext cx="889270" cy="889270"/>
              <a:chOff x="0" y="0"/>
              <a:chExt cx="812800" cy="812800"/>
            </a:xfrm>
          </p:grpSpPr>
          <p:sp>
            <p:nvSpPr>
              <p:cNvPr name="Freeform 81" id="8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82" id="8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83" id="83"/>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870068" y="2181286"/>
            <a:ext cx="14547864" cy="1454800"/>
          </a:xfrm>
          <a:prstGeom prst="rect">
            <a:avLst/>
          </a:prstGeom>
        </p:spPr>
        <p:txBody>
          <a:bodyPr anchor="t" rtlCol="false" tIns="0" lIns="0" bIns="0" rIns="0">
            <a:spAutoFit/>
          </a:bodyPr>
          <a:lstStyle/>
          <a:p>
            <a:pPr algn="ctr">
              <a:lnSpc>
                <a:spcPts val="9165"/>
              </a:lnSpc>
            </a:pPr>
            <a:r>
              <a:rPr lang="en-US" b="true" sz="10183" spc="-427">
                <a:solidFill>
                  <a:srgbClr val="A0F8EE"/>
                </a:solidFill>
                <a:latin typeface="ITC Avant Garde Gothic Bold"/>
                <a:ea typeface="ITC Avant Garde Gothic Bold"/>
                <a:cs typeface="ITC Avant Garde Gothic Bold"/>
                <a:sym typeface="ITC Avant Garde Gothic Bold"/>
              </a:rPr>
              <a:t>CHALLENGES &amp; ISSUES</a:t>
            </a:r>
          </a:p>
        </p:txBody>
      </p:sp>
      <p:grpSp>
        <p:nvGrpSpPr>
          <p:cNvPr name="Group 6" id="6"/>
          <p:cNvGrpSpPr/>
          <p:nvPr/>
        </p:nvGrpSpPr>
        <p:grpSpPr>
          <a:xfrm rot="0">
            <a:off x="2100592" y="5603231"/>
            <a:ext cx="5471668" cy="687931"/>
            <a:chOff x="0" y="0"/>
            <a:chExt cx="7295557" cy="917241"/>
          </a:xfrm>
        </p:grpSpPr>
        <p:grpSp>
          <p:nvGrpSpPr>
            <p:cNvPr name="Group 7" id="7"/>
            <p:cNvGrpSpPr/>
            <p:nvPr/>
          </p:nvGrpSpPr>
          <p:grpSpPr>
            <a:xfrm rot="0">
              <a:off x="444635" y="0"/>
              <a:ext cx="6406287" cy="917241"/>
              <a:chOff x="0" y="0"/>
              <a:chExt cx="1265439" cy="181183"/>
            </a:xfrm>
          </p:grpSpPr>
          <p:sp>
            <p:nvSpPr>
              <p:cNvPr name="Freeform 8" id="8"/>
              <p:cNvSpPr/>
              <p:nvPr/>
            </p:nvSpPr>
            <p:spPr>
              <a:xfrm flipH="false" flipV="false" rot="0">
                <a:off x="0" y="0"/>
                <a:ext cx="1265439" cy="181183"/>
              </a:xfrm>
              <a:custGeom>
                <a:avLst/>
                <a:gdLst/>
                <a:ahLst/>
                <a:cxnLst/>
                <a:rect r="r" b="b" t="t" l="l"/>
                <a:pathLst>
                  <a:path h="181183" w="1265439">
                    <a:moveTo>
                      <a:pt x="90592" y="0"/>
                    </a:moveTo>
                    <a:lnTo>
                      <a:pt x="1174848" y="0"/>
                    </a:lnTo>
                    <a:cubicBezTo>
                      <a:pt x="1198874" y="0"/>
                      <a:pt x="1221917" y="9544"/>
                      <a:pt x="1238906" y="26534"/>
                    </a:cubicBezTo>
                    <a:cubicBezTo>
                      <a:pt x="1255895" y="43523"/>
                      <a:pt x="1265439" y="66565"/>
                      <a:pt x="1265439" y="90592"/>
                    </a:cubicBezTo>
                    <a:lnTo>
                      <a:pt x="1265439" y="90592"/>
                    </a:lnTo>
                    <a:cubicBezTo>
                      <a:pt x="1265439" y="114618"/>
                      <a:pt x="1255895" y="137661"/>
                      <a:pt x="1238906" y="154650"/>
                    </a:cubicBezTo>
                    <a:cubicBezTo>
                      <a:pt x="1221917" y="171639"/>
                      <a:pt x="1198874" y="181183"/>
                      <a:pt x="1174848"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FFB0F1"/>
              </a:solidFill>
              <a:ln w="38100" cap="rnd">
                <a:solidFill>
                  <a:srgbClr val="000000"/>
                </a:solidFill>
                <a:prstDash val="solid"/>
                <a:round/>
              </a:ln>
            </p:spPr>
          </p:sp>
          <p:sp>
            <p:nvSpPr>
              <p:cNvPr name="TextBox 9" id="9"/>
              <p:cNvSpPr txBox="true"/>
              <p:nvPr/>
            </p:nvSpPr>
            <p:spPr>
              <a:xfrm>
                <a:off x="0" y="-47625"/>
                <a:ext cx="1265439" cy="228808"/>
              </a:xfrm>
              <a:prstGeom prst="rect">
                <a:avLst/>
              </a:prstGeom>
            </p:spPr>
            <p:txBody>
              <a:bodyPr anchor="ctr" rtlCol="false" tIns="50800" lIns="50800" bIns="50800" rIns="50800"/>
              <a:lstStyle/>
              <a:p>
                <a:pPr algn="ctr">
                  <a:lnSpc>
                    <a:spcPts val="3359"/>
                  </a:lnSpc>
                </a:pPr>
                <a:r>
                  <a:rPr lang="en-US" b="true" sz="2399">
                    <a:solidFill>
                      <a:srgbClr val="272727"/>
                    </a:solidFill>
                    <a:latin typeface="Inter Ultra-Bold"/>
                    <a:ea typeface="Inter Ultra-Bold"/>
                    <a:cs typeface="Inter Ultra-Bold"/>
                    <a:sym typeface="Inter Ultra-Bold"/>
                  </a:rPr>
                  <a:t>WHAT SLOWED US D</a:t>
                </a:r>
                <a:r>
                  <a:rPr lang="en-US" b="true" sz="2399">
                    <a:solidFill>
                      <a:srgbClr val="272727"/>
                    </a:solidFill>
                    <a:latin typeface="Inter Ultra-Bold"/>
                    <a:ea typeface="Inter Ultra-Bold"/>
                    <a:cs typeface="Inter Ultra-Bold"/>
                    <a:sym typeface="Inter Ultra-Bold"/>
                  </a:rPr>
                  <a:t>OWN</a:t>
                </a:r>
              </a:p>
            </p:txBody>
          </p:sp>
        </p:grpSp>
        <p:grpSp>
          <p:nvGrpSpPr>
            <p:cNvPr name="Group 10" id="10"/>
            <p:cNvGrpSpPr/>
            <p:nvPr/>
          </p:nvGrpSpPr>
          <p:grpSpPr>
            <a:xfrm rot="0">
              <a:off x="0" y="13986"/>
              <a:ext cx="889270" cy="889270"/>
              <a:chOff x="0" y="0"/>
              <a:chExt cx="812800" cy="812800"/>
            </a:xfrm>
          </p:grpSpPr>
          <p:sp>
            <p:nvSpPr>
              <p:cNvPr name="Freeform 11" id="1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2" id="1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3" id="13"/>
            <p:cNvSpPr/>
            <p:nvPr/>
          </p:nvSpPr>
          <p:spPr>
            <a:xfrm flipH="false" flipV="false" rot="0">
              <a:off x="249218" y="265691"/>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6406287" y="27972"/>
              <a:ext cx="889270" cy="889270"/>
              <a:chOff x="0" y="0"/>
              <a:chExt cx="812800" cy="812800"/>
            </a:xfrm>
          </p:grpSpPr>
          <p:sp>
            <p:nvSpPr>
              <p:cNvPr name="Freeform 15" id="1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6" id="1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7" id="17"/>
            <p:cNvSpPr/>
            <p:nvPr/>
          </p:nvSpPr>
          <p:spPr>
            <a:xfrm flipH="false" flipV="false" rot="0">
              <a:off x="6655505" y="279677"/>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8" id="18"/>
          <p:cNvGrpSpPr/>
          <p:nvPr/>
        </p:nvGrpSpPr>
        <p:grpSpPr>
          <a:xfrm rot="0">
            <a:off x="663949" y="663949"/>
            <a:ext cx="729502" cy="729502"/>
            <a:chOff x="0" y="0"/>
            <a:chExt cx="972669" cy="972669"/>
          </a:xfrm>
        </p:grpSpPr>
        <p:grpSp>
          <p:nvGrpSpPr>
            <p:cNvPr name="Group 19" id="19"/>
            <p:cNvGrpSpPr/>
            <p:nvPr/>
          </p:nvGrpSpPr>
          <p:grpSpPr>
            <a:xfrm rot="0">
              <a:off x="0" y="0"/>
              <a:ext cx="972669" cy="972669"/>
              <a:chOff x="0" y="0"/>
              <a:chExt cx="812800" cy="812800"/>
            </a:xfrm>
          </p:grpSpPr>
          <p:sp>
            <p:nvSpPr>
              <p:cNvPr name="Freeform 20" id="2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1" id="21"/>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3" id="23"/>
          <p:cNvGrpSpPr/>
          <p:nvPr/>
        </p:nvGrpSpPr>
        <p:grpSpPr>
          <a:xfrm rot="0">
            <a:off x="16894549" y="8827977"/>
            <a:ext cx="729502" cy="729502"/>
            <a:chOff x="0" y="0"/>
            <a:chExt cx="972669" cy="972669"/>
          </a:xfrm>
        </p:grpSpPr>
        <p:grpSp>
          <p:nvGrpSpPr>
            <p:cNvPr name="Group 24" id="24"/>
            <p:cNvGrpSpPr/>
            <p:nvPr/>
          </p:nvGrpSpPr>
          <p:grpSpPr>
            <a:xfrm rot="0">
              <a:off x="0" y="0"/>
              <a:ext cx="972669" cy="972669"/>
              <a:chOff x="0" y="0"/>
              <a:chExt cx="812800" cy="812800"/>
            </a:xfrm>
          </p:grpSpPr>
          <p:sp>
            <p:nvSpPr>
              <p:cNvPr name="Freeform 25" id="2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6" id="26"/>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28" id="28"/>
          <p:cNvSpPr txBox="true"/>
          <p:nvPr/>
        </p:nvSpPr>
        <p:spPr>
          <a:xfrm rot="0">
            <a:off x="2100592" y="6735067"/>
            <a:ext cx="7341463" cy="1249680"/>
          </a:xfrm>
          <a:prstGeom prst="rect">
            <a:avLst/>
          </a:prstGeom>
        </p:spPr>
        <p:txBody>
          <a:bodyPr anchor="t" rtlCol="false" tIns="0" lIns="0" bIns="0" rIns="0">
            <a:spAutoFit/>
          </a:bodyPr>
          <a:lstStyle/>
          <a:p>
            <a:pPr algn="just">
              <a:lnSpc>
                <a:spcPts val="2520"/>
              </a:lnSpc>
              <a:spcBef>
                <a:spcPct val="0"/>
              </a:spcBef>
            </a:pPr>
            <a:r>
              <a:rPr lang="en-US" sz="1800">
                <a:solidFill>
                  <a:srgbClr val="A0F8EE"/>
                </a:solidFill>
                <a:latin typeface="Inter"/>
                <a:ea typeface="Inter"/>
                <a:cs typeface="Inter"/>
                <a:sym typeface="Inter"/>
              </a:rPr>
              <a:t>L</a:t>
            </a:r>
            <a:r>
              <a:rPr lang="en-US" sz="1800">
                <a:solidFill>
                  <a:srgbClr val="A0F8EE"/>
                </a:solidFill>
                <a:latin typeface="Inter"/>
                <a:ea typeface="Inter"/>
                <a:cs typeface="Inter"/>
                <a:sym typeface="Inter"/>
              </a:rPr>
              <a:t>orem ipsum dolor sit amet, consectetur adipiscing elit. In facilisis dolor sit amet ex sagittis, non blandit lorem fringilla. In aliquam quam risus, eu ultrices magna euismod vel. In at facilisis nulla. Integer a enim eget purus vehicula tincidunt sit amet et libero.</a:t>
            </a:r>
          </a:p>
        </p:txBody>
      </p:sp>
      <p:sp>
        <p:nvSpPr>
          <p:cNvPr name="AutoShape 29" id="29"/>
          <p:cNvSpPr/>
          <p:nvPr/>
        </p:nvSpPr>
        <p:spPr>
          <a:xfrm>
            <a:off x="10281919" y="4301759"/>
            <a:ext cx="0" cy="4956541"/>
          </a:xfrm>
          <a:prstGeom prst="line">
            <a:avLst/>
          </a:prstGeom>
          <a:ln cap="flat" w="19050">
            <a:solidFill>
              <a:srgbClr val="A0F8EE"/>
            </a:solidFill>
            <a:prstDash val="solid"/>
            <a:headEnd type="none" len="sm" w="sm"/>
            <a:tailEnd type="none" len="sm" w="sm"/>
          </a:ln>
        </p:spPr>
      </p:sp>
      <p:sp>
        <p:nvSpPr>
          <p:cNvPr name="AutoShape 30" id="30"/>
          <p:cNvSpPr/>
          <p:nvPr/>
        </p:nvSpPr>
        <p:spPr>
          <a:xfrm flipH="true">
            <a:off x="1028700" y="4273840"/>
            <a:ext cx="16230600" cy="0"/>
          </a:xfrm>
          <a:prstGeom prst="line">
            <a:avLst/>
          </a:prstGeom>
          <a:ln cap="flat" w="19050">
            <a:solidFill>
              <a:srgbClr val="A0F8EE"/>
            </a:solidFill>
            <a:prstDash val="solid"/>
            <a:headEnd type="none" len="sm" w="sm"/>
            <a:tailEnd type="none" len="sm" w="sm"/>
          </a:ln>
        </p:spPr>
      </p:sp>
      <p:sp>
        <p:nvSpPr>
          <p:cNvPr name="Freeform 31" id="31"/>
          <p:cNvSpPr/>
          <p:nvPr/>
        </p:nvSpPr>
        <p:spPr>
          <a:xfrm flipH="false" flipV="false" rot="0">
            <a:off x="11348689" y="5016790"/>
            <a:ext cx="4791467" cy="3554397"/>
          </a:xfrm>
          <a:custGeom>
            <a:avLst/>
            <a:gdLst/>
            <a:ahLst/>
            <a:cxnLst/>
            <a:rect r="r" b="b" t="t" l="l"/>
            <a:pathLst>
              <a:path h="3554397" w="4791467">
                <a:moveTo>
                  <a:pt x="0" y="0"/>
                </a:moveTo>
                <a:lnTo>
                  <a:pt x="4791467" y="0"/>
                </a:lnTo>
                <a:lnTo>
                  <a:pt x="4791467" y="3554397"/>
                </a:lnTo>
                <a:lnTo>
                  <a:pt x="0" y="3554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238492" y="2847551"/>
            <a:ext cx="13811016" cy="5980426"/>
          </a:xfrm>
          <a:prstGeom prst="rect">
            <a:avLst/>
          </a:prstGeom>
        </p:spPr>
        <p:txBody>
          <a:bodyPr anchor="t" rtlCol="false" tIns="0" lIns="0" bIns="0" rIns="0">
            <a:spAutoFit/>
          </a:bodyPr>
          <a:lstStyle/>
          <a:p>
            <a:pPr algn="ctr">
              <a:lnSpc>
                <a:spcPts val="20999"/>
              </a:lnSpc>
            </a:pPr>
            <a:r>
              <a:rPr lang="en-US" b="true" sz="23332" spc="-979">
                <a:solidFill>
                  <a:srgbClr val="A0F8EE"/>
                </a:solidFill>
                <a:latin typeface="ITC Avant Garde Gothic Bold"/>
                <a:ea typeface="ITC Avant Garde Gothic Bold"/>
                <a:cs typeface="ITC Avant Garde Gothic Bold"/>
                <a:sym typeface="ITC Avant Garde Gothic Bold"/>
              </a:rPr>
              <a:t>BREAK</a:t>
            </a:r>
          </a:p>
          <a:p>
            <a:pPr algn="ctr">
              <a:lnSpc>
                <a:spcPts val="20999"/>
              </a:lnSpc>
            </a:pPr>
            <a:r>
              <a:rPr lang="en-US" b="true" sz="23332" spc="-979">
                <a:solidFill>
                  <a:srgbClr val="A0F8EE"/>
                </a:solidFill>
                <a:latin typeface="ITC Avant Garde Gothic Bold"/>
                <a:ea typeface="ITC Avant Garde Gothic Bold"/>
                <a:cs typeface="ITC Avant Garde Gothic Bold"/>
                <a:sym typeface="ITC Avant Garde Gothic Bold"/>
              </a:rPr>
              <a:t>SLIDES</a:t>
            </a:r>
          </a:p>
        </p:txBody>
      </p:sp>
      <p:grpSp>
        <p:nvGrpSpPr>
          <p:cNvPr name="Group 6" id="6"/>
          <p:cNvGrpSpPr/>
          <p:nvPr/>
        </p:nvGrpSpPr>
        <p:grpSpPr>
          <a:xfrm rot="0">
            <a:off x="6226400" y="4455569"/>
            <a:ext cx="5835200" cy="1375862"/>
            <a:chOff x="0" y="0"/>
            <a:chExt cx="1536843" cy="362367"/>
          </a:xfrm>
        </p:grpSpPr>
        <p:sp>
          <p:nvSpPr>
            <p:cNvPr name="Freeform 7" id="7"/>
            <p:cNvSpPr/>
            <p:nvPr/>
          </p:nvSpPr>
          <p:spPr>
            <a:xfrm flipH="false" flipV="false" rot="0">
              <a:off x="0" y="0"/>
              <a:ext cx="1536843" cy="362367"/>
            </a:xfrm>
            <a:custGeom>
              <a:avLst/>
              <a:gdLst/>
              <a:ahLst/>
              <a:cxnLst/>
              <a:rect r="r" b="b" t="t" l="l"/>
              <a:pathLst>
                <a:path h="362367" w="1536843">
                  <a:moveTo>
                    <a:pt x="132676" y="0"/>
                  </a:moveTo>
                  <a:lnTo>
                    <a:pt x="1404167" y="0"/>
                  </a:lnTo>
                  <a:cubicBezTo>
                    <a:pt x="1477442" y="0"/>
                    <a:pt x="1536843" y="59401"/>
                    <a:pt x="1536843" y="132676"/>
                  </a:cubicBezTo>
                  <a:lnTo>
                    <a:pt x="1536843" y="229691"/>
                  </a:lnTo>
                  <a:cubicBezTo>
                    <a:pt x="1536843" y="302966"/>
                    <a:pt x="1477442" y="362367"/>
                    <a:pt x="1404167" y="362367"/>
                  </a:cubicBezTo>
                  <a:lnTo>
                    <a:pt x="132676" y="362367"/>
                  </a:lnTo>
                  <a:cubicBezTo>
                    <a:pt x="59401" y="362367"/>
                    <a:pt x="0" y="302966"/>
                    <a:pt x="0" y="229691"/>
                  </a:cubicBezTo>
                  <a:lnTo>
                    <a:pt x="0" y="132676"/>
                  </a:lnTo>
                  <a:cubicBezTo>
                    <a:pt x="0" y="59401"/>
                    <a:pt x="59401" y="0"/>
                    <a:pt x="132676" y="0"/>
                  </a:cubicBezTo>
                  <a:close/>
                </a:path>
              </a:pathLst>
            </a:custGeom>
            <a:solidFill>
              <a:srgbClr val="FFB0F1"/>
            </a:solidFill>
            <a:ln w="38100" cap="rnd">
              <a:solidFill>
                <a:srgbClr val="000000"/>
              </a:solidFill>
              <a:prstDash val="solid"/>
              <a:round/>
            </a:ln>
          </p:spPr>
        </p:sp>
        <p:sp>
          <p:nvSpPr>
            <p:cNvPr name="TextBox 8" id="8"/>
            <p:cNvSpPr txBox="true"/>
            <p:nvPr/>
          </p:nvSpPr>
          <p:spPr>
            <a:xfrm>
              <a:off x="0" y="-85725"/>
              <a:ext cx="1536843" cy="448092"/>
            </a:xfrm>
            <a:prstGeom prst="rect">
              <a:avLst/>
            </a:prstGeom>
          </p:spPr>
          <p:txBody>
            <a:bodyPr anchor="ctr" rtlCol="false" tIns="50800" lIns="50800" bIns="50800" rIns="50800"/>
            <a:lstStyle/>
            <a:p>
              <a:pPr algn="ctr">
                <a:lnSpc>
                  <a:spcPts val="6299"/>
                </a:lnSpc>
                <a:spcBef>
                  <a:spcPct val="0"/>
                </a:spcBef>
              </a:pPr>
              <a:r>
                <a:rPr lang="en-US" b="true" sz="4499">
                  <a:solidFill>
                    <a:srgbClr val="272727"/>
                  </a:solidFill>
                  <a:latin typeface="Inter Bold"/>
                  <a:ea typeface="Inter Bold"/>
                  <a:cs typeface="Inter Bold"/>
                  <a:sym typeface="Inter Bold"/>
                </a:rPr>
                <a:t>TAKE A BREAK</a:t>
              </a:r>
            </a:p>
          </p:txBody>
        </p:sp>
      </p:grpSp>
      <p:grpSp>
        <p:nvGrpSpPr>
          <p:cNvPr name="Group 9" id="9"/>
          <p:cNvGrpSpPr/>
          <p:nvPr/>
        </p:nvGrpSpPr>
        <p:grpSpPr>
          <a:xfrm rot="0">
            <a:off x="5892924" y="4810024"/>
            <a:ext cx="666952" cy="666952"/>
            <a:chOff x="0" y="0"/>
            <a:chExt cx="889270" cy="889270"/>
          </a:xfrm>
        </p:grpSpPr>
        <p:grpSp>
          <p:nvGrpSpPr>
            <p:cNvPr name="Group 10" id="10"/>
            <p:cNvGrpSpPr/>
            <p:nvPr/>
          </p:nvGrpSpPr>
          <p:grpSpPr>
            <a:xfrm rot="0">
              <a:off x="0" y="0"/>
              <a:ext cx="889270" cy="889270"/>
              <a:chOff x="0" y="0"/>
              <a:chExt cx="812800" cy="812800"/>
            </a:xfrm>
          </p:grpSpPr>
          <p:sp>
            <p:nvSpPr>
              <p:cNvPr name="Freeform 11" id="1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2" id="12"/>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4" id="14"/>
          <p:cNvGrpSpPr/>
          <p:nvPr/>
        </p:nvGrpSpPr>
        <p:grpSpPr>
          <a:xfrm rot="0">
            <a:off x="663949" y="663949"/>
            <a:ext cx="729502" cy="729502"/>
            <a:chOff x="0" y="0"/>
            <a:chExt cx="972669" cy="972669"/>
          </a:xfrm>
        </p:grpSpPr>
        <p:grpSp>
          <p:nvGrpSpPr>
            <p:cNvPr name="Group 15" id="15"/>
            <p:cNvGrpSpPr/>
            <p:nvPr/>
          </p:nvGrpSpPr>
          <p:grpSpPr>
            <a:xfrm rot="0">
              <a:off x="0" y="0"/>
              <a:ext cx="972669" cy="972669"/>
              <a:chOff x="0" y="0"/>
              <a:chExt cx="812800" cy="812800"/>
            </a:xfrm>
          </p:grpSpPr>
          <p:sp>
            <p:nvSpPr>
              <p:cNvPr name="Freeform 16" id="1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7" id="17"/>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9" id="19"/>
          <p:cNvGrpSpPr/>
          <p:nvPr/>
        </p:nvGrpSpPr>
        <p:grpSpPr>
          <a:xfrm rot="0">
            <a:off x="16894549" y="8827977"/>
            <a:ext cx="729502" cy="729502"/>
            <a:chOff x="0" y="0"/>
            <a:chExt cx="972669" cy="972669"/>
          </a:xfrm>
        </p:grpSpPr>
        <p:grpSp>
          <p:nvGrpSpPr>
            <p:cNvPr name="Group 20" id="20"/>
            <p:cNvGrpSpPr/>
            <p:nvPr/>
          </p:nvGrpSpPr>
          <p:grpSpPr>
            <a:xfrm rot="0">
              <a:off x="0" y="0"/>
              <a:ext cx="972669" cy="972669"/>
              <a:chOff x="0" y="0"/>
              <a:chExt cx="812800" cy="812800"/>
            </a:xfrm>
          </p:grpSpPr>
          <p:sp>
            <p:nvSpPr>
              <p:cNvPr name="Freeform 21" id="2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2" id="22"/>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4" id="24"/>
          <p:cNvGrpSpPr/>
          <p:nvPr/>
        </p:nvGrpSpPr>
        <p:grpSpPr>
          <a:xfrm rot="0">
            <a:off x="11728124" y="4810024"/>
            <a:ext cx="666952" cy="666952"/>
            <a:chOff x="0" y="0"/>
            <a:chExt cx="889270" cy="889270"/>
          </a:xfrm>
        </p:grpSpPr>
        <p:grpSp>
          <p:nvGrpSpPr>
            <p:cNvPr name="Group 25" id="25"/>
            <p:cNvGrpSpPr/>
            <p:nvPr/>
          </p:nvGrpSpPr>
          <p:grpSpPr>
            <a:xfrm rot="0">
              <a:off x="0" y="0"/>
              <a:ext cx="889270" cy="889270"/>
              <a:chOff x="0" y="0"/>
              <a:chExt cx="812800" cy="812800"/>
            </a:xfrm>
          </p:grpSpPr>
          <p:sp>
            <p:nvSpPr>
              <p:cNvPr name="Freeform 26" id="2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7" id="27"/>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887601" y="2149134"/>
            <a:ext cx="8411851" cy="2616850"/>
          </a:xfrm>
          <a:prstGeom prst="rect">
            <a:avLst/>
          </a:prstGeom>
        </p:spPr>
        <p:txBody>
          <a:bodyPr anchor="t" rtlCol="false" tIns="0" lIns="0" bIns="0" rIns="0">
            <a:spAutoFit/>
          </a:bodyPr>
          <a:lstStyle/>
          <a:p>
            <a:pPr algn="l">
              <a:lnSpc>
                <a:spcPts val="9165"/>
              </a:lnSpc>
            </a:pPr>
            <a:r>
              <a:rPr lang="en-US" b="true" sz="10183" spc="-427">
                <a:solidFill>
                  <a:srgbClr val="A0F8EE"/>
                </a:solidFill>
                <a:latin typeface="ITC Avant Garde Gothic Bold"/>
                <a:ea typeface="ITC Avant Garde Gothic Bold"/>
                <a:cs typeface="ITC Avant Garde Gothic Bold"/>
                <a:sym typeface="ITC Avant Garde Gothic Bold"/>
              </a:rPr>
              <a:t>DEPARTMENT BREAKDOWN</a:t>
            </a:r>
          </a:p>
        </p:txBody>
      </p:sp>
      <p:grpSp>
        <p:nvGrpSpPr>
          <p:cNvPr name="Group 6" id="6"/>
          <p:cNvGrpSpPr/>
          <p:nvPr/>
        </p:nvGrpSpPr>
        <p:grpSpPr>
          <a:xfrm rot="0">
            <a:off x="2221077" y="6132123"/>
            <a:ext cx="5288215" cy="687931"/>
            <a:chOff x="0" y="0"/>
            <a:chExt cx="1392781" cy="181183"/>
          </a:xfrm>
        </p:grpSpPr>
        <p:sp>
          <p:nvSpPr>
            <p:cNvPr name="Freeform 7" id="7"/>
            <p:cNvSpPr/>
            <p:nvPr/>
          </p:nvSpPr>
          <p:spPr>
            <a:xfrm flipH="false" flipV="false" rot="0">
              <a:off x="0" y="0"/>
              <a:ext cx="1392781" cy="181183"/>
            </a:xfrm>
            <a:custGeom>
              <a:avLst/>
              <a:gdLst/>
              <a:ahLst/>
              <a:cxnLst/>
              <a:rect r="r" b="b" t="t" l="l"/>
              <a:pathLst>
                <a:path h="181183" w="1392781">
                  <a:moveTo>
                    <a:pt x="90592" y="0"/>
                  </a:moveTo>
                  <a:lnTo>
                    <a:pt x="1302189" y="0"/>
                  </a:lnTo>
                  <a:cubicBezTo>
                    <a:pt x="1352222" y="0"/>
                    <a:pt x="1392781" y="40559"/>
                    <a:pt x="1392781" y="90592"/>
                  </a:cubicBezTo>
                  <a:lnTo>
                    <a:pt x="1392781" y="90592"/>
                  </a:lnTo>
                  <a:cubicBezTo>
                    <a:pt x="1392781" y="114618"/>
                    <a:pt x="1383236" y="137661"/>
                    <a:pt x="1366247" y="154650"/>
                  </a:cubicBezTo>
                  <a:cubicBezTo>
                    <a:pt x="1349258" y="171639"/>
                    <a:pt x="1326216" y="181183"/>
                    <a:pt x="1302189"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FFB0F1"/>
            </a:solidFill>
            <a:ln w="38100" cap="rnd">
              <a:solidFill>
                <a:srgbClr val="000000"/>
              </a:solidFill>
              <a:prstDash val="solid"/>
              <a:round/>
            </a:ln>
          </p:spPr>
        </p:sp>
        <p:sp>
          <p:nvSpPr>
            <p:cNvPr name="TextBox 8" id="8"/>
            <p:cNvSpPr txBox="true"/>
            <p:nvPr/>
          </p:nvSpPr>
          <p:spPr>
            <a:xfrm>
              <a:off x="0" y="-47625"/>
              <a:ext cx="1392781" cy="228808"/>
            </a:xfrm>
            <a:prstGeom prst="rect">
              <a:avLst/>
            </a:prstGeom>
          </p:spPr>
          <p:txBody>
            <a:bodyPr anchor="ctr" rtlCol="false" tIns="50800" lIns="50800" bIns="50800" rIns="50800"/>
            <a:lstStyle/>
            <a:p>
              <a:pPr algn="ctr">
                <a:lnSpc>
                  <a:spcPts val="3359"/>
                </a:lnSpc>
              </a:pPr>
              <a:r>
                <a:rPr lang="en-US" b="true" sz="2399">
                  <a:solidFill>
                    <a:srgbClr val="272727"/>
                  </a:solidFill>
                  <a:latin typeface="Inter Ultra-Bold"/>
                  <a:ea typeface="Inter Ultra-Bold"/>
                  <a:cs typeface="Inter Ultra-Bold"/>
                  <a:sym typeface="Inter Ultra-Bold"/>
                </a:rPr>
                <a:t>PERFORMANCE BY DIVISI</a:t>
              </a:r>
              <a:r>
                <a:rPr lang="en-US" b="true" sz="2399">
                  <a:solidFill>
                    <a:srgbClr val="272727"/>
                  </a:solidFill>
                  <a:latin typeface="Inter Ultra-Bold"/>
                  <a:ea typeface="Inter Ultra-Bold"/>
                  <a:cs typeface="Inter Ultra-Bold"/>
                  <a:sym typeface="Inter Ultra-Bold"/>
                </a:rPr>
                <a:t>ON</a:t>
              </a:r>
            </a:p>
          </p:txBody>
        </p:sp>
      </p:grpSp>
      <p:grpSp>
        <p:nvGrpSpPr>
          <p:cNvPr name="Group 9" id="9"/>
          <p:cNvGrpSpPr/>
          <p:nvPr/>
        </p:nvGrpSpPr>
        <p:grpSpPr>
          <a:xfrm rot="0">
            <a:off x="1887601" y="6142612"/>
            <a:ext cx="666952" cy="666952"/>
            <a:chOff x="0" y="0"/>
            <a:chExt cx="812800" cy="812800"/>
          </a:xfrm>
        </p:grpSpPr>
        <p:sp>
          <p:nvSpPr>
            <p:cNvPr name="Freeform 10" id="1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1" id="11"/>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2" id="12"/>
          <p:cNvSpPr/>
          <p:nvPr/>
        </p:nvSpPr>
        <p:spPr>
          <a:xfrm flipH="false" flipV="false" rot="0">
            <a:off x="2074514" y="6331391"/>
            <a:ext cx="293125" cy="289395"/>
          </a:xfrm>
          <a:custGeom>
            <a:avLst/>
            <a:gdLst/>
            <a:ahLst/>
            <a:cxnLst/>
            <a:rect r="r" b="b" t="t" l="l"/>
            <a:pathLst>
              <a:path h="289395" w="293125">
                <a:moveTo>
                  <a:pt x="0" y="0"/>
                </a:moveTo>
                <a:lnTo>
                  <a:pt x="293125" y="0"/>
                </a:lnTo>
                <a:lnTo>
                  <a:pt x="293125" y="289395"/>
                </a:lnTo>
                <a:lnTo>
                  <a:pt x="0" y="289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7175815" y="6142612"/>
            <a:ext cx="666952" cy="666952"/>
            <a:chOff x="0" y="0"/>
            <a:chExt cx="889270" cy="889270"/>
          </a:xfrm>
        </p:grpSpPr>
        <p:grpSp>
          <p:nvGrpSpPr>
            <p:cNvPr name="Group 14" id="14"/>
            <p:cNvGrpSpPr/>
            <p:nvPr/>
          </p:nvGrpSpPr>
          <p:grpSpPr>
            <a:xfrm rot="0">
              <a:off x="0" y="0"/>
              <a:ext cx="889270" cy="889270"/>
              <a:chOff x="0" y="0"/>
              <a:chExt cx="812800" cy="812800"/>
            </a:xfrm>
          </p:grpSpPr>
          <p:sp>
            <p:nvSpPr>
              <p:cNvPr name="Freeform 15" id="1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6" id="1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7" id="17"/>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8" id="18"/>
          <p:cNvGrpSpPr/>
          <p:nvPr/>
        </p:nvGrpSpPr>
        <p:grpSpPr>
          <a:xfrm rot="0">
            <a:off x="663949" y="663949"/>
            <a:ext cx="729502" cy="729502"/>
            <a:chOff x="0" y="0"/>
            <a:chExt cx="972669" cy="972669"/>
          </a:xfrm>
        </p:grpSpPr>
        <p:grpSp>
          <p:nvGrpSpPr>
            <p:cNvPr name="Group 19" id="19"/>
            <p:cNvGrpSpPr/>
            <p:nvPr/>
          </p:nvGrpSpPr>
          <p:grpSpPr>
            <a:xfrm rot="0">
              <a:off x="0" y="0"/>
              <a:ext cx="972669" cy="972669"/>
              <a:chOff x="0" y="0"/>
              <a:chExt cx="812800" cy="812800"/>
            </a:xfrm>
          </p:grpSpPr>
          <p:sp>
            <p:nvSpPr>
              <p:cNvPr name="Freeform 20" id="2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1" id="21"/>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3" id="23"/>
          <p:cNvGrpSpPr/>
          <p:nvPr/>
        </p:nvGrpSpPr>
        <p:grpSpPr>
          <a:xfrm rot="0">
            <a:off x="16894549" y="8827977"/>
            <a:ext cx="729502" cy="729502"/>
            <a:chOff x="0" y="0"/>
            <a:chExt cx="972669" cy="972669"/>
          </a:xfrm>
        </p:grpSpPr>
        <p:grpSp>
          <p:nvGrpSpPr>
            <p:cNvPr name="Group 24" id="24"/>
            <p:cNvGrpSpPr/>
            <p:nvPr/>
          </p:nvGrpSpPr>
          <p:grpSpPr>
            <a:xfrm rot="0">
              <a:off x="0" y="0"/>
              <a:ext cx="972669" cy="972669"/>
              <a:chOff x="0" y="0"/>
              <a:chExt cx="812800" cy="812800"/>
            </a:xfrm>
          </p:grpSpPr>
          <p:sp>
            <p:nvSpPr>
              <p:cNvPr name="Freeform 25" id="2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6" id="26"/>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28" id="28"/>
          <p:cNvSpPr txBox="true"/>
          <p:nvPr/>
        </p:nvSpPr>
        <p:spPr>
          <a:xfrm rot="0">
            <a:off x="1887601" y="7263958"/>
            <a:ext cx="8411851" cy="1249680"/>
          </a:xfrm>
          <a:prstGeom prst="rect">
            <a:avLst/>
          </a:prstGeom>
        </p:spPr>
        <p:txBody>
          <a:bodyPr anchor="t" rtlCol="false" tIns="0" lIns="0" bIns="0" rIns="0">
            <a:spAutoFit/>
          </a:bodyPr>
          <a:lstStyle/>
          <a:p>
            <a:pPr algn="just">
              <a:lnSpc>
                <a:spcPts val="2520"/>
              </a:lnSpc>
              <a:spcBef>
                <a:spcPct val="0"/>
              </a:spcBef>
            </a:pPr>
            <a:r>
              <a:rPr lang="en-US" sz="1800">
                <a:solidFill>
                  <a:srgbClr val="A0F8EE"/>
                </a:solidFill>
                <a:latin typeface="Inter"/>
                <a:ea typeface="Inter"/>
                <a:cs typeface="Inter"/>
                <a:sym typeface="Inter"/>
              </a:rPr>
              <a:t>L</a:t>
            </a:r>
            <a:r>
              <a:rPr lang="en-US" sz="1800">
                <a:solidFill>
                  <a:srgbClr val="A0F8EE"/>
                </a:solidFill>
                <a:latin typeface="Inter"/>
                <a:ea typeface="Inter"/>
                <a:cs typeface="Inter"/>
                <a:sym typeface="Inter"/>
              </a:rPr>
              <a:t>orem ipsum dolor sit amet, consectetur adipiscing elit. In facilisis dolor sit amet ex sagittis, non blandit lorem fringilla. In aliquam quam risus, eu ultrices magna euismod vel. In at facilisis nulla. Integer a enim eget purus vehicula tincidunt sit amet et libero.</a:t>
            </a:r>
          </a:p>
        </p:txBody>
      </p:sp>
      <p:sp>
        <p:nvSpPr>
          <p:cNvPr name="AutoShape 29" id="29"/>
          <p:cNvSpPr/>
          <p:nvPr/>
        </p:nvSpPr>
        <p:spPr>
          <a:xfrm>
            <a:off x="11929987" y="1028700"/>
            <a:ext cx="0" cy="8229600"/>
          </a:xfrm>
          <a:prstGeom prst="line">
            <a:avLst/>
          </a:prstGeom>
          <a:ln cap="flat" w="19050">
            <a:solidFill>
              <a:srgbClr val="A0F8EE"/>
            </a:solidFill>
            <a:prstDash val="solid"/>
            <a:headEnd type="none" len="sm" w="sm"/>
            <a:tailEnd type="none" len="sm" w="sm"/>
          </a:ln>
        </p:spPr>
      </p:sp>
      <p:sp>
        <p:nvSpPr>
          <p:cNvPr name="Freeform 30" id="30"/>
          <p:cNvSpPr/>
          <p:nvPr/>
        </p:nvSpPr>
        <p:spPr>
          <a:xfrm flipH="false" flipV="false" rot="0">
            <a:off x="12870876" y="2625722"/>
            <a:ext cx="3486843" cy="5574895"/>
          </a:xfrm>
          <a:custGeom>
            <a:avLst/>
            <a:gdLst/>
            <a:ahLst/>
            <a:cxnLst/>
            <a:rect r="r" b="b" t="t" l="l"/>
            <a:pathLst>
              <a:path h="5574895" w="3486843">
                <a:moveTo>
                  <a:pt x="0" y="0"/>
                </a:moveTo>
                <a:lnTo>
                  <a:pt x="3486843" y="0"/>
                </a:lnTo>
                <a:lnTo>
                  <a:pt x="3486843" y="5574894"/>
                </a:lnTo>
                <a:lnTo>
                  <a:pt x="0" y="55748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887601" y="2008873"/>
            <a:ext cx="8411851" cy="2616850"/>
          </a:xfrm>
          <a:prstGeom prst="rect">
            <a:avLst/>
          </a:prstGeom>
        </p:spPr>
        <p:txBody>
          <a:bodyPr anchor="t" rtlCol="false" tIns="0" lIns="0" bIns="0" rIns="0">
            <a:spAutoFit/>
          </a:bodyPr>
          <a:lstStyle/>
          <a:p>
            <a:pPr algn="l">
              <a:lnSpc>
                <a:spcPts val="9165"/>
              </a:lnSpc>
            </a:pPr>
            <a:r>
              <a:rPr lang="en-US" b="true" sz="10183" spc="-427">
                <a:solidFill>
                  <a:srgbClr val="A0F8EE"/>
                </a:solidFill>
                <a:latin typeface="ITC Avant Garde Gothic Bold"/>
                <a:ea typeface="ITC Avant Garde Gothic Bold"/>
                <a:cs typeface="ITC Avant Garde Gothic Bold"/>
                <a:sym typeface="ITC Avant Garde Gothic Bold"/>
              </a:rPr>
              <a:t>INSIGHTS &amp; LEARNINGS</a:t>
            </a:r>
          </a:p>
        </p:txBody>
      </p:sp>
      <p:grpSp>
        <p:nvGrpSpPr>
          <p:cNvPr name="Group 6" id="6"/>
          <p:cNvGrpSpPr/>
          <p:nvPr/>
        </p:nvGrpSpPr>
        <p:grpSpPr>
          <a:xfrm rot="0">
            <a:off x="1887601" y="5991862"/>
            <a:ext cx="4539402" cy="687931"/>
            <a:chOff x="0" y="0"/>
            <a:chExt cx="6052535" cy="917241"/>
          </a:xfrm>
        </p:grpSpPr>
        <p:grpSp>
          <p:nvGrpSpPr>
            <p:cNvPr name="Group 7" id="7"/>
            <p:cNvGrpSpPr/>
            <p:nvPr/>
          </p:nvGrpSpPr>
          <p:grpSpPr>
            <a:xfrm rot="0">
              <a:off x="444635" y="0"/>
              <a:ext cx="5163266" cy="917241"/>
              <a:chOff x="0" y="0"/>
              <a:chExt cx="1019904" cy="181183"/>
            </a:xfrm>
          </p:grpSpPr>
          <p:sp>
            <p:nvSpPr>
              <p:cNvPr name="Freeform 8" id="8"/>
              <p:cNvSpPr/>
              <p:nvPr/>
            </p:nvSpPr>
            <p:spPr>
              <a:xfrm flipH="false" flipV="false" rot="0">
                <a:off x="0" y="0"/>
                <a:ext cx="1019904" cy="181183"/>
              </a:xfrm>
              <a:custGeom>
                <a:avLst/>
                <a:gdLst/>
                <a:ahLst/>
                <a:cxnLst/>
                <a:rect r="r" b="b" t="t" l="l"/>
                <a:pathLst>
                  <a:path h="181183" w="1019904">
                    <a:moveTo>
                      <a:pt x="90592" y="0"/>
                    </a:moveTo>
                    <a:lnTo>
                      <a:pt x="929313" y="0"/>
                    </a:lnTo>
                    <a:cubicBezTo>
                      <a:pt x="953339" y="0"/>
                      <a:pt x="976381" y="9544"/>
                      <a:pt x="993371" y="26534"/>
                    </a:cubicBezTo>
                    <a:cubicBezTo>
                      <a:pt x="1010360" y="43523"/>
                      <a:pt x="1019904" y="66565"/>
                      <a:pt x="1019904" y="90592"/>
                    </a:cubicBezTo>
                    <a:lnTo>
                      <a:pt x="1019904" y="90592"/>
                    </a:lnTo>
                    <a:cubicBezTo>
                      <a:pt x="1019904" y="114618"/>
                      <a:pt x="1010360" y="137661"/>
                      <a:pt x="993371" y="154650"/>
                    </a:cubicBezTo>
                    <a:cubicBezTo>
                      <a:pt x="976381" y="171639"/>
                      <a:pt x="953339" y="181183"/>
                      <a:pt x="929313"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FFB0F1"/>
              </a:solidFill>
              <a:ln w="38100" cap="rnd">
                <a:solidFill>
                  <a:srgbClr val="000000"/>
                </a:solidFill>
                <a:prstDash val="solid"/>
                <a:round/>
              </a:ln>
            </p:spPr>
          </p:sp>
          <p:sp>
            <p:nvSpPr>
              <p:cNvPr name="TextBox 9" id="9"/>
              <p:cNvSpPr txBox="true"/>
              <p:nvPr/>
            </p:nvSpPr>
            <p:spPr>
              <a:xfrm>
                <a:off x="0" y="-47625"/>
                <a:ext cx="1019904" cy="228808"/>
              </a:xfrm>
              <a:prstGeom prst="rect">
                <a:avLst/>
              </a:prstGeom>
            </p:spPr>
            <p:txBody>
              <a:bodyPr anchor="ctr" rtlCol="false" tIns="50800" lIns="50800" bIns="50800" rIns="50800"/>
              <a:lstStyle/>
              <a:p>
                <a:pPr algn="ctr">
                  <a:lnSpc>
                    <a:spcPts val="3359"/>
                  </a:lnSpc>
                </a:pPr>
                <a:r>
                  <a:rPr lang="en-US" b="true" sz="2399">
                    <a:solidFill>
                      <a:srgbClr val="272727"/>
                    </a:solidFill>
                    <a:latin typeface="Inter Ultra-Bold"/>
                    <a:ea typeface="Inter Ultra-Bold"/>
                    <a:cs typeface="Inter Ultra-Bold"/>
                    <a:sym typeface="Inter Ultra-Bold"/>
                  </a:rPr>
                  <a:t>WHAT WE LEAR</a:t>
                </a:r>
                <a:r>
                  <a:rPr lang="en-US" b="true" sz="2399">
                    <a:solidFill>
                      <a:srgbClr val="272727"/>
                    </a:solidFill>
                    <a:latin typeface="Inter Ultra-Bold"/>
                    <a:ea typeface="Inter Ultra-Bold"/>
                    <a:cs typeface="Inter Ultra-Bold"/>
                    <a:sym typeface="Inter Ultra-Bold"/>
                  </a:rPr>
                  <a:t>NED</a:t>
                </a:r>
              </a:p>
            </p:txBody>
          </p:sp>
        </p:grpSp>
        <p:grpSp>
          <p:nvGrpSpPr>
            <p:cNvPr name="Group 10" id="10"/>
            <p:cNvGrpSpPr/>
            <p:nvPr/>
          </p:nvGrpSpPr>
          <p:grpSpPr>
            <a:xfrm rot="0">
              <a:off x="0" y="13986"/>
              <a:ext cx="889270" cy="889270"/>
              <a:chOff x="0" y="0"/>
              <a:chExt cx="812800" cy="812800"/>
            </a:xfrm>
          </p:grpSpPr>
          <p:sp>
            <p:nvSpPr>
              <p:cNvPr name="Freeform 11" id="1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2" id="12"/>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3" id="13"/>
            <p:cNvSpPr/>
            <p:nvPr/>
          </p:nvSpPr>
          <p:spPr>
            <a:xfrm flipH="false" flipV="false" rot="0">
              <a:off x="249218" y="265691"/>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5163266" y="27972"/>
              <a:ext cx="889270" cy="889270"/>
              <a:chOff x="0" y="0"/>
              <a:chExt cx="812800" cy="812800"/>
            </a:xfrm>
          </p:grpSpPr>
          <p:sp>
            <p:nvSpPr>
              <p:cNvPr name="Freeform 15" id="1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6" id="1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17" id="17"/>
            <p:cNvSpPr/>
            <p:nvPr/>
          </p:nvSpPr>
          <p:spPr>
            <a:xfrm flipH="false" flipV="false" rot="0">
              <a:off x="5412484" y="279677"/>
              <a:ext cx="390834" cy="385860"/>
            </a:xfrm>
            <a:custGeom>
              <a:avLst/>
              <a:gdLst/>
              <a:ahLst/>
              <a:cxnLst/>
              <a:rect r="r" b="b" t="t" l="l"/>
              <a:pathLst>
                <a:path h="385860" w="390834">
                  <a:moveTo>
                    <a:pt x="0" y="0"/>
                  </a:moveTo>
                  <a:lnTo>
                    <a:pt x="390834" y="0"/>
                  </a:lnTo>
                  <a:lnTo>
                    <a:pt x="390834" y="385859"/>
                  </a:lnTo>
                  <a:lnTo>
                    <a:pt x="0" y="385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8" id="18"/>
          <p:cNvGrpSpPr/>
          <p:nvPr/>
        </p:nvGrpSpPr>
        <p:grpSpPr>
          <a:xfrm rot="0">
            <a:off x="663949" y="663949"/>
            <a:ext cx="729502" cy="729502"/>
            <a:chOff x="0" y="0"/>
            <a:chExt cx="972669" cy="972669"/>
          </a:xfrm>
        </p:grpSpPr>
        <p:grpSp>
          <p:nvGrpSpPr>
            <p:cNvPr name="Group 19" id="19"/>
            <p:cNvGrpSpPr/>
            <p:nvPr/>
          </p:nvGrpSpPr>
          <p:grpSpPr>
            <a:xfrm rot="0">
              <a:off x="0" y="0"/>
              <a:ext cx="972669" cy="972669"/>
              <a:chOff x="0" y="0"/>
              <a:chExt cx="812800" cy="812800"/>
            </a:xfrm>
          </p:grpSpPr>
          <p:sp>
            <p:nvSpPr>
              <p:cNvPr name="Freeform 20" id="2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1" id="21"/>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3" id="23"/>
          <p:cNvGrpSpPr/>
          <p:nvPr/>
        </p:nvGrpSpPr>
        <p:grpSpPr>
          <a:xfrm rot="0">
            <a:off x="16894549" y="8827977"/>
            <a:ext cx="729502" cy="729502"/>
            <a:chOff x="0" y="0"/>
            <a:chExt cx="972669" cy="972669"/>
          </a:xfrm>
        </p:grpSpPr>
        <p:grpSp>
          <p:nvGrpSpPr>
            <p:cNvPr name="Group 24" id="24"/>
            <p:cNvGrpSpPr/>
            <p:nvPr/>
          </p:nvGrpSpPr>
          <p:grpSpPr>
            <a:xfrm rot="0">
              <a:off x="0" y="0"/>
              <a:ext cx="972669" cy="972669"/>
              <a:chOff x="0" y="0"/>
              <a:chExt cx="812800" cy="812800"/>
            </a:xfrm>
          </p:grpSpPr>
          <p:sp>
            <p:nvSpPr>
              <p:cNvPr name="Freeform 25" id="2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6" id="26"/>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28" id="28"/>
          <p:cNvSpPr txBox="true"/>
          <p:nvPr/>
        </p:nvSpPr>
        <p:spPr>
          <a:xfrm rot="0">
            <a:off x="1887601" y="7123697"/>
            <a:ext cx="7527260" cy="1249680"/>
          </a:xfrm>
          <a:prstGeom prst="rect">
            <a:avLst/>
          </a:prstGeom>
        </p:spPr>
        <p:txBody>
          <a:bodyPr anchor="t" rtlCol="false" tIns="0" lIns="0" bIns="0" rIns="0">
            <a:spAutoFit/>
          </a:bodyPr>
          <a:lstStyle/>
          <a:p>
            <a:pPr algn="just">
              <a:lnSpc>
                <a:spcPts val="2520"/>
              </a:lnSpc>
              <a:spcBef>
                <a:spcPct val="0"/>
              </a:spcBef>
            </a:pPr>
            <a:r>
              <a:rPr lang="en-US" sz="1800">
                <a:solidFill>
                  <a:srgbClr val="A0F8EE"/>
                </a:solidFill>
                <a:latin typeface="Inter"/>
                <a:ea typeface="Inter"/>
                <a:cs typeface="Inter"/>
                <a:sym typeface="Inter"/>
              </a:rPr>
              <a:t>L</a:t>
            </a:r>
            <a:r>
              <a:rPr lang="en-US" sz="1800">
                <a:solidFill>
                  <a:srgbClr val="A0F8EE"/>
                </a:solidFill>
                <a:latin typeface="Inter"/>
                <a:ea typeface="Inter"/>
                <a:cs typeface="Inter"/>
                <a:sym typeface="Inter"/>
              </a:rPr>
              <a:t>orem ipsum dolor sit amet, consectetur adipiscing elit. In facilisis dolor sit amet ex sagittis, non blandit lorem fringilla. In aliquam quam risus, eu ultrices magna euismod vel. In at facilisis nulla. Integer a enim eget purus vehicula tincidunt sit amet et libero.</a:t>
            </a:r>
          </a:p>
        </p:txBody>
      </p:sp>
      <p:sp>
        <p:nvSpPr>
          <p:cNvPr name="AutoShape 29" id="29"/>
          <p:cNvSpPr/>
          <p:nvPr/>
        </p:nvSpPr>
        <p:spPr>
          <a:xfrm>
            <a:off x="10242874" y="1028700"/>
            <a:ext cx="0" cy="8229600"/>
          </a:xfrm>
          <a:prstGeom prst="line">
            <a:avLst/>
          </a:prstGeom>
          <a:ln cap="flat" w="19050">
            <a:solidFill>
              <a:srgbClr val="A0F8EE"/>
            </a:solidFill>
            <a:prstDash val="solid"/>
            <a:headEnd type="none" len="sm" w="sm"/>
            <a:tailEnd type="none" len="sm" w="sm"/>
          </a:ln>
        </p:spPr>
      </p:sp>
      <p:sp>
        <p:nvSpPr>
          <p:cNvPr name="AutoShape 30" id="30"/>
          <p:cNvSpPr/>
          <p:nvPr/>
        </p:nvSpPr>
        <p:spPr>
          <a:xfrm flipH="true">
            <a:off x="10242874" y="6502129"/>
            <a:ext cx="7016426" cy="0"/>
          </a:xfrm>
          <a:prstGeom prst="line">
            <a:avLst/>
          </a:prstGeom>
          <a:ln cap="flat" w="19050">
            <a:solidFill>
              <a:srgbClr val="A0F8EE"/>
            </a:solidFill>
            <a:prstDash val="solid"/>
            <a:headEnd type="none" len="sm" w="sm"/>
            <a:tailEnd type="none" len="sm" w="sm"/>
          </a:ln>
        </p:spPr>
      </p:sp>
      <p:sp>
        <p:nvSpPr>
          <p:cNvPr name="Freeform 31" id="31"/>
          <p:cNvSpPr/>
          <p:nvPr/>
        </p:nvSpPr>
        <p:spPr>
          <a:xfrm flipH="false" flipV="false" rot="0">
            <a:off x="12181898" y="1631592"/>
            <a:ext cx="4227297" cy="4234997"/>
          </a:xfrm>
          <a:custGeom>
            <a:avLst/>
            <a:gdLst/>
            <a:ahLst/>
            <a:cxnLst/>
            <a:rect r="r" b="b" t="t" l="l"/>
            <a:pathLst>
              <a:path h="4234997" w="4227297">
                <a:moveTo>
                  <a:pt x="0" y="0"/>
                </a:moveTo>
                <a:lnTo>
                  <a:pt x="4227297" y="0"/>
                </a:lnTo>
                <a:lnTo>
                  <a:pt x="4227297" y="4234997"/>
                </a:lnTo>
                <a:lnTo>
                  <a:pt x="0" y="42349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2" id="32"/>
          <p:cNvGrpSpPr/>
          <p:nvPr/>
        </p:nvGrpSpPr>
        <p:grpSpPr>
          <a:xfrm rot="0">
            <a:off x="10894162" y="7079656"/>
            <a:ext cx="5911928" cy="687931"/>
            <a:chOff x="0" y="0"/>
            <a:chExt cx="1557051" cy="181183"/>
          </a:xfrm>
        </p:grpSpPr>
        <p:sp>
          <p:nvSpPr>
            <p:cNvPr name="Freeform 33" id="33"/>
            <p:cNvSpPr/>
            <p:nvPr/>
          </p:nvSpPr>
          <p:spPr>
            <a:xfrm flipH="false" flipV="false" rot="0">
              <a:off x="0" y="0"/>
              <a:ext cx="1557051" cy="181183"/>
            </a:xfrm>
            <a:custGeom>
              <a:avLst/>
              <a:gdLst/>
              <a:ahLst/>
              <a:cxnLst/>
              <a:rect r="r" b="b" t="t" l="l"/>
              <a:pathLst>
                <a:path h="181183" w="1557051">
                  <a:moveTo>
                    <a:pt x="90592" y="0"/>
                  </a:moveTo>
                  <a:lnTo>
                    <a:pt x="1466459" y="0"/>
                  </a:lnTo>
                  <a:cubicBezTo>
                    <a:pt x="1490486" y="0"/>
                    <a:pt x="1513528" y="9544"/>
                    <a:pt x="1530517" y="26534"/>
                  </a:cubicBezTo>
                  <a:cubicBezTo>
                    <a:pt x="1547507" y="43523"/>
                    <a:pt x="1557051" y="66565"/>
                    <a:pt x="1557051" y="90592"/>
                  </a:cubicBezTo>
                  <a:lnTo>
                    <a:pt x="1557051" y="90592"/>
                  </a:lnTo>
                  <a:cubicBezTo>
                    <a:pt x="1557051" y="114618"/>
                    <a:pt x="1547507" y="137661"/>
                    <a:pt x="1530517" y="154650"/>
                  </a:cubicBezTo>
                  <a:cubicBezTo>
                    <a:pt x="1513528" y="171639"/>
                    <a:pt x="1490486" y="181183"/>
                    <a:pt x="1466459"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34" id="34"/>
            <p:cNvSpPr txBox="true"/>
            <p:nvPr/>
          </p:nvSpPr>
          <p:spPr>
            <a:xfrm>
              <a:off x="0" y="-38100"/>
              <a:ext cx="1557051"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SHOR</a:t>
              </a:r>
              <a:r>
                <a:rPr lang="en-US" b="true" sz="1899">
                  <a:solidFill>
                    <a:srgbClr val="272727"/>
                  </a:solidFill>
                  <a:latin typeface="Inter Bold"/>
                  <a:ea typeface="Inter Bold"/>
                  <a:cs typeface="Inter Bold"/>
                  <a:sym typeface="Inter Bold"/>
                </a:rPr>
                <a:t>T VIDEOS PERFORM BEST ON SOCIAL</a:t>
              </a:r>
            </a:p>
          </p:txBody>
        </p:sp>
      </p:grpSp>
      <p:grpSp>
        <p:nvGrpSpPr>
          <p:cNvPr name="Group 35" id="35"/>
          <p:cNvGrpSpPr/>
          <p:nvPr/>
        </p:nvGrpSpPr>
        <p:grpSpPr>
          <a:xfrm rot="0">
            <a:off x="10709872" y="8029412"/>
            <a:ext cx="6096218" cy="687931"/>
            <a:chOff x="0" y="0"/>
            <a:chExt cx="1605588" cy="181183"/>
          </a:xfrm>
        </p:grpSpPr>
        <p:sp>
          <p:nvSpPr>
            <p:cNvPr name="Freeform 36" id="36"/>
            <p:cNvSpPr/>
            <p:nvPr/>
          </p:nvSpPr>
          <p:spPr>
            <a:xfrm flipH="false" flipV="false" rot="0">
              <a:off x="0" y="0"/>
              <a:ext cx="1605588" cy="181183"/>
            </a:xfrm>
            <a:custGeom>
              <a:avLst/>
              <a:gdLst/>
              <a:ahLst/>
              <a:cxnLst/>
              <a:rect r="r" b="b" t="t" l="l"/>
              <a:pathLst>
                <a:path h="181183" w="1605588">
                  <a:moveTo>
                    <a:pt x="90592" y="0"/>
                  </a:moveTo>
                  <a:lnTo>
                    <a:pt x="1514996" y="0"/>
                  </a:lnTo>
                  <a:cubicBezTo>
                    <a:pt x="1539023" y="0"/>
                    <a:pt x="1562065" y="9544"/>
                    <a:pt x="1579055" y="26534"/>
                  </a:cubicBezTo>
                  <a:cubicBezTo>
                    <a:pt x="1596044" y="43523"/>
                    <a:pt x="1605588" y="66565"/>
                    <a:pt x="1605588" y="90592"/>
                  </a:cubicBezTo>
                  <a:lnTo>
                    <a:pt x="1605588" y="90592"/>
                  </a:lnTo>
                  <a:cubicBezTo>
                    <a:pt x="1605588" y="114618"/>
                    <a:pt x="1596044" y="137661"/>
                    <a:pt x="1579055" y="154650"/>
                  </a:cubicBezTo>
                  <a:cubicBezTo>
                    <a:pt x="1562065" y="171639"/>
                    <a:pt x="1539023" y="181183"/>
                    <a:pt x="1514996" y="181183"/>
                  </a:cubicBezTo>
                  <a:lnTo>
                    <a:pt x="90592" y="181183"/>
                  </a:lnTo>
                  <a:cubicBezTo>
                    <a:pt x="66565" y="181183"/>
                    <a:pt x="43523" y="171639"/>
                    <a:pt x="26534" y="154650"/>
                  </a:cubicBezTo>
                  <a:cubicBezTo>
                    <a:pt x="9544" y="137661"/>
                    <a:pt x="0" y="114618"/>
                    <a:pt x="0" y="90592"/>
                  </a:cubicBezTo>
                  <a:lnTo>
                    <a:pt x="0" y="90592"/>
                  </a:lnTo>
                  <a:cubicBezTo>
                    <a:pt x="0" y="66565"/>
                    <a:pt x="9544" y="43523"/>
                    <a:pt x="26534" y="26534"/>
                  </a:cubicBezTo>
                  <a:cubicBezTo>
                    <a:pt x="43523" y="9544"/>
                    <a:pt x="66565" y="0"/>
                    <a:pt x="90592" y="0"/>
                  </a:cubicBezTo>
                  <a:close/>
                </a:path>
              </a:pathLst>
            </a:custGeom>
            <a:solidFill>
              <a:srgbClr val="A0F8EE"/>
            </a:solidFill>
            <a:ln w="38100" cap="rnd">
              <a:solidFill>
                <a:srgbClr val="000000"/>
              </a:solidFill>
              <a:prstDash val="solid"/>
              <a:round/>
            </a:ln>
          </p:spPr>
        </p:sp>
        <p:sp>
          <p:nvSpPr>
            <p:cNvPr name="TextBox 37" id="37"/>
            <p:cNvSpPr txBox="true"/>
            <p:nvPr/>
          </p:nvSpPr>
          <p:spPr>
            <a:xfrm>
              <a:off x="0" y="-38100"/>
              <a:ext cx="1605588" cy="219283"/>
            </a:xfrm>
            <a:prstGeom prst="rect">
              <a:avLst/>
            </a:prstGeom>
          </p:spPr>
          <p:txBody>
            <a:bodyPr anchor="ctr" rtlCol="false" tIns="50800" lIns="50800" bIns="50800" rIns="50800"/>
            <a:lstStyle/>
            <a:p>
              <a:pPr algn="ctr">
                <a:lnSpc>
                  <a:spcPts val="2659"/>
                </a:lnSpc>
                <a:spcBef>
                  <a:spcPct val="0"/>
                </a:spcBef>
              </a:pPr>
              <a:r>
                <a:rPr lang="en-US" b="true" sz="1899">
                  <a:solidFill>
                    <a:srgbClr val="272727"/>
                  </a:solidFill>
                  <a:latin typeface="Inter Bold"/>
                  <a:ea typeface="Inter Bold"/>
                  <a:cs typeface="Inter Bold"/>
                  <a:sym typeface="Inter Bold"/>
                </a:rPr>
                <a:t>MOS</a:t>
              </a:r>
              <a:r>
                <a:rPr lang="en-US" b="true" sz="1899">
                  <a:solidFill>
                    <a:srgbClr val="272727"/>
                  </a:solidFill>
                  <a:latin typeface="Inter Bold"/>
                  <a:ea typeface="Inter Bold"/>
                  <a:cs typeface="Inter Bold"/>
                  <a:sym typeface="Inter Bold"/>
                </a:rPr>
                <a:t>T TRAFFIC COMES FROM MOBILE USERS</a:t>
              </a:r>
            </a:p>
          </p:txBody>
        </p:sp>
      </p:grpSp>
      <p:grpSp>
        <p:nvGrpSpPr>
          <p:cNvPr name="Group 38" id="38"/>
          <p:cNvGrpSpPr/>
          <p:nvPr/>
        </p:nvGrpSpPr>
        <p:grpSpPr>
          <a:xfrm rot="0">
            <a:off x="10560686" y="7079656"/>
            <a:ext cx="666952" cy="666952"/>
            <a:chOff x="0" y="0"/>
            <a:chExt cx="889270" cy="889270"/>
          </a:xfrm>
        </p:grpSpPr>
        <p:grpSp>
          <p:nvGrpSpPr>
            <p:cNvPr name="Group 39" id="39"/>
            <p:cNvGrpSpPr/>
            <p:nvPr/>
          </p:nvGrpSpPr>
          <p:grpSpPr>
            <a:xfrm rot="0">
              <a:off x="0" y="0"/>
              <a:ext cx="889270" cy="889270"/>
              <a:chOff x="0" y="0"/>
              <a:chExt cx="812800" cy="812800"/>
            </a:xfrm>
          </p:grpSpPr>
          <p:sp>
            <p:nvSpPr>
              <p:cNvPr name="Freeform 40" id="4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41" id="41"/>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42" id="42"/>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43" id="43"/>
          <p:cNvGrpSpPr/>
          <p:nvPr/>
        </p:nvGrpSpPr>
        <p:grpSpPr>
          <a:xfrm rot="0">
            <a:off x="10376396" y="8029412"/>
            <a:ext cx="666952" cy="666952"/>
            <a:chOff x="0" y="0"/>
            <a:chExt cx="889270" cy="889270"/>
          </a:xfrm>
        </p:grpSpPr>
        <p:grpSp>
          <p:nvGrpSpPr>
            <p:cNvPr name="Group 44" id="44"/>
            <p:cNvGrpSpPr/>
            <p:nvPr/>
          </p:nvGrpSpPr>
          <p:grpSpPr>
            <a:xfrm rot="0">
              <a:off x="0" y="0"/>
              <a:ext cx="889270" cy="889270"/>
              <a:chOff x="0" y="0"/>
              <a:chExt cx="812800" cy="812800"/>
            </a:xfrm>
          </p:grpSpPr>
          <p:sp>
            <p:nvSpPr>
              <p:cNvPr name="Freeform 45" id="4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46" id="4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47" id="47"/>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48" id="48"/>
          <p:cNvGrpSpPr/>
          <p:nvPr/>
        </p:nvGrpSpPr>
        <p:grpSpPr>
          <a:xfrm rot="0">
            <a:off x="16472614" y="7079656"/>
            <a:ext cx="666952" cy="666952"/>
            <a:chOff x="0" y="0"/>
            <a:chExt cx="889270" cy="889270"/>
          </a:xfrm>
        </p:grpSpPr>
        <p:grpSp>
          <p:nvGrpSpPr>
            <p:cNvPr name="Group 49" id="49"/>
            <p:cNvGrpSpPr/>
            <p:nvPr/>
          </p:nvGrpSpPr>
          <p:grpSpPr>
            <a:xfrm rot="0">
              <a:off x="0" y="0"/>
              <a:ext cx="889270" cy="889270"/>
              <a:chOff x="0" y="0"/>
              <a:chExt cx="812800" cy="812800"/>
            </a:xfrm>
          </p:grpSpPr>
          <p:sp>
            <p:nvSpPr>
              <p:cNvPr name="Freeform 50" id="50"/>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51" id="51"/>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52" id="52"/>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3" id="53"/>
          <p:cNvGrpSpPr/>
          <p:nvPr/>
        </p:nvGrpSpPr>
        <p:grpSpPr>
          <a:xfrm rot="0">
            <a:off x="16472614" y="8039901"/>
            <a:ext cx="666952" cy="666952"/>
            <a:chOff x="0" y="0"/>
            <a:chExt cx="889270" cy="889270"/>
          </a:xfrm>
        </p:grpSpPr>
        <p:grpSp>
          <p:nvGrpSpPr>
            <p:cNvPr name="Group 54" id="54"/>
            <p:cNvGrpSpPr/>
            <p:nvPr/>
          </p:nvGrpSpPr>
          <p:grpSpPr>
            <a:xfrm rot="0">
              <a:off x="0" y="0"/>
              <a:ext cx="889270" cy="889270"/>
              <a:chOff x="0" y="0"/>
              <a:chExt cx="812800" cy="812800"/>
            </a:xfrm>
          </p:grpSpPr>
          <p:sp>
            <p:nvSpPr>
              <p:cNvPr name="Freeform 55" id="55"/>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FFB0F1"/>
              </a:solidFill>
              <a:ln w="38100" cap="rnd">
                <a:solidFill>
                  <a:srgbClr val="272727"/>
                </a:solidFill>
                <a:prstDash val="solid"/>
                <a:round/>
              </a:ln>
            </p:spPr>
          </p:sp>
          <p:sp>
            <p:nvSpPr>
              <p:cNvPr name="TextBox 56" id="56"/>
              <p:cNvSpPr txBox="true"/>
              <p:nvPr/>
            </p:nvSpPr>
            <p:spPr>
              <a:xfrm>
                <a:off x="127000" y="88900"/>
                <a:ext cx="558800" cy="596900"/>
              </a:xfrm>
              <a:prstGeom prst="rect">
                <a:avLst/>
              </a:prstGeom>
            </p:spPr>
            <p:txBody>
              <a:bodyPr anchor="ctr" rtlCol="false" tIns="39889" lIns="39889" bIns="39889" rIns="39889"/>
              <a:lstStyle/>
              <a:p>
                <a:pPr algn="ctr">
                  <a:lnSpc>
                    <a:spcPts val="2659"/>
                  </a:lnSpc>
                </a:pPr>
              </a:p>
            </p:txBody>
          </p:sp>
        </p:grpSp>
        <p:sp>
          <p:nvSpPr>
            <p:cNvPr name="Freeform 57" id="57"/>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272727"/>
            </a:solidFill>
            <a:ln w="19050" cap="sq">
              <a:solidFill>
                <a:srgbClr val="A0F8EE"/>
              </a:solidFill>
              <a:prstDash val="solid"/>
              <a:miter/>
            </a:ln>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238492" y="2847551"/>
            <a:ext cx="13811016" cy="5980426"/>
          </a:xfrm>
          <a:prstGeom prst="rect">
            <a:avLst/>
          </a:prstGeom>
        </p:spPr>
        <p:txBody>
          <a:bodyPr anchor="t" rtlCol="false" tIns="0" lIns="0" bIns="0" rIns="0">
            <a:spAutoFit/>
          </a:bodyPr>
          <a:lstStyle/>
          <a:p>
            <a:pPr algn="ctr">
              <a:lnSpc>
                <a:spcPts val="20999"/>
              </a:lnSpc>
            </a:pPr>
            <a:r>
              <a:rPr lang="en-US" b="true" sz="23332" spc="-979">
                <a:solidFill>
                  <a:srgbClr val="A0F8EE"/>
                </a:solidFill>
                <a:latin typeface="ITC Avant Garde Gothic Bold"/>
                <a:ea typeface="ITC Avant Garde Gothic Bold"/>
                <a:cs typeface="ITC Avant Garde Gothic Bold"/>
                <a:sym typeface="ITC Avant Garde Gothic Bold"/>
              </a:rPr>
              <a:t>THANK</a:t>
            </a:r>
          </a:p>
          <a:p>
            <a:pPr algn="ctr">
              <a:lnSpc>
                <a:spcPts val="20999"/>
              </a:lnSpc>
            </a:pPr>
            <a:r>
              <a:rPr lang="en-US" b="true" sz="23332" spc="-979">
                <a:solidFill>
                  <a:srgbClr val="A0F8EE"/>
                </a:solidFill>
                <a:latin typeface="ITC Avant Garde Gothic Bold"/>
                <a:ea typeface="ITC Avant Garde Gothic Bold"/>
                <a:cs typeface="ITC Avant Garde Gothic Bold"/>
                <a:sym typeface="ITC Avant Garde Gothic Bold"/>
              </a:rPr>
              <a:t>YOU</a:t>
            </a:r>
          </a:p>
        </p:txBody>
      </p:sp>
      <p:grpSp>
        <p:nvGrpSpPr>
          <p:cNvPr name="Group 6" id="6"/>
          <p:cNvGrpSpPr/>
          <p:nvPr/>
        </p:nvGrpSpPr>
        <p:grpSpPr>
          <a:xfrm rot="0">
            <a:off x="6226400" y="4455569"/>
            <a:ext cx="5835200" cy="1375862"/>
            <a:chOff x="0" y="0"/>
            <a:chExt cx="1536843" cy="362367"/>
          </a:xfrm>
        </p:grpSpPr>
        <p:sp>
          <p:nvSpPr>
            <p:cNvPr name="Freeform 7" id="7"/>
            <p:cNvSpPr/>
            <p:nvPr/>
          </p:nvSpPr>
          <p:spPr>
            <a:xfrm flipH="false" flipV="false" rot="0">
              <a:off x="0" y="0"/>
              <a:ext cx="1536843" cy="362367"/>
            </a:xfrm>
            <a:custGeom>
              <a:avLst/>
              <a:gdLst/>
              <a:ahLst/>
              <a:cxnLst/>
              <a:rect r="r" b="b" t="t" l="l"/>
              <a:pathLst>
                <a:path h="362367" w="1536843">
                  <a:moveTo>
                    <a:pt x="132676" y="0"/>
                  </a:moveTo>
                  <a:lnTo>
                    <a:pt x="1404167" y="0"/>
                  </a:lnTo>
                  <a:cubicBezTo>
                    <a:pt x="1477442" y="0"/>
                    <a:pt x="1536843" y="59401"/>
                    <a:pt x="1536843" y="132676"/>
                  </a:cubicBezTo>
                  <a:lnTo>
                    <a:pt x="1536843" y="229691"/>
                  </a:lnTo>
                  <a:cubicBezTo>
                    <a:pt x="1536843" y="302966"/>
                    <a:pt x="1477442" y="362367"/>
                    <a:pt x="1404167" y="362367"/>
                  </a:cubicBezTo>
                  <a:lnTo>
                    <a:pt x="132676" y="362367"/>
                  </a:lnTo>
                  <a:cubicBezTo>
                    <a:pt x="59401" y="362367"/>
                    <a:pt x="0" y="302966"/>
                    <a:pt x="0" y="229691"/>
                  </a:cubicBezTo>
                  <a:lnTo>
                    <a:pt x="0" y="132676"/>
                  </a:lnTo>
                  <a:cubicBezTo>
                    <a:pt x="0" y="59401"/>
                    <a:pt x="59401" y="0"/>
                    <a:pt x="132676" y="0"/>
                  </a:cubicBezTo>
                  <a:close/>
                </a:path>
              </a:pathLst>
            </a:custGeom>
            <a:solidFill>
              <a:srgbClr val="FFB0F1"/>
            </a:solidFill>
            <a:ln w="38100" cap="rnd">
              <a:solidFill>
                <a:srgbClr val="000000"/>
              </a:solidFill>
              <a:prstDash val="solid"/>
              <a:round/>
            </a:ln>
          </p:spPr>
        </p:sp>
        <p:sp>
          <p:nvSpPr>
            <p:cNvPr name="TextBox 8" id="8"/>
            <p:cNvSpPr txBox="true"/>
            <p:nvPr/>
          </p:nvSpPr>
          <p:spPr>
            <a:xfrm>
              <a:off x="0" y="-85725"/>
              <a:ext cx="1536843" cy="448092"/>
            </a:xfrm>
            <a:prstGeom prst="rect">
              <a:avLst/>
            </a:prstGeom>
          </p:spPr>
          <p:txBody>
            <a:bodyPr anchor="ctr" rtlCol="false" tIns="50800" lIns="50800" bIns="50800" rIns="50800"/>
            <a:lstStyle/>
            <a:p>
              <a:pPr algn="ctr">
                <a:lnSpc>
                  <a:spcPts val="6299"/>
                </a:lnSpc>
                <a:spcBef>
                  <a:spcPct val="0"/>
                </a:spcBef>
              </a:pPr>
              <a:r>
                <a:rPr lang="en-US" b="true" sz="4499">
                  <a:solidFill>
                    <a:srgbClr val="272727"/>
                  </a:solidFill>
                  <a:latin typeface="Inter Bold"/>
                  <a:ea typeface="Inter Bold"/>
                  <a:cs typeface="Inter Bold"/>
                  <a:sym typeface="Inter Bold"/>
                </a:rPr>
                <a:t>FOR ATTENTION</a:t>
              </a:r>
            </a:p>
          </p:txBody>
        </p:sp>
      </p:grpSp>
      <p:grpSp>
        <p:nvGrpSpPr>
          <p:cNvPr name="Group 9" id="9"/>
          <p:cNvGrpSpPr/>
          <p:nvPr/>
        </p:nvGrpSpPr>
        <p:grpSpPr>
          <a:xfrm rot="0">
            <a:off x="5892924" y="4810024"/>
            <a:ext cx="666952" cy="666952"/>
            <a:chOff x="0" y="0"/>
            <a:chExt cx="889270" cy="889270"/>
          </a:xfrm>
        </p:grpSpPr>
        <p:grpSp>
          <p:nvGrpSpPr>
            <p:cNvPr name="Group 10" id="10"/>
            <p:cNvGrpSpPr/>
            <p:nvPr/>
          </p:nvGrpSpPr>
          <p:grpSpPr>
            <a:xfrm rot="0">
              <a:off x="0" y="0"/>
              <a:ext cx="889270" cy="889270"/>
              <a:chOff x="0" y="0"/>
              <a:chExt cx="812800" cy="812800"/>
            </a:xfrm>
          </p:grpSpPr>
          <p:sp>
            <p:nvSpPr>
              <p:cNvPr name="Freeform 11" id="1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2" id="12"/>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4" id="14"/>
          <p:cNvGrpSpPr/>
          <p:nvPr/>
        </p:nvGrpSpPr>
        <p:grpSpPr>
          <a:xfrm rot="0">
            <a:off x="663949" y="663949"/>
            <a:ext cx="729502" cy="729502"/>
            <a:chOff x="0" y="0"/>
            <a:chExt cx="972669" cy="972669"/>
          </a:xfrm>
        </p:grpSpPr>
        <p:grpSp>
          <p:nvGrpSpPr>
            <p:cNvPr name="Group 15" id="15"/>
            <p:cNvGrpSpPr/>
            <p:nvPr/>
          </p:nvGrpSpPr>
          <p:grpSpPr>
            <a:xfrm rot="0">
              <a:off x="0" y="0"/>
              <a:ext cx="972669" cy="972669"/>
              <a:chOff x="0" y="0"/>
              <a:chExt cx="812800" cy="812800"/>
            </a:xfrm>
          </p:grpSpPr>
          <p:sp>
            <p:nvSpPr>
              <p:cNvPr name="Freeform 16" id="1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17" id="17"/>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9" id="19"/>
          <p:cNvGrpSpPr/>
          <p:nvPr/>
        </p:nvGrpSpPr>
        <p:grpSpPr>
          <a:xfrm rot="0">
            <a:off x="16894549" y="8827977"/>
            <a:ext cx="729502" cy="729502"/>
            <a:chOff x="0" y="0"/>
            <a:chExt cx="972669" cy="972669"/>
          </a:xfrm>
        </p:grpSpPr>
        <p:grpSp>
          <p:nvGrpSpPr>
            <p:cNvPr name="Group 20" id="20"/>
            <p:cNvGrpSpPr/>
            <p:nvPr/>
          </p:nvGrpSpPr>
          <p:grpSpPr>
            <a:xfrm rot="0">
              <a:off x="0" y="0"/>
              <a:ext cx="972669" cy="972669"/>
              <a:chOff x="0" y="0"/>
              <a:chExt cx="812800" cy="812800"/>
            </a:xfrm>
          </p:grpSpPr>
          <p:sp>
            <p:nvSpPr>
              <p:cNvPr name="Freeform 21" id="21"/>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2" id="22"/>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272591" y="275311"/>
              <a:ext cx="427488" cy="422047"/>
            </a:xfrm>
            <a:custGeom>
              <a:avLst/>
              <a:gdLst/>
              <a:ahLst/>
              <a:cxnLst/>
              <a:rect r="r" b="b" t="t" l="l"/>
              <a:pathLst>
                <a:path h="422047" w="427488">
                  <a:moveTo>
                    <a:pt x="0" y="0"/>
                  </a:moveTo>
                  <a:lnTo>
                    <a:pt x="427488" y="0"/>
                  </a:lnTo>
                  <a:lnTo>
                    <a:pt x="427488" y="422047"/>
                  </a:lnTo>
                  <a:lnTo>
                    <a:pt x="0" y="422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4" id="24"/>
          <p:cNvGrpSpPr/>
          <p:nvPr/>
        </p:nvGrpSpPr>
        <p:grpSpPr>
          <a:xfrm rot="0">
            <a:off x="11728124" y="4810024"/>
            <a:ext cx="666952" cy="666952"/>
            <a:chOff x="0" y="0"/>
            <a:chExt cx="889270" cy="889270"/>
          </a:xfrm>
        </p:grpSpPr>
        <p:grpSp>
          <p:nvGrpSpPr>
            <p:cNvPr name="Group 25" id="25"/>
            <p:cNvGrpSpPr/>
            <p:nvPr/>
          </p:nvGrpSpPr>
          <p:grpSpPr>
            <a:xfrm rot="0">
              <a:off x="0" y="0"/>
              <a:ext cx="889270" cy="889270"/>
              <a:chOff x="0" y="0"/>
              <a:chExt cx="812800" cy="812800"/>
            </a:xfrm>
          </p:grpSpPr>
          <p:sp>
            <p:nvSpPr>
              <p:cNvPr name="Freeform 26" id="26"/>
              <p:cNvSpPr/>
              <p:nvPr/>
            </p:nvSpPr>
            <p:spPr>
              <a:xfrm flipH="false" flipV="false" rot="0">
                <a:off x="35531" y="35531"/>
                <a:ext cx="741739" cy="741739"/>
              </a:xfrm>
              <a:custGeom>
                <a:avLst/>
                <a:gdLst/>
                <a:ahLst/>
                <a:cxnLst/>
                <a:rect r="r" b="b" t="t" l="l"/>
                <a:pathLst>
                  <a:path h="741739" w="741739">
                    <a:moveTo>
                      <a:pt x="410313" y="20462"/>
                    </a:moveTo>
                    <a:lnTo>
                      <a:pt x="410314" y="20462"/>
                    </a:lnTo>
                    <a:cubicBezTo>
                      <a:pt x="433157" y="52889"/>
                      <a:pt x="475917" y="64347"/>
                      <a:pt x="511913" y="47686"/>
                    </a:cubicBezTo>
                    <a:lnTo>
                      <a:pt x="511913" y="47686"/>
                    </a:lnTo>
                    <a:cubicBezTo>
                      <a:pt x="526155" y="41094"/>
                      <a:pt x="542713" y="41840"/>
                      <a:pt x="556304" y="49687"/>
                    </a:cubicBezTo>
                    <a:cubicBezTo>
                      <a:pt x="569895" y="57533"/>
                      <a:pt x="578820" y="71500"/>
                      <a:pt x="580232" y="87129"/>
                    </a:cubicBezTo>
                    <a:lnTo>
                      <a:pt x="580232" y="87129"/>
                    </a:lnTo>
                    <a:cubicBezTo>
                      <a:pt x="583802" y="126634"/>
                      <a:pt x="615104" y="157936"/>
                      <a:pt x="654609" y="161506"/>
                    </a:cubicBezTo>
                    <a:lnTo>
                      <a:pt x="654609" y="161506"/>
                    </a:lnTo>
                    <a:cubicBezTo>
                      <a:pt x="670238" y="162918"/>
                      <a:pt x="684205" y="171843"/>
                      <a:pt x="692051" y="185434"/>
                    </a:cubicBezTo>
                    <a:cubicBezTo>
                      <a:pt x="699898" y="199025"/>
                      <a:pt x="700644" y="215583"/>
                      <a:pt x="694052" y="229825"/>
                    </a:cubicBezTo>
                    <a:lnTo>
                      <a:pt x="694052" y="229825"/>
                    </a:lnTo>
                    <a:cubicBezTo>
                      <a:pt x="677391" y="265821"/>
                      <a:pt x="688849" y="308581"/>
                      <a:pt x="721276" y="331424"/>
                    </a:cubicBezTo>
                    <a:lnTo>
                      <a:pt x="721276" y="331425"/>
                    </a:lnTo>
                    <a:cubicBezTo>
                      <a:pt x="734106" y="340463"/>
                      <a:pt x="741738" y="355176"/>
                      <a:pt x="741738" y="370869"/>
                    </a:cubicBezTo>
                    <a:cubicBezTo>
                      <a:pt x="741738" y="386562"/>
                      <a:pt x="734106" y="401275"/>
                      <a:pt x="721276" y="410313"/>
                    </a:cubicBezTo>
                    <a:lnTo>
                      <a:pt x="721276" y="410314"/>
                    </a:lnTo>
                    <a:cubicBezTo>
                      <a:pt x="688849" y="433157"/>
                      <a:pt x="677391" y="475917"/>
                      <a:pt x="694052" y="511913"/>
                    </a:cubicBezTo>
                    <a:lnTo>
                      <a:pt x="694052" y="511913"/>
                    </a:lnTo>
                    <a:cubicBezTo>
                      <a:pt x="700644" y="526155"/>
                      <a:pt x="699898" y="542713"/>
                      <a:pt x="692051" y="556304"/>
                    </a:cubicBezTo>
                    <a:cubicBezTo>
                      <a:pt x="684205" y="569895"/>
                      <a:pt x="670238" y="578820"/>
                      <a:pt x="654609" y="580232"/>
                    </a:cubicBezTo>
                    <a:lnTo>
                      <a:pt x="654609" y="580232"/>
                    </a:lnTo>
                    <a:cubicBezTo>
                      <a:pt x="615104" y="583802"/>
                      <a:pt x="583802" y="615104"/>
                      <a:pt x="580232" y="654609"/>
                    </a:cubicBezTo>
                    <a:lnTo>
                      <a:pt x="580232" y="654609"/>
                    </a:lnTo>
                    <a:cubicBezTo>
                      <a:pt x="578820" y="670238"/>
                      <a:pt x="569895" y="684205"/>
                      <a:pt x="556304" y="692051"/>
                    </a:cubicBezTo>
                    <a:cubicBezTo>
                      <a:pt x="542713" y="699898"/>
                      <a:pt x="526155" y="700644"/>
                      <a:pt x="511913" y="694052"/>
                    </a:cubicBezTo>
                    <a:lnTo>
                      <a:pt x="511913" y="694052"/>
                    </a:lnTo>
                    <a:cubicBezTo>
                      <a:pt x="475917" y="677391"/>
                      <a:pt x="433157" y="688849"/>
                      <a:pt x="410314" y="721276"/>
                    </a:cubicBezTo>
                    <a:lnTo>
                      <a:pt x="410313" y="721276"/>
                    </a:lnTo>
                    <a:cubicBezTo>
                      <a:pt x="401275" y="734106"/>
                      <a:pt x="386562" y="741738"/>
                      <a:pt x="370869" y="741738"/>
                    </a:cubicBezTo>
                    <a:cubicBezTo>
                      <a:pt x="355176" y="741738"/>
                      <a:pt x="340463" y="734106"/>
                      <a:pt x="331425" y="721276"/>
                    </a:cubicBezTo>
                    <a:lnTo>
                      <a:pt x="331424" y="721276"/>
                    </a:lnTo>
                    <a:cubicBezTo>
                      <a:pt x="308581" y="688849"/>
                      <a:pt x="265821" y="677391"/>
                      <a:pt x="229825" y="694052"/>
                    </a:cubicBezTo>
                    <a:lnTo>
                      <a:pt x="229825" y="694052"/>
                    </a:lnTo>
                    <a:cubicBezTo>
                      <a:pt x="215583" y="700644"/>
                      <a:pt x="199025" y="699898"/>
                      <a:pt x="185434" y="692051"/>
                    </a:cubicBezTo>
                    <a:cubicBezTo>
                      <a:pt x="171843" y="684205"/>
                      <a:pt x="162918" y="670238"/>
                      <a:pt x="161506" y="654609"/>
                    </a:cubicBezTo>
                    <a:lnTo>
                      <a:pt x="161506" y="654609"/>
                    </a:lnTo>
                    <a:cubicBezTo>
                      <a:pt x="157936" y="615104"/>
                      <a:pt x="126634" y="583802"/>
                      <a:pt x="87129" y="580232"/>
                    </a:cubicBezTo>
                    <a:lnTo>
                      <a:pt x="87129" y="580232"/>
                    </a:lnTo>
                    <a:cubicBezTo>
                      <a:pt x="71500" y="578820"/>
                      <a:pt x="57533" y="569895"/>
                      <a:pt x="49687" y="556304"/>
                    </a:cubicBezTo>
                    <a:cubicBezTo>
                      <a:pt x="41840" y="542713"/>
                      <a:pt x="41094" y="526155"/>
                      <a:pt x="47686" y="511913"/>
                    </a:cubicBezTo>
                    <a:lnTo>
                      <a:pt x="47686" y="511913"/>
                    </a:lnTo>
                    <a:cubicBezTo>
                      <a:pt x="64347" y="475917"/>
                      <a:pt x="52889" y="433157"/>
                      <a:pt x="20462" y="410314"/>
                    </a:cubicBezTo>
                    <a:lnTo>
                      <a:pt x="20462" y="410313"/>
                    </a:lnTo>
                    <a:cubicBezTo>
                      <a:pt x="7632" y="401275"/>
                      <a:pt x="0" y="386562"/>
                      <a:pt x="0" y="370869"/>
                    </a:cubicBezTo>
                    <a:cubicBezTo>
                      <a:pt x="0" y="355176"/>
                      <a:pt x="7632" y="340463"/>
                      <a:pt x="20462" y="331425"/>
                    </a:cubicBezTo>
                    <a:lnTo>
                      <a:pt x="20462" y="331424"/>
                    </a:lnTo>
                    <a:cubicBezTo>
                      <a:pt x="52889" y="308581"/>
                      <a:pt x="64347" y="265821"/>
                      <a:pt x="47686" y="229825"/>
                    </a:cubicBezTo>
                    <a:lnTo>
                      <a:pt x="47686" y="229825"/>
                    </a:lnTo>
                    <a:cubicBezTo>
                      <a:pt x="41094" y="215583"/>
                      <a:pt x="41840" y="199025"/>
                      <a:pt x="49687" y="185434"/>
                    </a:cubicBezTo>
                    <a:cubicBezTo>
                      <a:pt x="57533" y="171843"/>
                      <a:pt x="71500" y="162918"/>
                      <a:pt x="87129" y="161506"/>
                    </a:cubicBezTo>
                    <a:lnTo>
                      <a:pt x="87129" y="161506"/>
                    </a:lnTo>
                    <a:cubicBezTo>
                      <a:pt x="126634" y="157936"/>
                      <a:pt x="157936" y="126634"/>
                      <a:pt x="161506" y="87129"/>
                    </a:cubicBezTo>
                    <a:lnTo>
                      <a:pt x="161506" y="87129"/>
                    </a:lnTo>
                    <a:cubicBezTo>
                      <a:pt x="162918" y="71500"/>
                      <a:pt x="171843" y="57533"/>
                      <a:pt x="185434" y="49687"/>
                    </a:cubicBezTo>
                    <a:cubicBezTo>
                      <a:pt x="199025" y="41840"/>
                      <a:pt x="215583" y="41094"/>
                      <a:pt x="229825" y="47686"/>
                    </a:cubicBezTo>
                    <a:lnTo>
                      <a:pt x="229825" y="47686"/>
                    </a:lnTo>
                    <a:cubicBezTo>
                      <a:pt x="265821" y="64347"/>
                      <a:pt x="308581" y="52889"/>
                      <a:pt x="331424" y="20462"/>
                    </a:cubicBezTo>
                    <a:lnTo>
                      <a:pt x="331425" y="20462"/>
                    </a:lnTo>
                    <a:cubicBezTo>
                      <a:pt x="340463" y="7632"/>
                      <a:pt x="355176" y="0"/>
                      <a:pt x="370869" y="0"/>
                    </a:cubicBezTo>
                    <a:cubicBezTo>
                      <a:pt x="386562" y="0"/>
                      <a:pt x="401275" y="7632"/>
                      <a:pt x="410313" y="20462"/>
                    </a:cubicBezTo>
                    <a:close/>
                  </a:path>
                </a:pathLst>
              </a:custGeom>
              <a:solidFill>
                <a:srgbClr val="A0F8EE"/>
              </a:solidFill>
              <a:ln w="38100" cap="rnd">
                <a:solidFill>
                  <a:srgbClr val="272727"/>
                </a:solidFill>
                <a:prstDash val="solid"/>
                <a:round/>
              </a:ln>
            </p:spPr>
          </p:sp>
          <p:sp>
            <p:nvSpPr>
              <p:cNvPr name="TextBox 27" id="27"/>
              <p:cNvSpPr txBox="true"/>
              <p:nvPr/>
            </p:nvSpPr>
            <p:spPr>
              <a:xfrm>
                <a:off x="127000" y="88900"/>
                <a:ext cx="558800" cy="5969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249218" y="251705"/>
              <a:ext cx="390834" cy="385860"/>
            </a:xfrm>
            <a:custGeom>
              <a:avLst/>
              <a:gdLst/>
              <a:ahLst/>
              <a:cxnLst/>
              <a:rect r="r" b="b" t="t" l="l"/>
              <a:pathLst>
                <a:path h="385860" w="390834">
                  <a:moveTo>
                    <a:pt x="0" y="0"/>
                  </a:moveTo>
                  <a:lnTo>
                    <a:pt x="390834" y="0"/>
                  </a:lnTo>
                  <a:lnTo>
                    <a:pt x="390834" y="385860"/>
                  </a:lnTo>
                  <a:lnTo>
                    <a:pt x="0" y="385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DAHElwKWT44</dc:identifier>
  <dcterms:modified xsi:type="dcterms:W3CDTF">2011-08-01T06:04:30Z</dcterms:modified>
  <cp:revision>1</cp:revision>
  <dc:title>Black Blue Simple Modern Monthly Report Presentation</dc:title>
</cp:coreProperties>
</file>