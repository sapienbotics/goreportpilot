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Telegraf Ultra-Bold" charset="1" panose="00000900000000000000"/>
      <p:regular r:id="rId16"/>
    </p:embeddedFont>
    <p:embeddedFont>
      <p:font typeface="Telegraf Medium" charset="1" panose="00000600000000000000"/>
      <p:regular r:id="rId17"/>
    </p:embeddedFont>
    <p:embeddedFont>
      <p:font typeface="Inter Light" charset="1" panose="02000503000000020004"/>
      <p:regular r:id="rId18"/>
    </p:embeddedFont>
    <p:embeddedFont>
      <p:font typeface="Telegraf Bold" charset="1" panose="00000800000000000000"/>
      <p:regular r:id="rId19"/>
    </p:embeddedFont>
    <p:embeddedFont>
      <p:font typeface="Inter Bold" charset="1" panose="020B0802030000000004"/>
      <p:regular r:id="rId20"/>
    </p:embeddedFont>
    <p:embeddedFont>
      <p:font typeface="Inter Semi-Bold" charset="1" panose="02000503000000020004"/>
      <p:regular r:id="rId21"/>
    </p:embeddedFont>
    <p:embeddedFont>
      <p:font typeface="Inter" charset="1" panose="020B0502030000000004"/>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A2A2E"/>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6230600" cy="8229600"/>
            <a:chOff x="0" y="0"/>
            <a:chExt cx="4274726" cy="2167467"/>
          </a:xfrm>
        </p:grpSpPr>
        <p:sp>
          <p:nvSpPr>
            <p:cNvPr name="Freeform 3" id="3"/>
            <p:cNvSpPr/>
            <p:nvPr/>
          </p:nvSpPr>
          <p:spPr>
            <a:xfrm flipH="false" flipV="false" rot="0">
              <a:off x="0" y="0"/>
              <a:ext cx="4274726" cy="2167467"/>
            </a:xfrm>
            <a:custGeom>
              <a:avLst/>
              <a:gdLst/>
              <a:ahLst/>
              <a:cxnLst/>
              <a:rect r="r" b="b" t="t" l="l"/>
              <a:pathLst>
                <a:path h="2167467" w="4274726">
                  <a:moveTo>
                    <a:pt x="2137363" y="0"/>
                  </a:moveTo>
                  <a:cubicBezTo>
                    <a:pt x="956930" y="0"/>
                    <a:pt x="0" y="485204"/>
                    <a:pt x="0" y="1083733"/>
                  </a:cubicBezTo>
                  <a:cubicBezTo>
                    <a:pt x="0" y="1682263"/>
                    <a:pt x="956930" y="2167467"/>
                    <a:pt x="2137363" y="2167467"/>
                  </a:cubicBezTo>
                  <a:cubicBezTo>
                    <a:pt x="3317796" y="2167467"/>
                    <a:pt x="4274726" y="1682263"/>
                    <a:pt x="4274726" y="1083733"/>
                  </a:cubicBezTo>
                  <a:cubicBezTo>
                    <a:pt x="4274726" y="485204"/>
                    <a:pt x="3317796" y="0"/>
                    <a:pt x="2137363" y="0"/>
                  </a:cubicBezTo>
                  <a:close/>
                </a:path>
              </a:pathLst>
            </a:custGeom>
            <a:ln w="19050" cap="sq">
              <a:solidFill>
                <a:srgbClr val="EBF29C"/>
              </a:solidFill>
              <a:prstDash val="solid"/>
              <a:miter/>
            </a:ln>
          </p:spPr>
        </p:sp>
        <p:sp>
          <p:nvSpPr>
            <p:cNvPr name="TextBox 4" id="4"/>
            <p:cNvSpPr txBox="true"/>
            <p:nvPr/>
          </p:nvSpPr>
          <p:spPr>
            <a:xfrm>
              <a:off x="400756" y="279400"/>
              <a:ext cx="3473215" cy="1684867"/>
            </a:xfrm>
            <a:prstGeom prst="rect">
              <a:avLst/>
            </a:prstGeom>
          </p:spPr>
          <p:txBody>
            <a:bodyPr anchor="ctr" rtlCol="false" tIns="50800" lIns="50800" bIns="50800" rIns="50800"/>
            <a:lstStyle/>
            <a:p>
              <a:pPr algn="ctr">
                <a:lnSpc>
                  <a:spcPts val="1997"/>
                </a:lnSpc>
              </a:pPr>
            </a:p>
          </p:txBody>
        </p:sp>
      </p:grpSp>
      <p:sp>
        <p:nvSpPr>
          <p:cNvPr name="TextBox 5" id="5"/>
          <p:cNvSpPr txBox="true"/>
          <p:nvPr/>
        </p:nvSpPr>
        <p:spPr>
          <a:xfrm rot="0">
            <a:off x="4295199" y="2665151"/>
            <a:ext cx="9697603" cy="5837339"/>
          </a:xfrm>
          <a:prstGeom prst="rect">
            <a:avLst/>
          </a:prstGeom>
        </p:spPr>
        <p:txBody>
          <a:bodyPr anchor="t" rtlCol="false" tIns="0" lIns="0" bIns="0" rIns="0">
            <a:spAutoFit/>
          </a:bodyPr>
          <a:lstStyle/>
          <a:p>
            <a:pPr algn="ctr">
              <a:lnSpc>
                <a:spcPts val="14284"/>
              </a:lnSpc>
            </a:pPr>
            <a:r>
              <a:rPr lang="en-US" b="true" sz="18081" spc="-1139">
                <a:solidFill>
                  <a:srgbClr val="EBF29C"/>
                </a:solidFill>
                <a:latin typeface="Telegraf Ultra-Bold"/>
                <a:ea typeface="Telegraf Ultra-Bold"/>
                <a:cs typeface="Telegraf Ultra-Bold"/>
                <a:sym typeface="Telegraf Ultra-Bold"/>
              </a:rPr>
              <a:t>SOCIAL MEDIA REPORT</a:t>
            </a:r>
          </a:p>
        </p:txBody>
      </p:sp>
      <p:grpSp>
        <p:nvGrpSpPr>
          <p:cNvPr name="Group 6" id="6"/>
          <p:cNvGrpSpPr/>
          <p:nvPr/>
        </p:nvGrpSpPr>
        <p:grpSpPr>
          <a:xfrm rot="-1803863">
            <a:off x="12208489" y="5413046"/>
            <a:ext cx="1644360" cy="1066172"/>
            <a:chOff x="0" y="0"/>
            <a:chExt cx="2192481" cy="1421562"/>
          </a:xfrm>
        </p:grpSpPr>
        <p:grpSp>
          <p:nvGrpSpPr>
            <p:cNvPr name="Group 7" id="7"/>
            <p:cNvGrpSpPr/>
            <p:nvPr/>
          </p:nvGrpSpPr>
          <p:grpSpPr>
            <a:xfrm rot="0">
              <a:off x="0" y="0"/>
              <a:ext cx="2192481" cy="1421562"/>
              <a:chOff x="0" y="0"/>
              <a:chExt cx="812800" cy="527004"/>
            </a:xfrm>
          </p:grpSpPr>
          <p:sp>
            <p:nvSpPr>
              <p:cNvPr name="Freeform 8" id="8"/>
              <p:cNvSpPr/>
              <p:nvPr/>
            </p:nvSpPr>
            <p:spPr>
              <a:xfrm flipH="false" flipV="false" rot="0">
                <a:off x="0" y="0"/>
                <a:ext cx="812800" cy="527004"/>
              </a:xfrm>
              <a:custGeom>
                <a:avLst/>
                <a:gdLst/>
                <a:ahLst/>
                <a:cxnLst/>
                <a:rect r="r" b="b" t="t" l="l"/>
                <a:pathLst>
                  <a:path h="527004" w="812800">
                    <a:moveTo>
                      <a:pt x="406400" y="0"/>
                    </a:moveTo>
                    <a:cubicBezTo>
                      <a:pt x="181951" y="0"/>
                      <a:pt x="0" y="117974"/>
                      <a:pt x="0" y="263502"/>
                    </a:cubicBezTo>
                    <a:cubicBezTo>
                      <a:pt x="0" y="409030"/>
                      <a:pt x="181951" y="527004"/>
                      <a:pt x="406400" y="527004"/>
                    </a:cubicBezTo>
                    <a:cubicBezTo>
                      <a:pt x="630849" y="527004"/>
                      <a:pt x="812800" y="409030"/>
                      <a:pt x="812800" y="263502"/>
                    </a:cubicBezTo>
                    <a:cubicBezTo>
                      <a:pt x="812800" y="117974"/>
                      <a:pt x="630849" y="0"/>
                      <a:pt x="406400" y="0"/>
                    </a:cubicBezTo>
                    <a:close/>
                  </a:path>
                </a:pathLst>
              </a:custGeom>
              <a:solidFill>
                <a:srgbClr val="2A2A2E"/>
              </a:solidFill>
              <a:ln w="19050" cap="sq">
                <a:solidFill>
                  <a:srgbClr val="EBF29C"/>
                </a:solidFill>
                <a:prstDash val="solid"/>
                <a:miter/>
              </a:ln>
            </p:spPr>
          </p:sp>
          <p:sp>
            <p:nvSpPr>
              <p:cNvPr name="TextBox 9" id="9"/>
              <p:cNvSpPr txBox="true"/>
              <p:nvPr/>
            </p:nvSpPr>
            <p:spPr>
              <a:xfrm>
                <a:off x="76200" y="11307"/>
                <a:ext cx="660400" cy="466291"/>
              </a:xfrm>
              <a:prstGeom prst="rect">
                <a:avLst/>
              </a:prstGeom>
            </p:spPr>
            <p:txBody>
              <a:bodyPr anchor="ctr" rtlCol="false" tIns="50800" lIns="50800" bIns="50800" rIns="50800"/>
              <a:lstStyle/>
              <a:p>
                <a:pPr algn="ctr">
                  <a:lnSpc>
                    <a:spcPts val="2660"/>
                  </a:lnSpc>
                  <a:spcBef>
                    <a:spcPct val="0"/>
                  </a:spcBef>
                </a:pPr>
              </a:p>
            </p:txBody>
          </p:sp>
        </p:grpSp>
        <p:sp>
          <p:nvSpPr>
            <p:cNvPr name="TextBox 10" id="10"/>
            <p:cNvSpPr txBox="true"/>
            <p:nvPr/>
          </p:nvSpPr>
          <p:spPr>
            <a:xfrm rot="0">
              <a:off x="192318" y="530536"/>
              <a:ext cx="1807845" cy="430893"/>
            </a:xfrm>
            <a:prstGeom prst="rect">
              <a:avLst/>
            </a:prstGeom>
          </p:spPr>
          <p:txBody>
            <a:bodyPr anchor="t" rtlCol="false" tIns="0" lIns="0" bIns="0" rIns="0">
              <a:spAutoFit/>
            </a:bodyPr>
            <a:lstStyle/>
            <a:p>
              <a:pPr algn="ctr">
                <a:lnSpc>
                  <a:spcPts val="1997"/>
                </a:lnSpc>
              </a:pPr>
              <a:r>
                <a:rPr lang="en-US" b="true" sz="2528" spc="-159">
                  <a:solidFill>
                    <a:srgbClr val="EBF29C"/>
                  </a:solidFill>
                  <a:latin typeface="Telegraf Medium"/>
                  <a:ea typeface="Telegraf Medium"/>
                  <a:cs typeface="Telegraf Medium"/>
                  <a:sym typeface="Telegraf Medium"/>
                </a:rPr>
                <a:t>2024</a:t>
              </a:r>
            </a:p>
          </p:txBody>
        </p:sp>
      </p:grpSp>
      <p:grpSp>
        <p:nvGrpSpPr>
          <p:cNvPr name="Group 11" id="11"/>
          <p:cNvGrpSpPr/>
          <p:nvPr/>
        </p:nvGrpSpPr>
        <p:grpSpPr>
          <a:xfrm rot="1773461">
            <a:off x="4284134" y="3914744"/>
            <a:ext cx="1644360" cy="1066172"/>
            <a:chOff x="0" y="0"/>
            <a:chExt cx="2192481" cy="1421562"/>
          </a:xfrm>
        </p:grpSpPr>
        <p:grpSp>
          <p:nvGrpSpPr>
            <p:cNvPr name="Group 12" id="12"/>
            <p:cNvGrpSpPr/>
            <p:nvPr/>
          </p:nvGrpSpPr>
          <p:grpSpPr>
            <a:xfrm rot="0">
              <a:off x="0" y="0"/>
              <a:ext cx="2192481" cy="1421562"/>
              <a:chOff x="0" y="0"/>
              <a:chExt cx="812800" cy="527004"/>
            </a:xfrm>
          </p:grpSpPr>
          <p:sp>
            <p:nvSpPr>
              <p:cNvPr name="Freeform 13" id="13"/>
              <p:cNvSpPr/>
              <p:nvPr/>
            </p:nvSpPr>
            <p:spPr>
              <a:xfrm flipH="false" flipV="false" rot="0">
                <a:off x="0" y="0"/>
                <a:ext cx="812800" cy="527004"/>
              </a:xfrm>
              <a:custGeom>
                <a:avLst/>
                <a:gdLst/>
                <a:ahLst/>
                <a:cxnLst/>
                <a:rect r="r" b="b" t="t" l="l"/>
                <a:pathLst>
                  <a:path h="527004" w="812800">
                    <a:moveTo>
                      <a:pt x="406400" y="0"/>
                    </a:moveTo>
                    <a:cubicBezTo>
                      <a:pt x="181951" y="0"/>
                      <a:pt x="0" y="117974"/>
                      <a:pt x="0" y="263502"/>
                    </a:cubicBezTo>
                    <a:cubicBezTo>
                      <a:pt x="0" y="409030"/>
                      <a:pt x="181951" y="527004"/>
                      <a:pt x="406400" y="527004"/>
                    </a:cubicBezTo>
                    <a:cubicBezTo>
                      <a:pt x="630849" y="527004"/>
                      <a:pt x="812800" y="409030"/>
                      <a:pt x="812800" y="263502"/>
                    </a:cubicBezTo>
                    <a:cubicBezTo>
                      <a:pt x="812800" y="117974"/>
                      <a:pt x="630849" y="0"/>
                      <a:pt x="406400" y="0"/>
                    </a:cubicBezTo>
                    <a:close/>
                  </a:path>
                </a:pathLst>
              </a:custGeom>
              <a:solidFill>
                <a:srgbClr val="2A2A2E"/>
              </a:solidFill>
              <a:ln w="19050" cap="sq">
                <a:solidFill>
                  <a:srgbClr val="EBF29C"/>
                </a:solidFill>
                <a:prstDash val="solid"/>
                <a:miter/>
              </a:ln>
            </p:spPr>
          </p:sp>
          <p:sp>
            <p:nvSpPr>
              <p:cNvPr name="TextBox 14" id="14"/>
              <p:cNvSpPr txBox="true"/>
              <p:nvPr/>
            </p:nvSpPr>
            <p:spPr>
              <a:xfrm>
                <a:off x="76200" y="11307"/>
                <a:ext cx="660400" cy="466291"/>
              </a:xfrm>
              <a:prstGeom prst="rect">
                <a:avLst/>
              </a:prstGeom>
            </p:spPr>
            <p:txBody>
              <a:bodyPr anchor="ctr" rtlCol="false" tIns="50800" lIns="50800" bIns="50800" rIns="50800"/>
              <a:lstStyle/>
              <a:p>
                <a:pPr algn="ctr">
                  <a:lnSpc>
                    <a:spcPts val="2660"/>
                  </a:lnSpc>
                  <a:spcBef>
                    <a:spcPct val="0"/>
                  </a:spcBef>
                </a:pPr>
              </a:p>
            </p:txBody>
          </p:sp>
        </p:grpSp>
        <p:sp>
          <p:nvSpPr>
            <p:cNvPr name="TextBox 15" id="15"/>
            <p:cNvSpPr txBox="true"/>
            <p:nvPr/>
          </p:nvSpPr>
          <p:spPr>
            <a:xfrm rot="0">
              <a:off x="192318" y="530536"/>
              <a:ext cx="1807845" cy="430893"/>
            </a:xfrm>
            <a:prstGeom prst="rect">
              <a:avLst/>
            </a:prstGeom>
          </p:spPr>
          <p:txBody>
            <a:bodyPr anchor="t" rtlCol="false" tIns="0" lIns="0" bIns="0" rIns="0">
              <a:spAutoFit/>
            </a:bodyPr>
            <a:lstStyle/>
            <a:p>
              <a:pPr algn="ctr">
                <a:lnSpc>
                  <a:spcPts val="1997"/>
                </a:lnSpc>
              </a:pPr>
              <a:r>
                <a:rPr lang="en-US" b="true" sz="2528" spc="-159">
                  <a:solidFill>
                    <a:srgbClr val="EBF29C"/>
                  </a:solidFill>
                  <a:latin typeface="Telegraf Medium"/>
                  <a:ea typeface="Telegraf Medium"/>
                  <a:cs typeface="Telegraf Medium"/>
                  <a:sym typeface="Telegraf Medium"/>
                </a:rPr>
                <a:t>LARANA</a:t>
              </a:r>
            </a:p>
          </p:txBody>
        </p:sp>
      </p:grpSp>
      <p:sp>
        <p:nvSpPr>
          <p:cNvPr name="Freeform 16" id="16"/>
          <p:cNvSpPr/>
          <p:nvPr/>
        </p:nvSpPr>
        <p:spPr>
          <a:xfrm flipH="false" flipV="false" rot="0">
            <a:off x="694773" y="4823537"/>
            <a:ext cx="667854" cy="639926"/>
          </a:xfrm>
          <a:custGeom>
            <a:avLst/>
            <a:gdLst/>
            <a:ahLst/>
            <a:cxnLst/>
            <a:rect r="r" b="b" t="t" l="l"/>
            <a:pathLst>
              <a:path h="639926" w="667854">
                <a:moveTo>
                  <a:pt x="0" y="0"/>
                </a:moveTo>
                <a:lnTo>
                  <a:pt x="667854" y="0"/>
                </a:lnTo>
                <a:lnTo>
                  <a:pt x="667854" y="639926"/>
                </a:lnTo>
                <a:lnTo>
                  <a:pt x="0" y="6399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true" rot="0">
            <a:off x="16925373" y="4823537"/>
            <a:ext cx="667854" cy="639926"/>
          </a:xfrm>
          <a:custGeom>
            <a:avLst/>
            <a:gdLst/>
            <a:ahLst/>
            <a:cxnLst/>
            <a:rect r="r" b="b" t="t" l="l"/>
            <a:pathLst>
              <a:path h="639926" w="667854">
                <a:moveTo>
                  <a:pt x="0" y="639926"/>
                </a:moveTo>
                <a:lnTo>
                  <a:pt x="667854" y="639926"/>
                </a:lnTo>
                <a:lnTo>
                  <a:pt x="667854" y="0"/>
                </a:lnTo>
                <a:lnTo>
                  <a:pt x="0" y="0"/>
                </a:lnTo>
                <a:lnTo>
                  <a:pt x="0" y="639926"/>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2A2A2E"/>
        </a:solidFill>
      </p:bgPr>
    </p:bg>
    <p:spTree>
      <p:nvGrpSpPr>
        <p:cNvPr id="1" name=""/>
        <p:cNvGrpSpPr/>
        <p:nvPr/>
      </p:nvGrpSpPr>
      <p:grpSpPr>
        <a:xfrm>
          <a:off x="0" y="0"/>
          <a:ext cx="0" cy="0"/>
          <a:chOff x="0" y="0"/>
          <a:chExt cx="0" cy="0"/>
        </a:xfrm>
      </p:grpSpPr>
      <p:grpSp>
        <p:nvGrpSpPr>
          <p:cNvPr name="Group 2" id="2"/>
          <p:cNvGrpSpPr/>
          <p:nvPr/>
        </p:nvGrpSpPr>
        <p:grpSpPr>
          <a:xfrm rot="0">
            <a:off x="0" y="2644136"/>
            <a:ext cx="9144000" cy="4998728"/>
            <a:chOff x="0" y="0"/>
            <a:chExt cx="2408296" cy="1316537"/>
          </a:xfrm>
        </p:grpSpPr>
        <p:sp>
          <p:nvSpPr>
            <p:cNvPr name="Freeform 3" id="3"/>
            <p:cNvSpPr/>
            <p:nvPr/>
          </p:nvSpPr>
          <p:spPr>
            <a:xfrm flipH="false" flipV="false" rot="0">
              <a:off x="0" y="0"/>
              <a:ext cx="2408296" cy="1316537"/>
            </a:xfrm>
            <a:custGeom>
              <a:avLst/>
              <a:gdLst/>
              <a:ahLst/>
              <a:cxnLst/>
              <a:rect r="r" b="b" t="t" l="l"/>
              <a:pathLst>
                <a:path h="1316537" w="2408296">
                  <a:moveTo>
                    <a:pt x="1204148" y="0"/>
                  </a:moveTo>
                  <a:cubicBezTo>
                    <a:pt x="539115" y="0"/>
                    <a:pt x="0" y="294717"/>
                    <a:pt x="0" y="658269"/>
                  </a:cubicBezTo>
                  <a:cubicBezTo>
                    <a:pt x="0" y="1021820"/>
                    <a:pt x="539115" y="1316537"/>
                    <a:pt x="1204148" y="1316537"/>
                  </a:cubicBezTo>
                  <a:cubicBezTo>
                    <a:pt x="1869181" y="1316537"/>
                    <a:pt x="2408296" y="1021820"/>
                    <a:pt x="2408296" y="658269"/>
                  </a:cubicBezTo>
                  <a:cubicBezTo>
                    <a:pt x="2408296" y="294717"/>
                    <a:pt x="1869181" y="0"/>
                    <a:pt x="1204148" y="0"/>
                  </a:cubicBezTo>
                  <a:close/>
                </a:path>
              </a:pathLst>
            </a:custGeom>
            <a:ln w="19050" cap="sq">
              <a:solidFill>
                <a:srgbClr val="EBF29C"/>
              </a:solidFill>
              <a:prstDash val="solid"/>
              <a:miter/>
            </a:ln>
          </p:spPr>
        </p:sp>
        <p:sp>
          <p:nvSpPr>
            <p:cNvPr name="TextBox 4" id="4"/>
            <p:cNvSpPr txBox="true"/>
            <p:nvPr/>
          </p:nvSpPr>
          <p:spPr>
            <a:xfrm>
              <a:off x="225778" y="199625"/>
              <a:ext cx="1956741" cy="993487"/>
            </a:xfrm>
            <a:prstGeom prst="rect">
              <a:avLst/>
            </a:prstGeom>
          </p:spPr>
          <p:txBody>
            <a:bodyPr anchor="ctr" rtlCol="false" tIns="50800" lIns="50800" bIns="50800" rIns="50800"/>
            <a:lstStyle/>
            <a:p>
              <a:pPr algn="ctr">
                <a:lnSpc>
                  <a:spcPts val="1997"/>
                </a:lnSpc>
              </a:pPr>
            </a:p>
          </p:txBody>
        </p:sp>
      </p:grpSp>
      <p:sp>
        <p:nvSpPr>
          <p:cNvPr name="AutoShape 5" id="5"/>
          <p:cNvSpPr/>
          <p:nvPr/>
        </p:nvSpPr>
        <p:spPr>
          <a:xfrm flipV="true">
            <a:off x="9144000" y="0"/>
            <a:ext cx="0" cy="10287000"/>
          </a:xfrm>
          <a:prstGeom prst="line">
            <a:avLst/>
          </a:prstGeom>
          <a:ln cap="flat" w="19050">
            <a:solidFill>
              <a:srgbClr val="EBF29C"/>
            </a:solidFill>
            <a:prstDash val="solid"/>
            <a:headEnd type="none" len="sm" w="sm"/>
            <a:tailEnd type="none" len="sm" w="sm"/>
          </a:ln>
        </p:spPr>
      </p:sp>
      <p:sp>
        <p:nvSpPr>
          <p:cNvPr name="AutoShape 6" id="6"/>
          <p:cNvSpPr/>
          <p:nvPr/>
        </p:nvSpPr>
        <p:spPr>
          <a:xfrm>
            <a:off x="9144000" y="1295400"/>
            <a:ext cx="9144000" cy="0"/>
          </a:xfrm>
          <a:prstGeom prst="line">
            <a:avLst/>
          </a:prstGeom>
          <a:ln cap="flat" w="19050">
            <a:solidFill>
              <a:srgbClr val="EBF29C"/>
            </a:solidFill>
            <a:prstDash val="solid"/>
            <a:headEnd type="none" len="sm" w="sm"/>
            <a:tailEnd type="none" len="sm" w="sm"/>
          </a:ln>
        </p:spPr>
      </p:sp>
      <p:sp>
        <p:nvSpPr>
          <p:cNvPr name="AutoShape 7" id="7"/>
          <p:cNvSpPr/>
          <p:nvPr/>
        </p:nvSpPr>
        <p:spPr>
          <a:xfrm>
            <a:off x="9144000" y="2581275"/>
            <a:ext cx="9144000" cy="0"/>
          </a:xfrm>
          <a:prstGeom prst="line">
            <a:avLst/>
          </a:prstGeom>
          <a:ln cap="flat" w="19050">
            <a:solidFill>
              <a:srgbClr val="EBF29C"/>
            </a:solidFill>
            <a:prstDash val="solid"/>
            <a:headEnd type="none" len="sm" w="sm"/>
            <a:tailEnd type="none" len="sm" w="sm"/>
          </a:ln>
        </p:spPr>
      </p:sp>
      <p:sp>
        <p:nvSpPr>
          <p:cNvPr name="AutoShape 8" id="8"/>
          <p:cNvSpPr/>
          <p:nvPr/>
        </p:nvSpPr>
        <p:spPr>
          <a:xfrm>
            <a:off x="9144000" y="3867150"/>
            <a:ext cx="9144000" cy="0"/>
          </a:xfrm>
          <a:prstGeom prst="line">
            <a:avLst/>
          </a:prstGeom>
          <a:ln cap="flat" w="19050">
            <a:solidFill>
              <a:srgbClr val="EBF29C"/>
            </a:solidFill>
            <a:prstDash val="solid"/>
            <a:headEnd type="none" len="sm" w="sm"/>
            <a:tailEnd type="none" len="sm" w="sm"/>
          </a:ln>
        </p:spPr>
      </p:sp>
      <p:sp>
        <p:nvSpPr>
          <p:cNvPr name="AutoShape 9" id="9"/>
          <p:cNvSpPr/>
          <p:nvPr/>
        </p:nvSpPr>
        <p:spPr>
          <a:xfrm>
            <a:off x="9144000" y="5143500"/>
            <a:ext cx="9144000" cy="0"/>
          </a:xfrm>
          <a:prstGeom prst="line">
            <a:avLst/>
          </a:prstGeom>
          <a:ln cap="flat" w="19050">
            <a:solidFill>
              <a:srgbClr val="EBF29C"/>
            </a:solidFill>
            <a:prstDash val="solid"/>
            <a:headEnd type="none" len="sm" w="sm"/>
            <a:tailEnd type="none" len="sm" w="sm"/>
          </a:ln>
        </p:spPr>
      </p:sp>
      <p:sp>
        <p:nvSpPr>
          <p:cNvPr name="AutoShape 10" id="10"/>
          <p:cNvSpPr/>
          <p:nvPr/>
        </p:nvSpPr>
        <p:spPr>
          <a:xfrm>
            <a:off x="9144000" y="6438900"/>
            <a:ext cx="9144000" cy="0"/>
          </a:xfrm>
          <a:prstGeom prst="line">
            <a:avLst/>
          </a:prstGeom>
          <a:ln cap="flat" w="19050">
            <a:solidFill>
              <a:srgbClr val="EBF29C"/>
            </a:solidFill>
            <a:prstDash val="solid"/>
            <a:headEnd type="none" len="sm" w="sm"/>
            <a:tailEnd type="none" len="sm" w="sm"/>
          </a:ln>
        </p:spPr>
      </p:sp>
      <p:sp>
        <p:nvSpPr>
          <p:cNvPr name="AutoShape 11" id="11"/>
          <p:cNvSpPr/>
          <p:nvPr/>
        </p:nvSpPr>
        <p:spPr>
          <a:xfrm>
            <a:off x="9144000" y="7705725"/>
            <a:ext cx="9144000" cy="0"/>
          </a:xfrm>
          <a:prstGeom prst="line">
            <a:avLst/>
          </a:prstGeom>
          <a:ln cap="flat" w="19050">
            <a:solidFill>
              <a:srgbClr val="EBF29C"/>
            </a:solidFill>
            <a:prstDash val="solid"/>
            <a:headEnd type="none" len="sm" w="sm"/>
            <a:tailEnd type="none" len="sm" w="sm"/>
          </a:ln>
        </p:spPr>
      </p:sp>
      <p:sp>
        <p:nvSpPr>
          <p:cNvPr name="AutoShape 12" id="12"/>
          <p:cNvSpPr/>
          <p:nvPr/>
        </p:nvSpPr>
        <p:spPr>
          <a:xfrm>
            <a:off x="9144000" y="8982075"/>
            <a:ext cx="9144000" cy="0"/>
          </a:xfrm>
          <a:prstGeom prst="line">
            <a:avLst/>
          </a:prstGeom>
          <a:ln cap="flat" w="19050">
            <a:solidFill>
              <a:srgbClr val="EBF29C"/>
            </a:solidFill>
            <a:prstDash val="solid"/>
            <a:headEnd type="none" len="sm" w="sm"/>
            <a:tailEnd type="none" len="sm" w="sm"/>
          </a:ln>
        </p:spPr>
      </p:sp>
      <p:sp>
        <p:nvSpPr>
          <p:cNvPr name="TextBox 13" id="13"/>
          <p:cNvSpPr txBox="true"/>
          <p:nvPr/>
        </p:nvSpPr>
        <p:spPr>
          <a:xfrm rot="0">
            <a:off x="1144721" y="4159247"/>
            <a:ext cx="6854557" cy="2244732"/>
          </a:xfrm>
          <a:prstGeom prst="rect">
            <a:avLst/>
          </a:prstGeom>
        </p:spPr>
        <p:txBody>
          <a:bodyPr anchor="t" rtlCol="false" tIns="0" lIns="0" bIns="0" rIns="0">
            <a:spAutoFit/>
          </a:bodyPr>
          <a:lstStyle/>
          <a:p>
            <a:pPr algn="ctr">
              <a:lnSpc>
                <a:spcPts val="7900"/>
              </a:lnSpc>
            </a:pPr>
            <a:r>
              <a:rPr lang="en-US" b="true" sz="10000" spc="-630">
                <a:solidFill>
                  <a:srgbClr val="EBF29C"/>
                </a:solidFill>
                <a:latin typeface="Telegraf Ultra-Bold"/>
                <a:ea typeface="Telegraf Ultra-Bold"/>
                <a:cs typeface="Telegraf Ultra-Bold"/>
                <a:sym typeface="Telegraf Ultra-Bold"/>
              </a:rPr>
              <a:t>TABLE OF CONTENTS</a:t>
            </a:r>
          </a:p>
        </p:txBody>
      </p:sp>
      <p:sp>
        <p:nvSpPr>
          <p:cNvPr name="TextBox 14" id="14"/>
          <p:cNvSpPr txBox="true"/>
          <p:nvPr/>
        </p:nvSpPr>
        <p:spPr>
          <a:xfrm rot="0">
            <a:off x="9843992" y="351530"/>
            <a:ext cx="4536108" cy="487603"/>
          </a:xfrm>
          <a:prstGeom prst="rect">
            <a:avLst/>
          </a:prstGeom>
        </p:spPr>
        <p:txBody>
          <a:bodyPr anchor="t" rtlCol="false" tIns="0" lIns="0" bIns="0" rIns="0">
            <a:spAutoFit/>
          </a:bodyPr>
          <a:lstStyle/>
          <a:p>
            <a:pPr algn="l" marL="632163" indent="-316082" lvl="1">
              <a:lnSpc>
                <a:spcPts val="4099"/>
              </a:lnSpc>
              <a:spcBef>
                <a:spcPct val="0"/>
              </a:spcBef>
              <a:buAutoNum type="arabicPeriod" startAt="1"/>
            </a:pPr>
            <a:r>
              <a:rPr lang="en-US" sz="2928" spc="76">
                <a:solidFill>
                  <a:srgbClr val="EBF29C"/>
                </a:solidFill>
                <a:latin typeface="Inter Light"/>
                <a:ea typeface="Inter Light"/>
                <a:cs typeface="Inter Light"/>
                <a:sym typeface="Inter Light"/>
              </a:rPr>
              <a:t> </a:t>
            </a:r>
            <a:r>
              <a:rPr lang="en-US" sz="2928" spc="76">
                <a:solidFill>
                  <a:srgbClr val="EBF29C"/>
                </a:solidFill>
                <a:latin typeface="Inter Light"/>
                <a:ea typeface="Inter Light"/>
                <a:cs typeface="Inter Light"/>
                <a:sym typeface="Inter Light"/>
              </a:rPr>
              <a:t>Introduction</a:t>
            </a:r>
          </a:p>
        </p:txBody>
      </p:sp>
      <p:sp>
        <p:nvSpPr>
          <p:cNvPr name="TextBox 15" id="15"/>
          <p:cNvSpPr txBox="true"/>
          <p:nvPr/>
        </p:nvSpPr>
        <p:spPr>
          <a:xfrm rot="0">
            <a:off x="10179510" y="1637703"/>
            <a:ext cx="6652453" cy="487603"/>
          </a:xfrm>
          <a:prstGeom prst="rect">
            <a:avLst/>
          </a:prstGeom>
        </p:spPr>
        <p:txBody>
          <a:bodyPr anchor="t" rtlCol="false" tIns="0" lIns="0" bIns="0" rIns="0">
            <a:spAutoFit/>
          </a:bodyPr>
          <a:lstStyle/>
          <a:p>
            <a:pPr algn="l">
              <a:lnSpc>
                <a:spcPts val="4099"/>
              </a:lnSpc>
              <a:spcBef>
                <a:spcPct val="0"/>
              </a:spcBef>
            </a:pPr>
            <a:r>
              <a:rPr lang="en-US" sz="2928" spc="76">
                <a:solidFill>
                  <a:srgbClr val="EBF29C"/>
                </a:solidFill>
                <a:latin typeface="Inter Light"/>
                <a:ea typeface="Inter Light"/>
                <a:cs typeface="Inter Light"/>
                <a:sym typeface="Inter Light"/>
              </a:rPr>
              <a:t>2. Performance Overview</a:t>
            </a:r>
          </a:p>
        </p:txBody>
      </p:sp>
      <p:sp>
        <p:nvSpPr>
          <p:cNvPr name="TextBox 16" id="16"/>
          <p:cNvSpPr txBox="true"/>
          <p:nvPr/>
        </p:nvSpPr>
        <p:spPr>
          <a:xfrm rot="0">
            <a:off x="10179510" y="2924175"/>
            <a:ext cx="6652453" cy="487603"/>
          </a:xfrm>
          <a:prstGeom prst="rect">
            <a:avLst/>
          </a:prstGeom>
        </p:spPr>
        <p:txBody>
          <a:bodyPr anchor="t" rtlCol="false" tIns="0" lIns="0" bIns="0" rIns="0">
            <a:spAutoFit/>
          </a:bodyPr>
          <a:lstStyle/>
          <a:p>
            <a:pPr algn="l">
              <a:lnSpc>
                <a:spcPts val="4099"/>
              </a:lnSpc>
              <a:spcBef>
                <a:spcPct val="0"/>
              </a:spcBef>
            </a:pPr>
            <a:r>
              <a:rPr lang="en-US" sz="2928" spc="76">
                <a:solidFill>
                  <a:srgbClr val="EBF29C"/>
                </a:solidFill>
                <a:latin typeface="Inter Light"/>
                <a:ea typeface="Inter Light"/>
                <a:cs typeface="Inter Light"/>
                <a:sym typeface="Inter Light"/>
              </a:rPr>
              <a:t>3. Audience Insights</a:t>
            </a:r>
          </a:p>
        </p:txBody>
      </p:sp>
      <p:sp>
        <p:nvSpPr>
          <p:cNvPr name="TextBox 17" id="17"/>
          <p:cNvSpPr txBox="true"/>
          <p:nvPr/>
        </p:nvSpPr>
        <p:spPr>
          <a:xfrm rot="0">
            <a:off x="10179510" y="4210050"/>
            <a:ext cx="6652453" cy="487603"/>
          </a:xfrm>
          <a:prstGeom prst="rect">
            <a:avLst/>
          </a:prstGeom>
        </p:spPr>
        <p:txBody>
          <a:bodyPr anchor="t" rtlCol="false" tIns="0" lIns="0" bIns="0" rIns="0">
            <a:spAutoFit/>
          </a:bodyPr>
          <a:lstStyle/>
          <a:p>
            <a:pPr algn="l">
              <a:lnSpc>
                <a:spcPts val="4099"/>
              </a:lnSpc>
              <a:spcBef>
                <a:spcPct val="0"/>
              </a:spcBef>
            </a:pPr>
            <a:r>
              <a:rPr lang="en-US" sz="2928" spc="76">
                <a:solidFill>
                  <a:srgbClr val="EBF29C"/>
                </a:solidFill>
                <a:latin typeface="Inter Light"/>
                <a:ea typeface="Inter Light"/>
                <a:cs typeface="Inter Light"/>
                <a:sym typeface="Inter Light"/>
              </a:rPr>
              <a:t>4. Engagement Metrics</a:t>
            </a:r>
          </a:p>
        </p:txBody>
      </p:sp>
      <p:sp>
        <p:nvSpPr>
          <p:cNvPr name="TextBox 18" id="18"/>
          <p:cNvSpPr txBox="true"/>
          <p:nvPr/>
        </p:nvSpPr>
        <p:spPr>
          <a:xfrm rot="0">
            <a:off x="10179510" y="5486400"/>
            <a:ext cx="6652453" cy="487603"/>
          </a:xfrm>
          <a:prstGeom prst="rect">
            <a:avLst/>
          </a:prstGeom>
        </p:spPr>
        <p:txBody>
          <a:bodyPr anchor="t" rtlCol="false" tIns="0" lIns="0" bIns="0" rIns="0">
            <a:spAutoFit/>
          </a:bodyPr>
          <a:lstStyle/>
          <a:p>
            <a:pPr algn="l">
              <a:lnSpc>
                <a:spcPts val="4099"/>
              </a:lnSpc>
              <a:spcBef>
                <a:spcPct val="0"/>
              </a:spcBef>
            </a:pPr>
            <a:r>
              <a:rPr lang="en-US" sz="2928" spc="76">
                <a:solidFill>
                  <a:srgbClr val="EBF29C"/>
                </a:solidFill>
                <a:latin typeface="Inter Light"/>
                <a:ea typeface="Inter Light"/>
                <a:cs typeface="Inter Light"/>
                <a:sym typeface="Inter Light"/>
              </a:rPr>
              <a:t>5. Top Performing Content</a:t>
            </a:r>
          </a:p>
        </p:txBody>
      </p:sp>
      <p:sp>
        <p:nvSpPr>
          <p:cNvPr name="TextBox 19" id="19"/>
          <p:cNvSpPr txBox="true"/>
          <p:nvPr/>
        </p:nvSpPr>
        <p:spPr>
          <a:xfrm rot="0">
            <a:off x="10179510" y="6791325"/>
            <a:ext cx="6652453" cy="487603"/>
          </a:xfrm>
          <a:prstGeom prst="rect">
            <a:avLst/>
          </a:prstGeom>
        </p:spPr>
        <p:txBody>
          <a:bodyPr anchor="t" rtlCol="false" tIns="0" lIns="0" bIns="0" rIns="0">
            <a:spAutoFit/>
          </a:bodyPr>
          <a:lstStyle/>
          <a:p>
            <a:pPr algn="l">
              <a:lnSpc>
                <a:spcPts val="4099"/>
              </a:lnSpc>
              <a:spcBef>
                <a:spcPct val="0"/>
              </a:spcBef>
            </a:pPr>
            <a:r>
              <a:rPr lang="en-US" sz="2928" spc="76">
                <a:solidFill>
                  <a:srgbClr val="EBF29C"/>
                </a:solidFill>
                <a:latin typeface="Inter Light"/>
                <a:ea typeface="Inter Light"/>
                <a:cs typeface="Inter Light"/>
                <a:sym typeface="Inter Light"/>
              </a:rPr>
              <a:t>6. Platform Comparison</a:t>
            </a:r>
          </a:p>
        </p:txBody>
      </p:sp>
      <p:sp>
        <p:nvSpPr>
          <p:cNvPr name="TextBox 20" id="20"/>
          <p:cNvSpPr txBox="true"/>
          <p:nvPr/>
        </p:nvSpPr>
        <p:spPr>
          <a:xfrm rot="0">
            <a:off x="10179510" y="8058150"/>
            <a:ext cx="6652453" cy="487603"/>
          </a:xfrm>
          <a:prstGeom prst="rect">
            <a:avLst/>
          </a:prstGeom>
        </p:spPr>
        <p:txBody>
          <a:bodyPr anchor="t" rtlCol="false" tIns="0" lIns="0" bIns="0" rIns="0">
            <a:spAutoFit/>
          </a:bodyPr>
          <a:lstStyle/>
          <a:p>
            <a:pPr algn="l">
              <a:lnSpc>
                <a:spcPts val="4099"/>
              </a:lnSpc>
              <a:spcBef>
                <a:spcPct val="0"/>
              </a:spcBef>
            </a:pPr>
            <a:r>
              <a:rPr lang="en-US" sz="2928" spc="76">
                <a:solidFill>
                  <a:srgbClr val="EBF29C"/>
                </a:solidFill>
                <a:latin typeface="Inter Light"/>
                <a:ea typeface="Inter Light"/>
                <a:cs typeface="Inter Light"/>
                <a:sym typeface="Inter Light"/>
              </a:rPr>
              <a:t>7. Challenges &amp; Learnings</a:t>
            </a:r>
          </a:p>
        </p:txBody>
      </p:sp>
      <p:sp>
        <p:nvSpPr>
          <p:cNvPr name="TextBox 21" id="21"/>
          <p:cNvSpPr txBox="true"/>
          <p:nvPr/>
        </p:nvSpPr>
        <p:spPr>
          <a:xfrm rot="0">
            <a:off x="10179510" y="9324975"/>
            <a:ext cx="8108490" cy="487603"/>
          </a:xfrm>
          <a:prstGeom prst="rect">
            <a:avLst/>
          </a:prstGeom>
        </p:spPr>
        <p:txBody>
          <a:bodyPr anchor="t" rtlCol="false" tIns="0" lIns="0" bIns="0" rIns="0">
            <a:spAutoFit/>
          </a:bodyPr>
          <a:lstStyle/>
          <a:p>
            <a:pPr algn="l">
              <a:lnSpc>
                <a:spcPts val="4099"/>
              </a:lnSpc>
              <a:spcBef>
                <a:spcPct val="0"/>
              </a:spcBef>
            </a:pPr>
            <a:r>
              <a:rPr lang="en-US" sz="2928" spc="76">
                <a:solidFill>
                  <a:srgbClr val="EBF29C"/>
                </a:solidFill>
                <a:latin typeface="Inter Light"/>
                <a:ea typeface="Inter Light"/>
                <a:cs typeface="Inter Light"/>
                <a:sym typeface="Inter Light"/>
              </a:rPr>
              <a:t>8. Conclusion and Recommendations</a:t>
            </a:r>
          </a:p>
        </p:txBody>
      </p:sp>
      <p:sp>
        <p:nvSpPr>
          <p:cNvPr name="Freeform 22" id="22"/>
          <p:cNvSpPr/>
          <p:nvPr/>
        </p:nvSpPr>
        <p:spPr>
          <a:xfrm flipH="false" flipV="false" rot="0">
            <a:off x="694773" y="3243096"/>
            <a:ext cx="667854" cy="639926"/>
          </a:xfrm>
          <a:custGeom>
            <a:avLst/>
            <a:gdLst/>
            <a:ahLst/>
            <a:cxnLst/>
            <a:rect r="r" b="b" t="t" l="l"/>
            <a:pathLst>
              <a:path h="639926" w="667854">
                <a:moveTo>
                  <a:pt x="0" y="0"/>
                </a:moveTo>
                <a:lnTo>
                  <a:pt x="667854" y="0"/>
                </a:lnTo>
                <a:lnTo>
                  <a:pt x="667854" y="639926"/>
                </a:lnTo>
                <a:lnTo>
                  <a:pt x="0" y="6399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3" id="23"/>
          <p:cNvSpPr/>
          <p:nvPr/>
        </p:nvSpPr>
        <p:spPr>
          <a:xfrm flipH="false" flipV="true" rot="0">
            <a:off x="7665351" y="6438900"/>
            <a:ext cx="667854" cy="639926"/>
          </a:xfrm>
          <a:custGeom>
            <a:avLst/>
            <a:gdLst/>
            <a:ahLst/>
            <a:cxnLst/>
            <a:rect r="r" b="b" t="t" l="l"/>
            <a:pathLst>
              <a:path h="639926" w="667854">
                <a:moveTo>
                  <a:pt x="0" y="639926"/>
                </a:moveTo>
                <a:lnTo>
                  <a:pt x="667855" y="639926"/>
                </a:lnTo>
                <a:lnTo>
                  <a:pt x="667855" y="0"/>
                </a:lnTo>
                <a:lnTo>
                  <a:pt x="0" y="0"/>
                </a:lnTo>
                <a:lnTo>
                  <a:pt x="0" y="639926"/>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2A2A2E"/>
        </a:solidFill>
      </p:bgPr>
    </p:bg>
    <p:spTree>
      <p:nvGrpSpPr>
        <p:cNvPr id="1" name=""/>
        <p:cNvGrpSpPr/>
        <p:nvPr/>
      </p:nvGrpSpPr>
      <p:grpSpPr>
        <a:xfrm>
          <a:off x="0" y="0"/>
          <a:ext cx="0" cy="0"/>
          <a:chOff x="0" y="0"/>
          <a:chExt cx="0" cy="0"/>
        </a:xfrm>
      </p:grpSpPr>
      <p:grpSp>
        <p:nvGrpSpPr>
          <p:cNvPr name="Group 2" id="2"/>
          <p:cNvGrpSpPr/>
          <p:nvPr/>
        </p:nvGrpSpPr>
        <p:grpSpPr>
          <a:xfrm rot="0">
            <a:off x="1028700" y="3016138"/>
            <a:ext cx="16230600" cy="5775555"/>
            <a:chOff x="0" y="0"/>
            <a:chExt cx="4274726" cy="1521134"/>
          </a:xfrm>
        </p:grpSpPr>
        <p:sp>
          <p:nvSpPr>
            <p:cNvPr name="Freeform 3" id="3"/>
            <p:cNvSpPr/>
            <p:nvPr/>
          </p:nvSpPr>
          <p:spPr>
            <a:xfrm flipH="false" flipV="false" rot="0">
              <a:off x="0" y="0"/>
              <a:ext cx="4274726" cy="1521134"/>
            </a:xfrm>
            <a:custGeom>
              <a:avLst/>
              <a:gdLst/>
              <a:ahLst/>
              <a:cxnLst/>
              <a:rect r="r" b="b" t="t" l="l"/>
              <a:pathLst>
                <a:path h="1521134" w="4274726">
                  <a:moveTo>
                    <a:pt x="2137363" y="0"/>
                  </a:moveTo>
                  <a:cubicBezTo>
                    <a:pt x="956930" y="0"/>
                    <a:pt x="0" y="340517"/>
                    <a:pt x="0" y="760567"/>
                  </a:cubicBezTo>
                  <a:cubicBezTo>
                    <a:pt x="0" y="1180616"/>
                    <a:pt x="956930" y="1521134"/>
                    <a:pt x="2137363" y="1521134"/>
                  </a:cubicBezTo>
                  <a:cubicBezTo>
                    <a:pt x="3317796" y="1521134"/>
                    <a:pt x="4274726" y="1180616"/>
                    <a:pt x="4274726" y="760567"/>
                  </a:cubicBezTo>
                  <a:cubicBezTo>
                    <a:pt x="4274726" y="340517"/>
                    <a:pt x="3317796" y="0"/>
                    <a:pt x="2137363" y="0"/>
                  </a:cubicBezTo>
                  <a:close/>
                </a:path>
              </a:pathLst>
            </a:custGeom>
            <a:ln w="19050" cap="sq">
              <a:solidFill>
                <a:srgbClr val="EBF29C"/>
              </a:solidFill>
              <a:prstDash val="solid"/>
              <a:miter/>
            </a:ln>
          </p:spPr>
        </p:sp>
        <p:sp>
          <p:nvSpPr>
            <p:cNvPr name="TextBox 4" id="4"/>
            <p:cNvSpPr txBox="true"/>
            <p:nvPr/>
          </p:nvSpPr>
          <p:spPr>
            <a:xfrm>
              <a:off x="400756" y="218806"/>
              <a:ext cx="3473215" cy="1159721"/>
            </a:xfrm>
            <a:prstGeom prst="rect">
              <a:avLst/>
            </a:prstGeom>
          </p:spPr>
          <p:txBody>
            <a:bodyPr anchor="ctr" rtlCol="false" tIns="50800" lIns="50800" bIns="50800" rIns="50800"/>
            <a:lstStyle/>
            <a:p>
              <a:pPr algn="ctr">
                <a:lnSpc>
                  <a:spcPts val="1997"/>
                </a:lnSpc>
              </a:pPr>
            </a:p>
          </p:txBody>
        </p:sp>
      </p:grpSp>
      <p:sp>
        <p:nvSpPr>
          <p:cNvPr name="AutoShape 5" id="5"/>
          <p:cNvSpPr/>
          <p:nvPr/>
        </p:nvSpPr>
        <p:spPr>
          <a:xfrm flipV="true">
            <a:off x="17268825" y="0"/>
            <a:ext cx="0" cy="10287000"/>
          </a:xfrm>
          <a:prstGeom prst="line">
            <a:avLst/>
          </a:prstGeom>
          <a:ln cap="flat" w="19050">
            <a:solidFill>
              <a:srgbClr val="EBF29C"/>
            </a:solidFill>
            <a:prstDash val="solid"/>
            <a:headEnd type="none" len="sm" w="sm"/>
            <a:tailEnd type="none" len="sm" w="sm"/>
          </a:ln>
        </p:spPr>
      </p:sp>
      <p:sp>
        <p:nvSpPr>
          <p:cNvPr name="AutoShape 6" id="6"/>
          <p:cNvSpPr/>
          <p:nvPr/>
        </p:nvSpPr>
        <p:spPr>
          <a:xfrm flipV="true">
            <a:off x="1019175" y="0"/>
            <a:ext cx="0" cy="10287000"/>
          </a:xfrm>
          <a:prstGeom prst="line">
            <a:avLst/>
          </a:prstGeom>
          <a:ln cap="flat" w="19050">
            <a:solidFill>
              <a:srgbClr val="EBF29C"/>
            </a:solidFill>
            <a:prstDash val="solid"/>
            <a:headEnd type="none" len="sm" w="sm"/>
            <a:tailEnd type="none" len="sm" w="sm"/>
          </a:ln>
        </p:spPr>
      </p:sp>
      <p:sp>
        <p:nvSpPr>
          <p:cNvPr name="TextBox 7" id="7"/>
          <p:cNvSpPr txBox="true"/>
          <p:nvPr/>
        </p:nvSpPr>
        <p:spPr>
          <a:xfrm rot="0">
            <a:off x="3351134" y="1371482"/>
            <a:ext cx="11585732" cy="1244607"/>
          </a:xfrm>
          <a:prstGeom prst="rect">
            <a:avLst/>
          </a:prstGeom>
        </p:spPr>
        <p:txBody>
          <a:bodyPr anchor="t" rtlCol="false" tIns="0" lIns="0" bIns="0" rIns="0">
            <a:spAutoFit/>
          </a:bodyPr>
          <a:lstStyle/>
          <a:p>
            <a:pPr algn="ctr">
              <a:lnSpc>
                <a:spcPts val="7900"/>
              </a:lnSpc>
            </a:pPr>
            <a:r>
              <a:rPr lang="en-US" b="true" sz="10000" spc="-630">
                <a:solidFill>
                  <a:srgbClr val="EBF29C"/>
                </a:solidFill>
                <a:latin typeface="Telegraf Ultra-Bold"/>
                <a:ea typeface="Telegraf Ultra-Bold"/>
                <a:cs typeface="Telegraf Ultra-Bold"/>
                <a:sym typeface="Telegraf Ultra-Bold"/>
              </a:rPr>
              <a:t>INTRODUCTION</a:t>
            </a:r>
          </a:p>
        </p:txBody>
      </p:sp>
      <p:sp>
        <p:nvSpPr>
          <p:cNvPr name="Freeform 8" id="8"/>
          <p:cNvSpPr/>
          <p:nvPr/>
        </p:nvSpPr>
        <p:spPr>
          <a:xfrm flipH="false" flipV="false" rot="0">
            <a:off x="694773" y="5583953"/>
            <a:ext cx="667854" cy="639926"/>
          </a:xfrm>
          <a:custGeom>
            <a:avLst/>
            <a:gdLst/>
            <a:ahLst/>
            <a:cxnLst/>
            <a:rect r="r" b="b" t="t" l="l"/>
            <a:pathLst>
              <a:path h="639926" w="667854">
                <a:moveTo>
                  <a:pt x="0" y="0"/>
                </a:moveTo>
                <a:lnTo>
                  <a:pt x="667854" y="0"/>
                </a:lnTo>
                <a:lnTo>
                  <a:pt x="667854" y="639926"/>
                </a:lnTo>
                <a:lnTo>
                  <a:pt x="0" y="6399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true" rot="0">
            <a:off x="16925373" y="5397173"/>
            <a:ext cx="667854" cy="639926"/>
          </a:xfrm>
          <a:custGeom>
            <a:avLst/>
            <a:gdLst/>
            <a:ahLst/>
            <a:cxnLst/>
            <a:rect r="r" b="b" t="t" l="l"/>
            <a:pathLst>
              <a:path h="639926" w="667854">
                <a:moveTo>
                  <a:pt x="0" y="639926"/>
                </a:moveTo>
                <a:lnTo>
                  <a:pt x="667854" y="639926"/>
                </a:lnTo>
                <a:lnTo>
                  <a:pt x="667854" y="0"/>
                </a:lnTo>
                <a:lnTo>
                  <a:pt x="0" y="0"/>
                </a:lnTo>
                <a:lnTo>
                  <a:pt x="0" y="63992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5817773" y="4159633"/>
            <a:ext cx="6652453" cy="617778"/>
          </a:xfrm>
          <a:prstGeom prst="rect">
            <a:avLst/>
          </a:prstGeom>
        </p:spPr>
        <p:txBody>
          <a:bodyPr anchor="t" rtlCol="false" tIns="0" lIns="0" bIns="0" rIns="0">
            <a:spAutoFit/>
          </a:bodyPr>
          <a:lstStyle/>
          <a:p>
            <a:pPr algn="ctr">
              <a:lnSpc>
                <a:spcPts val="4799"/>
              </a:lnSpc>
              <a:spcBef>
                <a:spcPct val="0"/>
              </a:spcBef>
            </a:pPr>
            <a:r>
              <a:rPr lang="en-US" b="true" sz="3428">
                <a:solidFill>
                  <a:srgbClr val="EBF29C"/>
                </a:solidFill>
                <a:latin typeface="Telegraf Bold"/>
                <a:ea typeface="Telegraf Bold"/>
                <a:cs typeface="Telegraf Bold"/>
                <a:sym typeface="Telegraf Bold"/>
              </a:rPr>
              <a:t>Scope of This Report</a:t>
            </a:r>
          </a:p>
        </p:txBody>
      </p:sp>
      <p:sp>
        <p:nvSpPr>
          <p:cNvPr name="TextBox 11" id="11"/>
          <p:cNvSpPr txBox="true"/>
          <p:nvPr/>
        </p:nvSpPr>
        <p:spPr>
          <a:xfrm rot="0">
            <a:off x="3309652" y="5133812"/>
            <a:ext cx="11668695" cy="1758950"/>
          </a:xfrm>
          <a:prstGeom prst="rect">
            <a:avLst/>
          </a:prstGeom>
        </p:spPr>
        <p:txBody>
          <a:bodyPr anchor="t" rtlCol="false" tIns="0" lIns="0" bIns="0" rIns="0">
            <a:spAutoFit/>
          </a:bodyPr>
          <a:lstStyle/>
          <a:p>
            <a:pPr algn="ctr">
              <a:lnSpc>
                <a:spcPts val="2800"/>
              </a:lnSpc>
              <a:spcBef>
                <a:spcPct val="0"/>
              </a:spcBef>
            </a:pPr>
            <a:r>
              <a:rPr lang="en-US" sz="2000" spc="52">
                <a:solidFill>
                  <a:srgbClr val="EBF29C"/>
                </a:solidFill>
                <a:latin typeface="Inter Light"/>
                <a:ea typeface="Inter Light"/>
                <a:cs typeface="Inter Light"/>
                <a:sym typeface="Inter Light"/>
              </a:rPr>
              <a:t>Lorem ipsum dolor sit amet, consectetur adipiscing elit. Sed vehicula sodales pellentesque. Morbi tempus rutrum auctor. Nam feugiat eget orci in fringilla. Aliquam tincidunt luctus justo, at semper libero euismod quis. Curabitur nec felis ipsum. Vivamus rhoncus tellus ut metus lobortis lacinia. In molestie luctus dui, non feugiat nulla. Donec pulvinar lobortis ligula, eu semper eros euismod et. Aliquam erat volutpat.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2A2A2E"/>
        </a:solidFill>
      </p:bgPr>
    </p:bg>
    <p:spTree>
      <p:nvGrpSpPr>
        <p:cNvPr id="1" name=""/>
        <p:cNvGrpSpPr/>
        <p:nvPr/>
      </p:nvGrpSpPr>
      <p:grpSpPr>
        <a:xfrm>
          <a:off x="0" y="0"/>
          <a:ext cx="0" cy="0"/>
          <a:chOff x="0" y="0"/>
          <a:chExt cx="0" cy="0"/>
        </a:xfrm>
      </p:grpSpPr>
      <p:sp>
        <p:nvSpPr>
          <p:cNvPr name="AutoShape 2" id="2"/>
          <p:cNvSpPr/>
          <p:nvPr/>
        </p:nvSpPr>
        <p:spPr>
          <a:xfrm flipV="true">
            <a:off x="17268825" y="0"/>
            <a:ext cx="0" cy="10287000"/>
          </a:xfrm>
          <a:prstGeom prst="line">
            <a:avLst/>
          </a:prstGeom>
          <a:ln cap="flat" w="19050">
            <a:solidFill>
              <a:srgbClr val="EBF29C"/>
            </a:solidFill>
            <a:prstDash val="solid"/>
            <a:headEnd type="none" len="sm" w="sm"/>
            <a:tailEnd type="none" len="sm" w="sm"/>
          </a:ln>
        </p:spPr>
      </p:sp>
      <p:sp>
        <p:nvSpPr>
          <p:cNvPr name="AutoShape 3" id="3"/>
          <p:cNvSpPr/>
          <p:nvPr/>
        </p:nvSpPr>
        <p:spPr>
          <a:xfrm>
            <a:off x="1019175" y="3932726"/>
            <a:ext cx="16240125" cy="0"/>
          </a:xfrm>
          <a:prstGeom prst="line">
            <a:avLst/>
          </a:prstGeom>
          <a:ln cap="flat" w="19050">
            <a:solidFill>
              <a:srgbClr val="EBF29C"/>
            </a:solidFill>
            <a:prstDash val="solid"/>
            <a:headEnd type="none" len="sm" w="sm"/>
            <a:tailEnd type="none" len="sm" w="sm"/>
          </a:ln>
        </p:spPr>
      </p:sp>
      <p:sp>
        <p:nvSpPr>
          <p:cNvPr name="AutoShape 4" id="4"/>
          <p:cNvSpPr/>
          <p:nvPr/>
        </p:nvSpPr>
        <p:spPr>
          <a:xfrm>
            <a:off x="1019175" y="5091997"/>
            <a:ext cx="16240125" cy="0"/>
          </a:xfrm>
          <a:prstGeom prst="line">
            <a:avLst/>
          </a:prstGeom>
          <a:ln cap="flat" w="19050">
            <a:solidFill>
              <a:srgbClr val="EBF29C"/>
            </a:solidFill>
            <a:prstDash val="solid"/>
            <a:headEnd type="none" len="sm" w="sm"/>
            <a:tailEnd type="none" len="sm" w="sm"/>
          </a:ln>
        </p:spPr>
      </p:sp>
      <p:sp>
        <p:nvSpPr>
          <p:cNvPr name="AutoShape 5" id="5"/>
          <p:cNvSpPr/>
          <p:nvPr/>
        </p:nvSpPr>
        <p:spPr>
          <a:xfrm>
            <a:off x="1009650" y="5953024"/>
            <a:ext cx="16240125" cy="0"/>
          </a:xfrm>
          <a:prstGeom prst="line">
            <a:avLst/>
          </a:prstGeom>
          <a:ln cap="flat" w="19050">
            <a:solidFill>
              <a:srgbClr val="EBF29C"/>
            </a:solidFill>
            <a:prstDash val="solid"/>
            <a:headEnd type="none" len="sm" w="sm"/>
            <a:tailEnd type="none" len="sm" w="sm"/>
          </a:ln>
        </p:spPr>
      </p:sp>
      <p:sp>
        <p:nvSpPr>
          <p:cNvPr name="AutoShape 6" id="6"/>
          <p:cNvSpPr/>
          <p:nvPr/>
        </p:nvSpPr>
        <p:spPr>
          <a:xfrm>
            <a:off x="1009650" y="6810274"/>
            <a:ext cx="16240125" cy="0"/>
          </a:xfrm>
          <a:prstGeom prst="line">
            <a:avLst/>
          </a:prstGeom>
          <a:ln cap="flat" w="19050">
            <a:solidFill>
              <a:srgbClr val="EBF29C"/>
            </a:solidFill>
            <a:prstDash val="solid"/>
            <a:headEnd type="none" len="sm" w="sm"/>
            <a:tailEnd type="none" len="sm" w="sm"/>
          </a:ln>
        </p:spPr>
      </p:sp>
      <p:sp>
        <p:nvSpPr>
          <p:cNvPr name="AutoShape 7" id="7"/>
          <p:cNvSpPr/>
          <p:nvPr/>
        </p:nvSpPr>
        <p:spPr>
          <a:xfrm>
            <a:off x="1009650" y="7650336"/>
            <a:ext cx="16240125" cy="0"/>
          </a:xfrm>
          <a:prstGeom prst="line">
            <a:avLst/>
          </a:prstGeom>
          <a:ln cap="flat" w="19050">
            <a:solidFill>
              <a:srgbClr val="EBF29C"/>
            </a:solidFill>
            <a:prstDash val="solid"/>
            <a:headEnd type="none" len="sm" w="sm"/>
            <a:tailEnd type="none" len="sm" w="sm"/>
          </a:ln>
        </p:spPr>
      </p:sp>
      <p:sp>
        <p:nvSpPr>
          <p:cNvPr name="AutoShape 8" id="8"/>
          <p:cNvSpPr/>
          <p:nvPr/>
        </p:nvSpPr>
        <p:spPr>
          <a:xfrm flipV="true">
            <a:off x="1019175" y="0"/>
            <a:ext cx="0" cy="10287000"/>
          </a:xfrm>
          <a:prstGeom prst="line">
            <a:avLst/>
          </a:prstGeom>
          <a:ln cap="flat" w="19050">
            <a:solidFill>
              <a:srgbClr val="EBF29C"/>
            </a:solidFill>
            <a:prstDash val="solid"/>
            <a:headEnd type="none" len="sm" w="sm"/>
            <a:tailEnd type="none" len="sm" w="sm"/>
          </a:ln>
        </p:spPr>
      </p:sp>
      <p:sp>
        <p:nvSpPr>
          <p:cNvPr name="TextBox 9" id="9"/>
          <p:cNvSpPr txBox="true"/>
          <p:nvPr/>
        </p:nvSpPr>
        <p:spPr>
          <a:xfrm rot="0">
            <a:off x="3341609" y="1304925"/>
            <a:ext cx="11585732" cy="2244732"/>
          </a:xfrm>
          <a:prstGeom prst="rect">
            <a:avLst/>
          </a:prstGeom>
        </p:spPr>
        <p:txBody>
          <a:bodyPr anchor="t" rtlCol="false" tIns="0" lIns="0" bIns="0" rIns="0">
            <a:spAutoFit/>
          </a:bodyPr>
          <a:lstStyle/>
          <a:p>
            <a:pPr algn="ctr">
              <a:lnSpc>
                <a:spcPts val="7900"/>
              </a:lnSpc>
            </a:pPr>
            <a:r>
              <a:rPr lang="en-US" b="true" sz="10000" spc="-630">
                <a:solidFill>
                  <a:srgbClr val="EBF29C"/>
                </a:solidFill>
                <a:latin typeface="Telegraf Ultra-Bold"/>
                <a:ea typeface="Telegraf Ultra-Bold"/>
                <a:cs typeface="Telegraf Ultra-Bold"/>
                <a:sym typeface="Telegraf Ultra-Bold"/>
              </a:rPr>
              <a:t>PERFORMANCE OVERVIEW</a:t>
            </a:r>
          </a:p>
        </p:txBody>
      </p:sp>
      <p:sp>
        <p:nvSpPr>
          <p:cNvPr name="Freeform 10" id="10"/>
          <p:cNvSpPr/>
          <p:nvPr/>
        </p:nvSpPr>
        <p:spPr>
          <a:xfrm flipH="false" flipV="false" rot="0">
            <a:off x="694773" y="5583953"/>
            <a:ext cx="667854" cy="639926"/>
          </a:xfrm>
          <a:custGeom>
            <a:avLst/>
            <a:gdLst/>
            <a:ahLst/>
            <a:cxnLst/>
            <a:rect r="r" b="b" t="t" l="l"/>
            <a:pathLst>
              <a:path h="639926" w="667854">
                <a:moveTo>
                  <a:pt x="0" y="0"/>
                </a:moveTo>
                <a:lnTo>
                  <a:pt x="667854" y="0"/>
                </a:lnTo>
                <a:lnTo>
                  <a:pt x="667854" y="639926"/>
                </a:lnTo>
                <a:lnTo>
                  <a:pt x="0" y="6399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true" rot="0">
            <a:off x="16925373" y="5397173"/>
            <a:ext cx="667854" cy="639926"/>
          </a:xfrm>
          <a:custGeom>
            <a:avLst/>
            <a:gdLst/>
            <a:ahLst/>
            <a:cxnLst/>
            <a:rect r="r" b="b" t="t" l="l"/>
            <a:pathLst>
              <a:path h="639926" w="667854">
                <a:moveTo>
                  <a:pt x="0" y="639926"/>
                </a:moveTo>
                <a:lnTo>
                  <a:pt x="667854" y="639926"/>
                </a:lnTo>
                <a:lnTo>
                  <a:pt x="667854" y="0"/>
                </a:lnTo>
                <a:lnTo>
                  <a:pt x="0" y="0"/>
                </a:lnTo>
                <a:lnTo>
                  <a:pt x="0" y="63992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5808248" y="4151085"/>
            <a:ext cx="6652453" cy="617778"/>
          </a:xfrm>
          <a:prstGeom prst="rect">
            <a:avLst/>
          </a:prstGeom>
        </p:spPr>
        <p:txBody>
          <a:bodyPr anchor="t" rtlCol="false" tIns="0" lIns="0" bIns="0" rIns="0">
            <a:spAutoFit/>
          </a:bodyPr>
          <a:lstStyle/>
          <a:p>
            <a:pPr algn="ctr">
              <a:lnSpc>
                <a:spcPts val="4799"/>
              </a:lnSpc>
              <a:spcBef>
                <a:spcPct val="0"/>
              </a:spcBef>
            </a:pPr>
            <a:r>
              <a:rPr lang="en-US" b="true" sz="3428">
                <a:solidFill>
                  <a:srgbClr val="EBF29C"/>
                </a:solidFill>
                <a:latin typeface="Telegraf Bold"/>
                <a:ea typeface="Telegraf Bold"/>
                <a:cs typeface="Telegraf Bold"/>
                <a:sym typeface="Telegraf Bold"/>
              </a:rPr>
              <a:t>Key Performance Metrics</a:t>
            </a:r>
          </a:p>
        </p:txBody>
      </p:sp>
      <p:sp>
        <p:nvSpPr>
          <p:cNvPr name="TextBox 13" id="13"/>
          <p:cNvSpPr txBox="true"/>
          <p:nvPr/>
        </p:nvSpPr>
        <p:spPr>
          <a:xfrm rot="0">
            <a:off x="6550213" y="5097635"/>
            <a:ext cx="5168524" cy="2238377"/>
          </a:xfrm>
          <a:prstGeom prst="rect">
            <a:avLst/>
          </a:prstGeom>
        </p:spPr>
        <p:txBody>
          <a:bodyPr anchor="t" rtlCol="false" tIns="0" lIns="0" bIns="0" rIns="0">
            <a:spAutoFit/>
          </a:bodyPr>
          <a:lstStyle/>
          <a:p>
            <a:pPr algn="ctr">
              <a:lnSpc>
                <a:spcPts val="6224"/>
              </a:lnSpc>
            </a:pPr>
            <a:r>
              <a:rPr lang="en-US" sz="2499" spc="64">
                <a:solidFill>
                  <a:srgbClr val="EBF29C"/>
                </a:solidFill>
                <a:latin typeface="Inter Light"/>
                <a:ea typeface="Inter Light"/>
                <a:cs typeface="Inter Light"/>
                <a:sym typeface="Inter Light"/>
              </a:rPr>
              <a:t>Total Followers Growth: </a:t>
            </a:r>
            <a:r>
              <a:rPr lang="en-US" b="true" sz="2499" spc="64">
                <a:solidFill>
                  <a:srgbClr val="EBF29C"/>
                </a:solidFill>
                <a:latin typeface="Inter Bold"/>
                <a:ea typeface="Inter Bold"/>
                <a:cs typeface="Inter Bold"/>
                <a:sym typeface="Inter Bold"/>
              </a:rPr>
              <a:t>+15%</a:t>
            </a:r>
          </a:p>
          <a:p>
            <a:pPr algn="ctr">
              <a:lnSpc>
                <a:spcPts val="6224"/>
              </a:lnSpc>
            </a:pPr>
            <a:r>
              <a:rPr lang="en-US" sz="2499" spc="64">
                <a:solidFill>
                  <a:srgbClr val="EBF29C"/>
                </a:solidFill>
                <a:latin typeface="Inter Light"/>
                <a:ea typeface="Inter Light"/>
                <a:cs typeface="Inter Light"/>
                <a:sym typeface="Inter Light"/>
              </a:rPr>
              <a:t>Reach: </a:t>
            </a:r>
            <a:r>
              <a:rPr lang="en-US" b="true" sz="2499" spc="64">
                <a:solidFill>
                  <a:srgbClr val="EBF29C"/>
                </a:solidFill>
                <a:latin typeface="Inter Bold"/>
                <a:ea typeface="Inter Bold"/>
                <a:cs typeface="Inter Bold"/>
                <a:sym typeface="Inter Bold"/>
              </a:rPr>
              <a:t>1.2M Impressions</a:t>
            </a:r>
          </a:p>
          <a:p>
            <a:pPr algn="ctr">
              <a:lnSpc>
                <a:spcPts val="6224"/>
              </a:lnSpc>
            </a:pPr>
            <a:r>
              <a:rPr lang="en-US" sz="2499" spc="64">
                <a:solidFill>
                  <a:srgbClr val="EBF29C"/>
                </a:solidFill>
                <a:latin typeface="Inter Light"/>
                <a:ea typeface="Inter Light"/>
                <a:cs typeface="Inter Light"/>
                <a:sym typeface="Inter Light"/>
              </a:rPr>
              <a:t>Engagement Rate: </a:t>
            </a:r>
            <a:r>
              <a:rPr lang="en-US" b="true" sz="2499" spc="64">
                <a:solidFill>
                  <a:srgbClr val="EBF29C"/>
                </a:solidFill>
                <a:latin typeface="Inter Bold"/>
                <a:ea typeface="Inter Bold"/>
                <a:cs typeface="Inter Bold"/>
                <a:sym typeface="Inter Bold"/>
              </a:rPr>
              <a:t>8.7%</a:t>
            </a:r>
          </a:p>
        </p:txBody>
      </p:sp>
      <p:sp>
        <p:nvSpPr>
          <p:cNvPr name="TextBox 14" id="14"/>
          <p:cNvSpPr txBox="true"/>
          <p:nvPr/>
        </p:nvSpPr>
        <p:spPr>
          <a:xfrm rot="0">
            <a:off x="2726787" y="8204200"/>
            <a:ext cx="12834426" cy="1054100"/>
          </a:xfrm>
          <a:prstGeom prst="rect">
            <a:avLst/>
          </a:prstGeom>
        </p:spPr>
        <p:txBody>
          <a:bodyPr anchor="t" rtlCol="false" tIns="0" lIns="0" bIns="0" rIns="0">
            <a:spAutoFit/>
          </a:bodyPr>
          <a:lstStyle/>
          <a:p>
            <a:pPr algn="ctr">
              <a:lnSpc>
                <a:spcPts val="2800"/>
              </a:lnSpc>
              <a:spcBef>
                <a:spcPct val="0"/>
              </a:spcBef>
            </a:pPr>
            <a:r>
              <a:rPr lang="en-US" sz="2000" spc="52">
                <a:solidFill>
                  <a:srgbClr val="EBF29C"/>
                </a:solidFill>
                <a:latin typeface="Inter Light"/>
                <a:ea typeface="Inter Light"/>
                <a:cs typeface="Inter Light"/>
                <a:sym typeface="Inter Light"/>
              </a:rPr>
              <a:t>Lorem ipsum dolor sit amet, consectetur adipiscing elit. Sed vehicula sodales pellentesque. Morbi tempus rutrum auctor. Nam feugiat eget orci in fringilla. Aliquam tincidunt luctus justo, at semper libero euismod quis. Curabitur nec felis ipsum.</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2A2A2E"/>
        </a:solidFill>
      </p:bgPr>
    </p:bg>
    <p:spTree>
      <p:nvGrpSpPr>
        <p:cNvPr id="1" name=""/>
        <p:cNvGrpSpPr/>
        <p:nvPr/>
      </p:nvGrpSpPr>
      <p:grpSpPr>
        <a:xfrm>
          <a:off x="0" y="0"/>
          <a:ext cx="0" cy="0"/>
          <a:chOff x="0" y="0"/>
          <a:chExt cx="0" cy="0"/>
        </a:xfrm>
      </p:grpSpPr>
      <p:sp>
        <p:nvSpPr>
          <p:cNvPr name="AutoShape 2" id="2"/>
          <p:cNvSpPr/>
          <p:nvPr/>
        </p:nvSpPr>
        <p:spPr>
          <a:xfrm flipV="true">
            <a:off x="9153525" y="0"/>
            <a:ext cx="0" cy="10287000"/>
          </a:xfrm>
          <a:prstGeom prst="line">
            <a:avLst/>
          </a:prstGeom>
          <a:ln cap="flat" w="19050">
            <a:solidFill>
              <a:srgbClr val="EBF29C"/>
            </a:solidFill>
            <a:prstDash val="solid"/>
            <a:headEnd type="none" len="sm" w="sm"/>
            <a:tailEnd type="none" len="sm" w="sm"/>
          </a:ln>
        </p:spPr>
      </p:sp>
      <p:sp>
        <p:nvSpPr>
          <p:cNvPr name="AutoShape 3" id="3"/>
          <p:cNvSpPr/>
          <p:nvPr/>
        </p:nvSpPr>
        <p:spPr>
          <a:xfrm>
            <a:off x="9153525" y="1038225"/>
            <a:ext cx="9134475" cy="0"/>
          </a:xfrm>
          <a:prstGeom prst="line">
            <a:avLst/>
          </a:prstGeom>
          <a:ln cap="flat" w="19050">
            <a:solidFill>
              <a:srgbClr val="EBF29C"/>
            </a:solidFill>
            <a:prstDash val="solid"/>
            <a:headEnd type="none" len="sm" w="sm"/>
            <a:tailEnd type="none" len="sm" w="sm"/>
          </a:ln>
        </p:spPr>
      </p:sp>
      <p:sp>
        <p:nvSpPr>
          <p:cNvPr name="AutoShape 4" id="4"/>
          <p:cNvSpPr/>
          <p:nvPr/>
        </p:nvSpPr>
        <p:spPr>
          <a:xfrm>
            <a:off x="9153525" y="9267825"/>
            <a:ext cx="9134475" cy="0"/>
          </a:xfrm>
          <a:prstGeom prst="line">
            <a:avLst/>
          </a:prstGeom>
          <a:ln cap="flat" w="19050">
            <a:solidFill>
              <a:srgbClr val="EBF29C"/>
            </a:solidFill>
            <a:prstDash val="solid"/>
            <a:headEnd type="none" len="sm" w="sm"/>
            <a:tailEnd type="none" len="sm" w="sm"/>
          </a:ln>
        </p:spPr>
      </p:sp>
      <p:sp>
        <p:nvSpPr>
          <p:cNvPr name="AutoShape 5" id="5"/>
          <p:cNvSpPr/>
          <p:nvPr/>
        </p:nvSpPr>
        <p:spPr>
          <a:xfrm>
            <a:off x="9153525" y="5143500"/>
            <a:ext cx="9134475" cy="0"/>
          </a:xfrm>
          <a:prstGeom prst="line">
            <a:avLst/>
          </a:prstGeom>
          <a:ln cap="flat" w="19050">
            <a:solidFill>
              <a:srgbClr val="EBF29C"/>
            </a:solidFill>
            <a:prstDash val="solid"/>
            <a:headEnd type="none" len="sm" w="sm"/>
            <a:tailEnd type="none" len="sm" w="sm"/>
          </a:ln>
        </p:spPr>
      </p:sp>
      <p:sp>
        <p:nvSpPr>
          <p:cNvPr name="TextBox 6" id="6"/>
          <p:cNvSpPr txBox="true"/>
          <p:nvPr/>
        </p:nvSpPr>
        <p:spPr>
          <a:xfrm rot="0">
            <a:off x="1028700" y="1304925"/>
            <a:ext cx="7787771" cy="2244732"/>
          </a:xfrm>
          <a:prstGeom prst="rect">
            <a:avLst/>
          </a:prstGeom>
        </p:spPr>
        <p:txBody>
          <a:bodyPr anchor="t" rtlCol="false" tIns="0" lIns="0" bIns="0" rIns="0">
            <a:spAutoFit/>
          </a:bodyPr>
          <a:lstStyle/>
          <a:p>
            <a:pPr algn="l">
              <a:lnSpc>
                <a:spcPts val="7900"/>
              </a:lnSpc>
            </a:pPr>
            <a:r>
              <a:rPr lang="en-US" b="true" sz="10000" spc="-630">
                <a:solidFill>
                  <a:srgbClr val="EBF29C"/>
                </a:solidFill>
                <a:latin typeface="Telegraf Ultra-Bold"/>
                <a:ea typeface="Telegraf Ultra-Bold"/>
                <a:cs typeface="Telegraf Ultra-Bold"/>
                <a:sym typeface="Telegraf Ultra-Bold"/>
              </a:rPr>
              <a:t>AUDIENCE INSIGHTS</a:t>
            </a:r>
          </a:p>
        </p:txBody>
      </p:sp>
      <p:sp>
        <p:nvSpPr>
          <p:cNvPr name="Freeform 7" id="7"/>
          <p:cNvSpPr/>
          <p:nvPr/>
        </p:nvSpPr>
        <p:spPr>
          <a:xfrm flipH="false" flipV="true" rot="0">
            <a:off x="694773" y="4814362"/>
            <a:ext cx="667854" cy="639926"/>
          </a:xfrm>
          <a:custGeom>
            <a:avLst/>
            <a:gdLst/>
            <a:ahLst/>
            <a:cxnLst/>
            <a:rect r="r" b="b" t="t" l="l"/>
            <a:pathLst>
              <a:path h="639926" w="667854">
                <a:moveTo>
                  <a:pt x="0" y="639926"/>
                </a:moveTo>
                <a:lnTo>
                  <a:pt x="667854" y="639926"/>
                </a:lnTo>
                <a:lnTo>
                  <a:pt x="667854" y="0"/>
                </a:lnTo>
                <a:lnTo>
                  <a:pt x="0" y="0"/>
                </a:lnTo>
                <a:lnTo>
                  <a:pt x="0" y="63992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8" id="8"/>
          <p:cNvSpPr txBox="true"/>
          <p:nvPr/>
        </p:nvSpPr>
        <p:spPr>
          <a:xfrm rot="0">
            <a:off x="1028700" y="6614219"/>
            <a:ext cx="6652453" cy="617778"/>
          </a:xfrm>
          <a:prstGeom prst="rect">
            <a:avLst/>
          </a:prstGeom>
        </p:spPr>
        <p:txBody>
          <a:bodyPr anchor="t" rtlCol="false" tIns="0" lIns="0" bIns="0" rIns="0">
            <a:spAutoFit/>
          </a:bodyPr>
          <a:lstStyle/>
          <a:p>
            <a:pPr algn="l">
              <a:lnSpc>
                <a:spcPts val="4799"/>
              </a:lnSpc>
              <a:spcBef>
                <a:spcPct val="0"/>
              </a:spcBef>
            </a:pPr>
            <a:r>
              <a:rPr lang="en-US" sz="3428" b="true">
                <a:solidFill>
                  <a:srgbClr val="EBF29C"/>
                </a:solidFill>
                <a:latin typeface="Telegraf Bold"/>
                <a:ea typeface="Telegraf Bold"/>
                <a:cs typeface="Telegraf Bold"/>
                <a:sym typeface="Telegraf Bold"/>
              </a:rPr>
              <a:t>Understanding Our Audience</a:t>
            </a:r>
          </a:p>
        </p:txBody>
      </p:sp>
      <p:sp>
        <p:nvSpPr>
          <p:cNvPr name="TextBox 9" id="9"/>
          <p:cNvSpPr txBox="true"/>
          <p:nvPr/>
        </p:nvSpPr>
        <p:spPr>
          <a:xfrm rot="0">
            <a:off x="1028700" y="7499350"/>
            <a:ext cx="7002628" cy="1758950"/>
          </a:xfrm>
          <a:prstGeom prst="rect">
            <a:avLst/>
          </a:prstGeom>
        </p:spPr>
        <p:txBody>
          <a:bodyPr anchor="t" rtlCol="false" tIns="0" lIns="0" bIns="0" rIns="0">
            <a:spAutoFit/>
          </a:bodyPr>
          <a:lstStyle/>
          <a:p>
            <a:pPr algn="just">
              <a:lnSpc>
                <a:spcPts val="2800"/>
              </a:lnSpc>
              <a:spcBef>
                <a:spcPct val="0"/>
              </a:spcBef>
            </a:pPr>
            <a:r>
              <a:rPr lang="en-US" sz="2000" spc="52">
                <a:solidFill>
                  <a:srgbClr val="EBF29C"/>
                </a:solidFill>
                <a:latin typeface="Inter Light"/>
                <a:ea typeface="Inter Light"/>
                <a:cs typeface="Inter Light"/>
                <a:sym typeface="Inter Light"/>
              </a:rPr>
              <a:t>Lorem ipsum dolor sit amet, consectetur adipiscing elit. Sed vehicula sodales pellentesque. Morbi tempus rutrum auctor. Nam feugiat eget orci in fringilla. Aliquam tincidunt luctus justo, at semper libero euismod quis. Curabitur nec felis ipsum. </a:t>
            </a:r>
          </a:p>
        </p:txBody>
      </p:sp>
      <p:pic>
        <p:nvPicPr>
          <p:cNvPr name="Picture 10" id="10"/>
          <p:cNvPicPr>
            <a:picLocks noChangeAspect="true"/>
          </p:cNvPicPr>
          <p:nvPr/>
        </p:nvPicPr>
        <p:blipFill>
          <a:blip r:embed="rId4"/>
          <a:stretch>
            <a:fillRect/>
          </a:stretch>
        </p:blipFill>
        <p:spPr>
          <a:xfrm rot="0">
            <a:off x="9084485" y="1515936"/>
            <a:ext cx="9278899" cy="3744226"/>
          </a:xfrm>
          <a:prstGeom prst="rect">
            <a:avLst/>
          </a:prstGeom>
        </p:spPr>
      </p:pic>
      <p:pic>
        <p:nvPicPr>
          <p:cNvPr name="Picture 11" id="11"/>
          <p:cNvPicPr>
            <a:picLocks noChangeAspect="true"/>
          </p:cNvPicPr>
          <p:nvPr/>
        </p:nvPicPr>
        <p:blipFill>
          <a:blip r:embed="rId5"/>
          <a:stretch>
            <a:fillRect/>
          </a:stretch>
        </p:blipFill>
        <p:spPr>
          <a:xfrm rot="0">
            <a:off x="9178783" y="5497696"/>
            <a:ext cx="9176029" cy="3727081"/>
          </a:xfrm>
          <a:prstGeom prst="rect">
            <a:avLst/>
          </a:prstGeom>
        </p:spPr>
      </p:pic>
      <p:sp>
        <p:nvSpPr>
          <p:cNvPr name="TextBox 12" id="12"/>
          <p:cNvSpPr txBox="true"/>
          <p:nvPr/>
        </p:nvSpPr>
        <p:spPr>
          <a:xfrm rot="0">
            <a:off x="9857727" y="1363826"/>
            <a:ext cx="5168524" cy="676277"/>
          </a:xfrm>
          <a:prstGeom prst="rect">
            <a:avLst/>
          </a:prstGeom>
        </p:spPr>
        <p:txBody>
          <a:bodyPr anchor="t" rtlCol="false" tIns="0" lIns="0" bIns="0" rIns="0">
            <a:spAutoFit/>
          </a:bodyPr>
          <a:lstStyle/>
          <a:p>
            <a:pPr algn="l">
              <a:lnSpc>
                <a:spcPts val="6224"/>
              </a:lnSpc>
            </a:pPr>
            <a:r>
              <a:rPr lang="en-US" sz="2499" spc="-89" b="true">
                <a:solidFill>
                  <a:srgbClr val="EBF29C"/>
                </a:solidFill>
                <a:latin typeface="Inter Semi-Bold"/>
                <a:ea typeface="Inter Semi-Bold"/>
                <a:cs typeface="Inter Semi-Bold"/>
                <a:sym typeface="Inter Semi-Bold"/>
              </a:rPr>
              <a:t>Gender Distribution</a:t>
            </a:r>
          </a:p>
        </p:txBody>
      </p:sp>
      <p:sp>
        <p:nvSpPr>
          <p:cNvPr name="TextBox 13" id="13"/>
          <p:cNvSpPr txBox="true"/>
          <p:nvPr/>
        </p:nvSpPr>
        <p:spPr>
          <a:xfrm rot="0">
            <a:off x="9857727" y="5771827"/>
            <a:ext cx="5168524" cy="676277"/>
          </a:xfrm>
          <a:prstGeom prst="rect">
            <a:avLst/>
          </a:prstGeom>
        </p:spPr>
        <p:txBody>
          <a:bodyPr anchor="t" rtlCol="false" tIns="0" lIns="0" bIns="0" rIns="0">
            <a:spAutoFit/>
          </a:bodyPr>
          <a:lstStyle/>
          <a:p>
            <a:pPr algn="l">
              <a:lnSpc>
                <a:spcPts val="6224"/>
              </a:lnSpc>
            </a:pPr>
            <a:r>
              <a:rPr lang="en-US" sz="2499" spc="-89" b="true">
                <a:solidFill>
                  <a:srgbClr val="EBF29C"/>
                </a:solidFill>
                <a:latin typeface="Inter Semi-Bold"/>
                <a:ea typeface="Inter Semi-Bold"/>
                <a:cs typeface="Inter Semi-Bold"/>
                <a:sym typeface="Inter Semi-Bold"/>
              </a:rPr>
              <a:t>Age Groups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2A2A2E"/>
        </a:solidFill>
      </p:bgPr>
    </p:bg>
    <p:spTree>
      <p:nvGrpSpPr>
        <p:cNvPr id="1" name=""/>
        <p:cNvGrpSpPr/>
        <p:nvPr/>
      </p:nvGrpSpPr>
      <p:grpSpPr>
        <a:xfrm>
          <a:off x="0" y="0"/>
          <a:ext cx="0" cy="0"/>
          <a:chOff x="0" y="0"/>
          <a:chExt cx="0" cy="0"/>
        </a:xfrm>
      </p:grpSpPr>
      <p:sp>
        <p:nvSpPr>
          <p:cNvPr name="AutoShape 2" id="2"/>
          <p:cNvSpPr/>
          <p:nvPr/>
        </p:nvSpPr>
        <p:spPr>
          <a:xfrm flipV="true">
            <a:off x="17268825" y="0"/>
            <a:ext cx="0" cy="10287000"/>
          </a:xfrm>
          <a:prstGeom prst="line">
            <a:avLst/>
          </a:prstGeom>
          <a:ln cap="flat" w="19050">
            <a:solidFill>
              <a:srgbClr val="EBF29C"/>
            </a:solidFill>
            <a:prstDash val="solid"/>
            <a:headEnd type="none" len="sm" w="sm"/>
            <a:tailEnd type="none" len="sm" w="sm"/>
          </a:ln>
        </p:spPr>
      </p:sp>
      <p:sp>
        <p:nvSpPr>
          <p:cNvPr name="AutoShape 3" id="3"/>
          <p:cNvSpPr/>
          <p:nvPr/>
        </p:nvSpPr>
        <p:spPr>
          <a:xfrm flipV="true">
            <a:off x="1019175" y="0"/>
            <a:ext cx="0" cy="10287000"/>
          </a:xfrm>
          <a:prstGeom prst="line">
            <a:avLst/>
          </a:prstGeom>
          <a:ln cap="flat" w="19050">
            <a:solidFill>
              <a:srgbClr val="EBF29C"/>
            </a:solidFill>
            <a:prstDash val="solid"/>
            <a:headEnd type="none" len="sm" w="sm"/>
            <a:tailEnd type="none" len="sm" w="sm"/>
          </a:ln>
        </p:spPr>
      </p:sp>
      <p:sp>
        <p:nvSpPr>
          <p:cNvPr name="Freeform 4" id="4"/>
          <p:cNvSpPr/>
          <p:nvPr/>
        </p:nvSpPr>
        <p:spPr>
          <a:xfrm flipH="false" flipV="false" rot="0">
            <a:off x="694773" y="4001923"/>
            <a:ext cx="667854" cy="639926"/>
          </a:xfrm>
          <a:custGeom>
            <a:avLst/>
            <a:gdLst/>
            <a:ahLst/>
            <a:cxnLst/>
            <a:rect r="r" b="b" t="t" l="l"/>
            <a:pathLst>
              <a:path h="639926" w="667854">
                <a:moveTo>
                  <a:pt x="0" y="0"/>
                </a:moveTo>
                <a:lnTo>
                  <a:pt x="667854" y="0"/>
                </a:lnTo>
                <a:lnTo>
                  <a:pt x="667854" y="639926"/>
                </a:lnTo>
                <a:lnTo>
                  <a:pt x="0" y="6399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0">
            <a:off x="16925373" y="8459684"/>
            <a:ext cx="667854" cy="639926"/>
          </a:xfrm>
          <a:custGeom>
            <a:avLst/>
            <a:gdLst/>
            <a:ahLst/>
            <a:cxnLst/>
            <a:rect r="r" b="b" t="t" l="l"/>
            <a:pathLst>
              <a:path h="639926" w="667854">
                <a:moveTo>
                  <a:pt x="0" y="639925"/>
                </a:moveTo>
                <a:lnTo>
                  <a:pt x="667854" y="639925"/>
                </a:lnTo>
                <a:lnTo>
                  <a:pt x="667854" y="0"/>
                </a:lnTo>
                <a:lnTo>
                  <a:pt x="0" y="0"/>
                </a:lnTo>
                <a:lnTo>
                  <a:pt x="0" y="63992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3360659" y="1334204"/>
            <a:ext cx="11585732" cy="2244732"/>
          </a:xfrm>
          <a:prstGeom prst="rect">
            <a:avLst/>
          </a:prstGeom>
        </p:spPr>
        <p:txBody>
          <a:bodyPr anchor="t" rtlCol="false" tIns="0" lIns="0" bIns="0" rIns="0">
            <a:spAutoFit/>
          </a:bodyPr>
          <a:lstStyle/>
          <a:p>
            <a:pPr algn="ctr">
              <a:lnSpc>
                <a:spcPts val="7900"/>
              </a:lnSpc>
            </a:pPr>
            <a:r>
              <a:rPr lang="en-US" b="true" sz="10000" spc="-630">
                <a:solidFill>
                  <a:srgbClr val="EBF29C"/>
                </a:solidFill>
                <a:latin typeface="Telegraf Ultra-Bold"/>
                <a:ea typeface="Telegraf Ultra-Bold"/>
                <a:cs typeface="Telegraf Ultra-Bold"/>
                <a:sym typeface="Telegraf Ultra-Bold"/>
              </a:rPr>
              <a:t> ENGAGEMENT METRICS</a:t>
            </a:r>
          </a:p>
        </p:txBody>
      </p:sp>
      <p:sp>
        <p:nvSpPr>
          <p:cNvPr name="TextBox 7" id="7"/>
          <p:cNvSpPr txBox="true"/>
          <p:nvPr/>
        </p:nvSpPr>
        <p:spPr>
          <a:xfrm rot="0">
            <a:off x="4407109" y="4548793"/>
            <a:ext cx="9473782" cy="617778"/>
          </a:xfrm>
          <a:prstGeom prst="rect">
            <a:avLst/>
          </a:prstGeom>
        </p:spPr>
        <p:txBody>
          <a:bodyPr anchor="t" rtlCol="false" tIns="0" lIns="0" bIns="0" rIns="0">
            <a:spAutoFit/>
          </a:bodyPr>
          <a:lstStyle/>
          <a:p>
            <a:pPr algn="ctr">
              <a:lnSpc>
                <a:spcPts val="4799"/>
              </a:lnSpc>
              <a:spcBef>
                <a:spcPct val="0"/>
              </a:spcBef>
            </a:pPr>
            <a:r>
              <a:rPr lang="en-US" b="true" sz="3428">
                <a:solidFill>
                  <a:srgbClr val="EBF29C"/>
                </a:solidFill>
                <a:latin typeface="Telegraf Bold"/>
                <a:ea typeface="Telegraf Bold"/>
                <a:cs typeface="Telegraf Bold"/>
                <a:sym typeface="Telegraf Bold"/>
              </a:rPr>
              <a:t>Engagement Breakdown per Platform</a:t>
            </a:r>
          </a:p>
        </p:txBody>
      </p:sp>
      <p:sp>
        <p:nvSpPr>
          <p:cNvPr name="AutoShape 8" id="8"/>
          <p:cNvSpPr/>
          <p:nvPr/>
        </p:nvSpPr>
        <p:spPr>
          <a:xfrm>
            <a:off x="1019175" y="4321886"/>
            <a:ext cx="16240125" cy="0"/>
          </a:xfrm>
          <a:prstGeom prst="line">
            <a:avLst/>
          </a:prstGeom>
          <a:ln cap="flat" w="19050">
            <a:solidFill>
              <a:srgbClr val="EBF29C"/>
            </a:solidFill>
            <a:prstDash val="solid"/>
            <a:headEnd type="none" len="sm" w="sm"/>
            <a:tailEnd type="none" len="sm" w="sm"/>
          </a:ln>
        </p:spPr>
      </p:sp>
      <p:sp>
        <p:nvSpPr>
          <p:cNvPr name="AutoShape 9" id="9"/>
          <p:cNvSpPr/>
          <p:nvPr/>
        </p:nvSpPr>
        <p:spPr>
          <a:xfrm>
            <a:off x="1019175" y="5481157"/>
            <a:ext cx="16240125" cy="0"/>
          </a:xfrm>
          <a:prstGeom prst="line">
            <a:avLst/>
          </a:prstGeom>
          <a:ln cap="flat" w="19050">
            <a:solidFill>
              <a:srgbClr val="EBF29C"/>
            </a:solidFill>
            <a:prstDash val="solid"/>
            <a:headEnd type="none" len="sm" w="sm"/>
            <a:tailEnd type="none" len="sm" w="sm"/>
          </a:ln>
        </p:spPr>
      </p:sp>
      <p:sp>
        <p:nvSpPr>
          <p:cNvPr name="TextBox 10" id="10"/>
          <p:cNvSpPr txBox="true"/>
          <p:nvPr/>
        </p:nvSpPr>
        <p:spPr>
          <a:xfrm rot="0">
            <a:off x="1778286" y="5405333"/>
            <a:ext cx="5751777" cy="3054350"/>
          </a:xfrm>
          <a:prstGeom prst="rect">
            <a:avLst/>
          </a:prstGeom>
        </p:spPr>
        <p:txBody>
          <a:bodyPr anchor="t" rtlCol="false" tIns="0" lIns="0" bIns="0" rIns="0">
            <a:spAutoFit/>
          </a:bodyPr>
          <a:lstStyle/>
          <a:p>
            <a:pPr algn="l">
              <a:lnSpc>
                <a:spcPts val="6249"/>
              </a:lnSpc>
            </a:pPr>
            <a:r>
              <a:rPr lang="en-US" sz="2499" spc="64">
                <a:solidFill>
                  <a:srgbClr val="EBF29C"/>
                </a:solidFill>
                <a:latin typeface="Inter Light"/>
                <a:ea typeface="Inter Light"/>
                <a:cs typeface="Inter Light"/>
                <a:sym typeface="Inter Light"/>
              </a:rPr>
              <a:t>Platform A</a:t>
            </a:r>
            <a:r>
              <a:rPr lang="en-US" sz="2499" spc="64">
                <a:solidFill>
                  <a:srgbClr val="EBF29C"/>
                </a:solidFill>
                <a:latin typeface="Inter Light"/>
                <a:ea typeface="Inter Light"/>
                <a:cs typeface="Inter Light"/>
                <a:sym typeface="Inter Light"/>
              </a:rPr>
              <a:t>: </a:t>
            </a:r>
            <a:r>
              <a:rPr lang="en-US" b="true" sz="2499" spc="64">
                <a:solidFill>
                  <a:srgbClr val="EBF29C"/>
                </a:solidFill>
                <a:latin typeface="Inter Bold"/>
                <a:ea typeface="Inter Bold"/>
                <a:cs typeface="Inter Bold"/>
                <a:sym typeface="Inter Bold"/>
              </a:rPr>
              <a:t>10.5% Engagement Rate</a:t>
            </a:r>
          </a:p>
          <a:p>
            <a:pPr algn="l">
              <a:lnSpc>
                <a:spcPts val="6249"/>
              </a:lnSpc>
            </a:pPr>
            <a:r>
              <a:rPr lang="en-US" sz="2499" spc="64">
                <a:solidFill>
                  <a:srgbClr val="EBF29C"/>
                </a:solidFill>
                <a:latin typeface="Inter Light"/>
                <a:ea typeface="Inter Light"/>
                <a:cs typeface="Inter Light"/>
                <a:sym typeface="Inter Light"/>
              </a:rPr>
              <a:t>Platform B: </a:t>
            </a:r>
            <a:r>
              <a:rPr lang="en-US" b="true" sz="2499" spc="64">
                <a:solidFill>
                  <a:srgbClr val="EBF29C"/>
                </a:solidFill>
                <a:latin typeface="Inter Bold"/>
                <a:ea typeface="Inter Bold"/>
                <a:cs typeface="Inter Bold"/>
                <a:sym typeface="Inter Bold"/>
              </a:rPr>
              <a:t>7.2% Engagement Rate</a:t>
            </a:r>
          </a:p>
          <a:p>
            <a:pPr algn="l">
              <a:lnSpc>
                <a:spcPts val="6249"/>
              </a:lnSpc>
            </a:pPr>
            <a:r>
              <a:rPr lang="en-US" sz="2499" spc="64">
                <a:solidFill>
                  <a:srgbClr val="EBF29C"/>
                </a:solidFill>
                <a:latin typeface="Inter Light"/>
                <a:ea typeface="Inter Light"/>
                <a:cs typeface="Inter Light"/>
                <a:sym typeface="Inter Light"/>
              </a:rPr>
              <a:t>Platform C: </a:t>
            </a:r>
            <a:r>
              <a:rPr lang="en-US" b="true" sz="2499" spc="64">
                <a:solidFill>
                  <a:srgbClr val="EBF29C"/>
                </a:solidFill>
                <a:latin typeface="Inter Bold"/>
                <a:ea typeface="Inter Bold"/>
                <a:cs typeface="Inter Bold"/>
                <a:sym typeface="Inter Bold"/>
              </a:rPr>
              <a:t>5.8% Engagement Rate</a:t>
            </a:r>
          </a:p>
          <a:p>
            <a:pPr algn="l">
              <a:lnSpc>
                <a:spcPts val="6249"/>
              </a:lnSpc>
            </a:pPr>
            <a:r>
              <a:rPr lang="en-US" sz="2499" spc="64">
                <a:solidFill>
                  <a:srgbClr val="EBF29C"/>
                </a:solidFill>
                <a:latin typeface="Inter Light"/>
                <a:ea typeface="Inter Light"/>
                <a:cs typeface="Inter Light"/>
                <a:sym typeface="Inter Light"/>
              </a:rPr>
              <a:t>Platform D: </a:t>
            </a:r>
            <a:r>
              <a:rPr lang="en-US" b="true" sz="2499" spc="64">
                <a:solidFill>
                  <a:srgbClr val="EBF29C"/>
                </a:solidFill>
                <a:latin typeface="Inter Bold"/>
                <a:ea typeface="Inter Bold"/>
                <a:cs typeface="Inter Bold"/>
                <a:sym typeface="Inter Bold"/>
              </a:rPr>
              <a:t>6.1% Engagement Rate</a:t>
            </a:r>
          </a:p>
        </p:txBody>
      </p:sp>
      <p:sp>
        <p:nvSpPr>
          <p:cNvPr name="AutoShape 11" id="11"/>
          <p:cNvSpPr/>
          <p:nvPr/>
        </p:nvSpPr>
        <p:spPr>
          <a:xfrm>
            <a:off x="1023937" y="6341924"/>
            <a:ext cx="8120062" cy="0"/>
          </a:xfrm>
          <a:prstGeom prst="line">
            <a:avLst/>
          </a:prstGeom>
          <a:ln cap="flat" w="19050">
            <a:solidFill>
              <a:srgbClr val="EBF29C"/>
            </a:solidFill>
            <a:prstDash val="solid"/>
            <a:headEnd type="none" len="sm" w="sm"/>
            <a:tailEnd type="none" len="sm" w="sm"/>
          </a:ln>
        </p:spPr>
      </p:sp>
      <p:sp>
        <p:nvSpPr>
          <p:cNvPr name="AutoShape 12" id="12"/>
          <p:cNvSpPr/>
          <p:nvPr/>
        </p:nvSpPr>
        <p:spPr>
          <a:xfrm flipV="true">
            <a:off x="9153525" y="5494560"/>
            <a:ext cx="0" cy="4754340"/>
          </a:xfrm>
          <a:prstGeom prst="line">
            <a:avLst/>
          </a:prstGeom>
          <a:ln cap="flat" w="19050">
            <a:solidFill>
              <a:srgbClr val="EBF29C"/>
            </a:solidFill>
            <a:prstDash val="solid"/>
            <a:headEnd type="none" len="sm" w="sm"/>
            <a:tailEnd type="none" len="sm" w="sm"/>
          </a:ln>
        </p:spPr>
      </p:sp>
      <p:sp>
        <p:nvSpPr>
          <p:cNvPr name="AutoShape 13" id="13"/>
          <p:cNvSpPr/>
          <p:nvPr/>
        </p:nvSpPr>
        <p:spPr>
          <a:xfrm>
            <a:off x="1023938" y="7108338"/>
            <a:ext cx="8120062" cy="0"/>
          </a:xfrm>
          <a:prstGeom prst="line">
            <a:avLst/>
          </a:prstGeom>
          <a:ln cap="flat" w="19050">
            <a:solidFill>
              <a:srgbClr val="EBF29C"/>
            </a:solidFill>
            <a:prstDash val="solid"/>
            <a:headEnd type="none" len="sm" w="sm"/>
            <a:tailEnd type="none" len="sm" w="sm"/>
          </a:ln>
        </p:spPr>
      </p:sp>
      <p:sp>
        <p:nvSpPr>
          <p:cNvPr name="AutoShape 14" id="14"/>
          <p:cNvSpPr/>
          <p:nvPr/>
        </p:nvSpPr>
        <p:spPr>
          <a:xfrm>
            <a:off x="1023938" y="7937013"/>
            <a:ext cx="8120062" cy="0"/>
          </a:xfrm>
          <a:prstGeom prst="line">
            <a:avLst/>
          </a:prstGeom>
          <a:ln cap="flat" w="19050">
            <a:solidFill>
              <a:srgbClr val="EBF29C"/>
            </a:solidFill>
            <a:prstDash val="solid"/>
            <a:headEnd type="none" len="sm" w="sm"/>
            <a:tailEnd type="none" len="sm" w="sm"/>
          </a:ln>
        </p:spPr>
      </p:sp>
      <p:sp>
        <p:nvSpPr>
          <p:cNvPr name="AutoShape 15" id="15"/>
          <p:cNvSpPr/>
          <p:nvPr/>
        </p:nvSpPr>
        <p:spPr>
          <a:xfrm>
            <a:off x="1019175" y="8793059"/>
            <a:ext cx="16240125" cy="0"/>
          </a:xfrm>
          <a:prstGeom prst="line">
            <a:avLst/>
          </a:prstGeom>
          <a:ln cap="flat" w="19050">
            <a:solidFill>
              <a:srgbClr val="EBF29C"/>
            </a:solidFill>
            <a:prstDash val="solid"/>
            <a:headEnd type="none" len="sm" w="sm"/>
            <a:tailEnd type="none" len="sm" w="sm"/>
          </a:ln>
        </p:spPr>
      </p:sp>
      <p:sp>
        <p:nvSpPr>
          <p:cNvPr name="TextBox 16" id="16"/>
          <p:cNvSpPr txBox="true"/>
          <p:nvPr/>
        </p:nvSpPr>
        <p:spPr>
          <a:xfrm rot="0">
            <a:off x="9859916" y="6294299"/>
            <a:ext cx="6702518" cy="1758950"/>
          </a:xfrm>
          <a:prstGeom prst="rect">
            <a:avLst/>
          </a:prstGeom>
        </p:spPr>
        <p:txBody>
          <a:bodyPr anchor="t" rtlCol="false" tIns="0" lIns="0" bIns="0" rIns="0">
            <a:spAutoFit/>
          </a:bodyPr>
          <a:lstStyle/>
          <a:p>
            <a:pPr algn="just">
              <a:lnSpc>
                <a:spcPts val="2800"/>
              </a:lnSpc>
              <a:spcBef>
                <a:spcPct val="0"/>
              </a:spcBef>
            </a:pPr>
            <a:r>
              <a:rPr lang="en-US" sz="2000" spc="52">
                <a:solidFill>
                  <a:srgbClr val="EBF29C"/>
                </a:solidFill>
                <a:latin typeface="Inter Light"/>
                <a:ea typeface="Inter Light"/>
                <a:cs typeface="Inter Light"/>
                <a:sym typeface="Inter Light"/>
              </a:rPr>
              <a:t>Lorem ipsum dolor sit amet, consectetur adipiscing elit. Sed vehicula sodales pellentesque. Morbi tempus rutrum auctor. Nam feugiat eget orci in fringilla. Aliquam tincidunt luctus justo, at semper libero euismod quis. Curabitur nec felis ipsum.</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2A2A2E"/>
        </a:solidFill>
      </p:bgPr>
    </p:bg>
    <p:spTree>
      <p:nvGrpSpPr>
        <p:cNvPr id="1" name=""/>
        <p:cNvGrpSpPr/>
        <p:nvPr/>
      </p:nvGrpSpPr>
      <p:grpSpPr>
        <a:xfrm>
          <a:off x="0" y="0"/>
          <a:ext cx="0" cy="0"/>
          <a:chOff x="0" y="0"/>
          <a:chExt cx="0" cy="0"/>
        </a:xfrm>
      </p:grpSpPr>
      <p:sp>
        <p:nvSpPr>
          <p:cNvPr name="AutoShape 2" id="2"/>
          <p:cNvSpPr/>
          <p:nvPr/>
        </p:nvSpPr>
        <p:spPr>
          <a:xfrm flipV="true">
            <a:off x="17268825" y="0"/>
            <a:ext cx="0" cy="10287000"/>
          </a:xfrm>
          <a:prstGeom prst="line">
            <a:avLst/>
          </a:prstGeom>
          <a:ln cap="flat" w="19050">
            <a:solidFill>
              <a:srgbClr val="EBF29C"/>
            </a:solidFill>
            <a:prstDash val="solid"/>
            <a:headEnd type="none" len="sm" w="sm"/>
            <a:tailEnd type="none" len="sm" w="sm"/>
          </a:ln>
        </p:spPr>
      </p:sp>
      <p:sp>
        <p:nvSpPr>
          <p:cNvPr name="AutoShape 3" id="3"/>
          <p:cNvSpPr/>
          <p:nvPr/>
        </p:nvSpPr>
        <p:spPr>
          <a:xfrm flipV="true">
            <a:off x="1019175" y="0"/>
            <a:ext cx="0" cy="10287000"/>
          </a:xfrm>
          <a:prstGeom prst="line">
            <a:avLst/>
          </a:prstGeom>
          <a:ln cap="flat" w="19050">
            <a:solidFill>
              <a:srgbClr val="EBF29C"/>
            </a:solidFill>
            <a:prstDash val="solid"/>
            <a:headEnd type="none" len="sm" w="sm"/>
            <a:tailEnd type="none" len="sm" w="sm"/>
          </a:ln>
        </p:spPr>
      </p:sp>
      <p:sp>
        <p:nvSpPr>
          <p:cNvPr name="Freeform 4" id="4"/>
          <p:cNvSpPr/>
          <p:nvPr/>
        </p:nvSpPr>
        <p:spPr>
          <a:xfrm flipH="false" flipV="false" rot="0">
            <a:off x="685248" y="4637695"/>
            <a:ext cx="667854" cy="639926"/>
          </a:xfrm>
          <a:custGeom>
            <a:avLst/>
            <a:gdLst/>
            <a:ahLst/>
            <a:cxnLst/>
            <a:rect r="r" b="b" t="t" l="l"/>
            <a:pathLst>
              <a:path h="639926" w="667854">
                <a:moveTo>
                  <a:pt x="0" y="0"/>
                </a:moveTo>
                <a:lnTo>
                  <a:pt x="667854" y="0"/>
                </a:lnTo>
                <a:lnTo>
                  <a:pt x="667854" y="639926"/>
                </a:lnTo>
                <a:lnTo>
                  <a:pt x="0" y="6399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0">
            <a:off x="16925373" y="4637695"/>
            <a:ext cx="667854" cy="639926"/>
          </a:xfrm>
          <a:custGeom>
            <a:avLst/>
            <a:gdLst/>
            <a:ahLst/>
            <a:cxnLst/>
            <a:rect r="r" b="b" t="t" l="l"/>
            <a:pathLst>
              <a:path h="639926" w="667854">
                <a:moveTo>
                  <a:pt x="0" y="639926"/>
                </a:moveTo>
                <a:lnTo>
                  <a:pt x="667854" y="639926"/>
                </a:lnTo>
                <a:lnTo>
                  <a:pt x="667854" y="0"/>
                </a:lnTo>
                <a:lnTo>
                  <a:pt x="0" y="0"/>
                </a:lnTo>
                <a:lnTo>
                  <a:pt x="0" y="63992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3741779" y="1165158"/>
            <a:ext cx="10804441" cy="3244857"/>
          </a:xfrm>
          <a:prstGeom prst="rect">
            <a:avLst/>
          </a:prstGeom>
        </p:spPr>
        <p:txBody>
          <a:bodyPr anchor="t" rtlCol="false" tIns="0" lIns="0" bIns="0" rIns="0">
            <a:spAutoFit/>
          </a:bodyPr>
          <a:lstStyle/>
          <a:p>
            <a:pPr algn="ctr">
              <a:lnSpc>
                <a:spcPts val="7900"/>
              </a:lnSpc>
            </a:pPr>
            <a:r>
              <a:rPr lang="en-US" b="true" sz="10000" spc="-630">
                <a:solidFill>
                  <a:srgbClr val="EBF29C"/>
                </a:solidFill>
                <a:latin typeface="Telegraf Ultra-Bold"/>
                <a:ea typeface="Telegraf Ultra-Bold"/>
                <a:cs typeface="Telegraf Ultra-Bold"/>
                <a:sym typeface="Telegraf Ultra-Bold"/>
              </a:rPr>
              <a:t>TOP PERFORMING CONTENT</a:t>
            </a:r>
          </a:p>
        </p:txBody>
      </p:sp>
      <p:sp>
        <p:nvSpPr>
          <p:cNvPr name="AutoShape 7" id="7"/>
          <p:cNvSpPr/>
          <p:nvPr/>
        </p:nvSpPr>
        <p:spPr>
          <a:xfrm>
            <a:off x="1042988" y="4980862"/>
            <a:ext cx="16240125" cy="0"/>
          </a:xfrm>
          <a:prstGeom prst="line">
            <a:avLst/>
          </a:prstGeom>
          <a:ln cap="flat" w="19050">
            <a:solidFill>
              <a:srgbClr val="EBF29C"/>
            </a:solidFill>
            <a:prstDash val="solid"/>
            <a:headEnd type="none" len="sm" w="sm"/>
            <a:tailEnd type="none" len="sm" w="sm"/>
          </a:ln>
        </p:spPr>
      </p:sp>
      <p:sp>
        <p:nvSpPr>
          <p:cNvPr name="TextBox 8" id="8"/>
          <p:cNvSpPr txBox="true"/>
          <p:nvPr/>
        </p:nvSpPr>
        <p:spPr>
          <a:xfrm rot="0">
            <a:off x="4416634" y="5153727"/>
            <a:ext cx="9473782" cy="617778"/>
          </a:xfrm>
          <a:prstGeom prst="rect">
            <a:avLst/>
          </a:prstGeom>
        </p:spPr>
        <p:txBody>
          <a:bodyPr anchor="t" rtlCol="false" tIns="0" lIns="0" bIns="0" rIns="0">
            <a:spAutoFit/>
          </a:bodyPr>
          <a:lstStyle/>
          <a:p>
            <a:pPr algn="ctr">
              <a:lnSpc>
                <a:spcPts val="4799"/>
              </a:lnSpc>
              <a:spcBef>
                <a:spcPct val="0"/>
              </a:spcBef>
            </a:pPr>
            <a:r>
              <a:rPr lang="en-US" b="true" sz="3428">
                <a:solidFill>
                  <a:srgbClr val="EBF29C"/>
                </a:solidFill>
                <a:latin typeface="Telegraf Bold"/>
                <a:ea typeface="Telegraf Bold"/>
                <a:cs typeface="Telegraf Bold"/>
                <a:sym typeface="Telegraf Bold"/>
              </a:rPr>
              <a:t> Highlight of Best Posts</a:t>
            </a:r>
          </a:p>
        </p:txBody>
      </p:sp>
      <p:sp>
        <p:nvSpPr>
          <p:cNvPr name="TextBox 9" id="9"/>
          <p:cNvSpPr txBox="true"/>
          <p:nvPr/>
        </p:nvSpPr>
        <p:spPr>
          <a:xfrm rot="0">
            <a:off x="4172491" y="5969059"/>
            <a:ext cx="9962068" cy="3054350"/>
          </a:xfrm>
          <a:prstGeom prst="rect">
            <a:avLst/>
          </a:prstGeom>
        </p:spPr>
        <p:txBody>
          <a:bodyPr anchor="t" rtlCol="false" tIns="0" lIns="0" bIns="0" rIns="0">
            <a:spAutoFit/>
          </a:bodyPr>
          <a:lstStyle/>
          <a:p>
            <a:pPr algn="ctr">
              <a:lnSpc>
                <a:spcPts val="6249"/>
              </a:lnSpc>
            </a:pPr>
            <a:r>
              <a:rPr lang="en-US" sz="2499" spc="64">
                <a:solidFill>
                  <a:srgbClr val="EBF29C"/>
                </a:solidFill>
                <a:latin typeface="Inter Light"/>
                <a:ea typeface="Inter Light"/>
                <a:cs typeface="Inter Light"/>
                <a:sym typeface="Inter Light"/>
              </a:rPr>
              <a:t>Platform A</a:t>
            </a:r>
            <a:r>
              <a:rPr lang="en-US" sz="2499" spc="64">
                <a:solidFill>
                  <a:srgbClr val="EBF29C"/>
                </a:solidFill>
                <a:latin typeface="Inter Light"/>
                <a:ea typeface="Inter Light"/>
                <a:cs typeface="Inter Light"/>
                <a:sym typeface="Inter Light"/>
              </a:rPr>
              <a:t>: </a:t>
            </a:r>
            <a:r>
              <a:rPr lang="en-US" b="true" sz="2499" spc="64">
                <a:solidFill>
                  <a:srgbClr val="EBF29C"/>
                </a:solidFill>
                <a:latin typeface="Inter Bold"/>
                <a:ea typeface="Inter Bold"/>
                <a:cs typeface="Inter Bold"/>
                <a:sym typeface="Inter Bold"/>
              </a:rPr>
              <a:t>250K Views</a:t>
            </a:r>
          </a:p>
          <a:p>
            <a:pPr algn="ctr">
              <a:lnSpc>
                <a:spcPts val="6249"/>
              </a:lnSpc>
            </a:pPr>
            <a:r>
              <a:rPr lang="en-US" sz="2499" spc="64">
                <a:solidFill>
                  <a:srgbClr val="EBF29C"/>
                </a:solidFill>
                <a:latin typeface="Inter Light"/>
                <a:ea typeface="Inter Light"/>
                <a:cs typeface="Inter Light"/>
                <a:sym typeface="Inter Light"/>
              </a:rPr>
              <a:t>Platform B: </a:t>
            </a:r>
            <a:r>
              <a:rPr lang="en-US" b="true" sz="2499" spc="64">
                <a:solidFill>
                  <a:srgbClr val="EBF29C"/>
                </a:solidFill>
                <a:latin typeface="Inter Bold"/>
                <a:ea typeface="Inter Bold"/>
                <a:cs typeface="Inter Bold"/>
                <a:sym typeface="Inter Bold"/>
              </a:rPr>
              <a:t>Poll With 1.5K Votes</a:t>
            </a:r>
          </a:p>
          <a:p>
            <a:pPr algn="ctr">
              <a:lnSpc>
                <a:spcPts val="6249"/>
              </a:lnSpc>
            </a:pPr>
            <a:r>
              <a:rPr lang="en-US" sz="2499" spc="64">
                <a:solidFill>
                  <a:srgbClr val="EBF29C"/>
                </a:solidFill>
                <a:latin typeface="Inter Light"/>
                <a:ea typeface="Inter Light"/>
                <a:cs typeface="Inter Light"/>
                <a:sym typeface="Inter Light"/>
              </a:rPr>
              <a:t>Platform C: </a:t>
            </a:r>
            <a:r>
              <a:rPr lang="en-US" b="true" sz="2499" spc="64">
                <a:solidFill>
                  <a:srgbClr val="EBF29C"/>
                </a:solidFill>
                <a:latin typeface="Inter Bold"/>
                <a:ea typeface="Inter Bold"/>
                <a:cs typeface="Inter Bold"/>
                <a:sym typeface="Inter Bold"/>
              </a:rPr>
              <a:t>Giveaway Post - 5K Shares</a:t>
            </a:r>
          </a:p>
          <a:p>
            <a:pPr algn="ctr">
              <a:lnSpc>
                <a:spcPts val="6249"/>
              </a:lnSpc>
            </a:pPr>
            <a:r>
              <a:rPr lang="en-US" sz="2499" spc="64">
                <a:solidFill>
                  <a:srgbClr val="EBF29C"/>
                </a:solidFill>
                <a:latin typeface="Inter Light"/>
                <a:ea typeface="Inter Light"/>
                <a:cs typeface="Inter Light"/>
                <a:sym typeface="Inter Light"/>
              </a:rPr>
              <a:t>Platform D: </a:t>
            </a:r>
            <a:r>
              <a:rPr lang="en-US" b="true" sz="2499" spc="64">
                <a:solidFill>
                  <a:srgbClr val="EBF29C"/>
                </a:solidFill>
                <a:latin typeface="Inter Bold"/>
                <a:ea typeface="Inter Bold"/>
                <a:cs typeface="Inter Bold"/>
                <a:sym typeface="Inter Bold"/>
              </a:rPr>
              <a:t>Case Study Post - 1.2K Reactions</a:t>
            </a:r>
          </a:p>
        </p:txBody>
      </p:sp>
      <p:sp>
        <p:nvSpPr>
          <p:cNvPr name="AutoShape 10" id="10"/>
          <p:cNvSpPr/>
          <p:nvPr/>
        </p:nvSpPr>
        <p:spPr>
          <a:xfrm>
            <a:off x="1028700" y="6049146"/>
            <a:ext cx="16240125" cy="0"/>
          </a:xfrm>
          <a:prstGeom prst="line">
            <a:avLst/>
          </a:prstGeom>
          <a:ln cap="flat" w="19050">
            <a:solidFill>
              <a:srgbClr val="EBF29C"/>
            </a:solidFill>
            <a:prstDash val="solid"/>
            <a:headEnd type="none" len="sm" w="sm"/>
            <a:tailEnd type="none" len="sm" w="sm"/>
          </a:ln>
        </p:spPr>
      </p:sp>
      <p:sp>
        <p:nvSpPr>
          <p:cNvPr name="AutoShape 11" id="11"/>
          <p:cNvSpPr/>
          <p:nvPr/>
        </p:nvSpPr>
        <p:spPr>
          <a:xfrm>
            <a:off x="1042988" y="6830196"/>
            <a:ext cx="16240125" cy="0"/>
          </a:xfrm>
          <a:prstGeom prst="line">
            <a:avLst/>
          </a:prstGeom>
          <a:ln cap="flat" w="19050">
            <a:solidFill>
              <a:srgbClr val="EBF29C"/>
            </a:solidFill>
            <a:prstDash val="solid"/>
            <a:headEnd type="none" len="sm" w="sm"/>
            <a:tailEnd type="none" len="sm" w="sm"/>
          </a:ln>
        </p:spPr>
      </p:sp>
      <p:sp>
        <p:nvSpPr>
          <p:cNvPr name="AutoShape 12" id="12"/>
          <p:cNvSpPr/>
          <p:nvPr/>
        </p:nvSpPr>
        <p:spPr>
          <a:xfrm>
            <a:off x="1019175" y="7639109"/>
            <a:ext cx="16240125" cy="0"/>
          </a:xfrm>
          <a:prstGeom prst="line">
            <a:avLst/>
          </a:prstGeom>
          <a:ln cap="flat" w="19050">
            <a:solidFill>
              <a:srgbClr val="EBF29C"/>
            </a:solidFill>
            <a:prstDash val="solid"/>
            <a:headEnd type="none" len="sm" w="sm"/>
            <a:tailEnd type="none" len="sm" w="sm"/>
          </a:ln>
        </p:spPr>
      </p:sp>
      <p:sp>
        <p:nvSpPr>
          <p:cNvPr name="AutoShape 13" id="13"/>
          <p:cNvSpPr/>
          <p:nvPr/>
        </p:nvSpPr>
        <p:spPr>
          <a:xfrm>
            <a:off x="1028700" y="8448734"/>
            <a:ext cx="16240125" cy="0"/>
          </a:xfrm>
          <a:prstGeom prst="line">
            <a:avLst/>
          </a:prstGeom>
          <a:ln cap="flat" w="19050">
            <a:solidFill>
              <a:srgbClr val="EBF29C"/>
            </a:solidFill>
            <a:prstDash val="solid"/>
            <a:headEnd type="none" len="sm" w="sm"/>
            <a:tailEnd type="none" len="sm" w="sm"/>
          </a:ln>
        </p:spPr>
      </p:sp>
      <p:sp>
        <p:nvSpPr>
          <p:cNvPr name="AutoShape 14" id="14"/>
          <p:cNvSpPr/>
          <p:nvPr/>
        </p:nvSpPr>
        <p:spPr>
          <a:xfrm>
            <a:off x="1042988" y="9252009"/>
            <a:ext cx="16240125" cy="0"/>
          </a:xfrm>
          <a:prstGeom prst="line">
            <a:avLst/>
          </a:prstGeom>
          <a:ln cap="flat" w="19050">
            <a:solidFill>
              <a:srgbClr val="EBF29C"/>
            </a:solidFill>
            <a:prstDash val="solid"/>
            <a:headEnd type="none" len="sm" w="sm"/>
            <a:tailEnd type="none" len="sm" w="sm"/>
          </a:ln>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2A2A2E"/>
        </a:solidFill>
      </p:bgPr>
    </p:bg>
    <p:spTree>
      <p:nvGrpSpPr>
        <p:cNvPr id="1" name=""/>
        <p:cNvGrpSpPr/>
        <p:nvPr/>
      </p:nvGrpSpPr>
      <p:grpSpPr>
        <a:xfrm>
          <a:off x="0" y="0"/>
          <a:ext cx="0" cy="0"/>
          <a:chOff x="0" y="0"/>
          <a:chExt cx="0" cy="0"/>
        </a:xfrm>
      </p:grpSpPr>
      <p:sp>
        <p:nvSpPr>
          <p:cNvPr name="AutoShape 2" id="2"/>
          <p:cNvSpPr/>
          <p:nvPr/>
        </p:nvSpPr>
        <p:spPr>
          <a:xfrm flipV="true">
            <a:off x="17268825" y="0"/>
            <a:ext cx="0" cy="10287000"/>
          </a:xfrm>
          <a:prstGeom prst="line">
            <a:avLst/>
          </a:prstGeom>
          <a:ln cap="flat" w="19050">
            <a:solidFill>
              <a:srgbClr val="EBF29C"/>
            </a:solidFill>
            <a:prstDash val="solid"/>
            <a:headEnd type="none" len="sm" w="sm"/>
            <a:tailEnd type="none" len="sm" w="sm"/>
          </a:ln>
        </p:spPr>
      </p:sp>
      <p:sp>
        <p:nvSpPr>
          <p:cNvPr name="AutoShape 3" id="3"/>
          <p:cNvSpPr/>
          <p:nvPr/>
        </p:nvSpPr>
        <p:spPr>
          <a:xfrm flipV="true">
            <a:off x="1019175" y="0"/>
            <a:ext cx="0" cy="10287000"/>
          </a:xfrm>
          <a:prstGeom prst="line">
            <a:avLst/>
          </a:prstGeom>
          <a:ln cap="flat" w="19050">
            <a:solidFill>
              <a:srgbClr val="EBF29C"/>
            </a:solidFill>
            <a:prstDash val="solid"/>
            <a:headEnd type="none" len="sm" w="sm"/>
            <a:tailEnd type="none" len="sm" w="sm"/>
          </a:ln>
        </p:spPr>
      </p:sp>
      <p:sp>
        <p:nvSpPr>
          <p:cNvPr name="Freeform 4" id="4"/>
          <p:cNvSpPr/>
          <p:nvPr/>
        </p:nvSpPr>
        <p:spPr>
          <a:xfrm flipH="false" flipV="false" rot="0">
            <a:off x="685248" y="3911371"/>
            <a:ext cx="667854" cy="639926"/>
          </a:xfrm>
          <a:custGeom>
            <a:avLst/>
            <a:gdLst/>
            <a:ahLst/>
            <a:cxnLst/>
            <a:rect r="r" b="b" t="t" l="l"/>
            <a:pathLst>
              <a:path h="639926" w="667854">
                <a:moveTo>
                  <a:pt x="0" y="0"/>
                </a:moveTo>
                <a:lnTo>
                  <a:pt x="667854" y="0"/>
                </a:lnTo>
                <a:lnTo>
                  <a:pt x="667854" y="639926"/>
                </a:lnTo>
                <a:lnTo>
                  <a:pt x="0" y="6399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0">
            <a:off x="16949185" y="3911371"/>
            <a:ext cx="667854" cy="639926"/>
          </a:xfrm>
          <a:custGeom>
            <a:avLst/>
            <a:gdLst/>
            <a:ahLst/>
            <a:cxnLst/>
            <a:rect r="r" b="b" t="t" l="l"/>
            <a:pathLst>
              <a:path h="639926" w="667854">
                <a:moveTo>
                  <a:pt x="0" y="639926"/>
                </a:moveTo>
                <a:lnTo>
                  <a:pt x="667855" y="639926"/>
                </a:lnTo>
                <a:lnTo>
                  <a:pt x="667855" y="0"/>
                </a:lnTo>
                <a:lnTo>
                  <a:pt x="0" y="0"/>
                </a:lnTo>
                <a:lnTo>
                  <a:pt x="0" y="63992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6" id="6"/>
          <p:cNvSpPr/>
          <p:nvPr/>
        </p:nvSpPr>
        <p:spPr>
          <a:xfrm>
            <a:off x="1019175" y="3584307"/>
            <a:ext cx="16240125" cy="0"/>
          </a:xfrm>
          <a:prstGeom prst="line">
            <a:avLst/>
          </a:prstGeom>
          <a:ln cap="flat" w="19050">
            <a:solidFill>
              <a:srgbClr val="EBF29C"/>
            </a:solidFill>
            <a:prstDash val="solid"/>
            <a:headEnd type="none" len="sm" w="sm"/>
            <a:tailEnd type="none" len="sm" w="sm"/>
          </a:ln>
        </p:spPr>
      </p:sp>
      <p:sp>
        <p:nvSpPr>
          <p:cNvPr name="AutoShape 7" id="7"/>
          <p:cNvSpPr/>
          <p:nvPr/>
        </p:nvSpPr>
        <p:spPr>
          <a:xfrm>
            <a:off x="1042988" y="4878360"/>
            <a:ext cx="16240125" cy="0"/>
          </a:xfrm>
          <a:prstGeom prst="line">
            <a:avLst/>
          </a:prstGeom>
          <a:ln cap="flat" w="19050">
            <a:solidFill>
              <a:srgbClr val="EBF29C"/>
            </a:solidFill>
            <a:prstDash val="solid"/>
            <a:headEnd type="none" len="sm" w="sm"/>
            <a:tailEnd type="none" len="sm" w="sm"/>
          </a:ln>
        </p:spPr>
      </p:sp>
      <p:sp>
        <p:nvSpPr>
          <p:cNvPr name="AutoShape 8" id="8"/>
          <p:cNvSpPr/>
          <p:nvPr/>
        </p:nvSpPr>
        <p:spPr>
          <a:xfrm flipV="true">
            <a:off x="11488621" y="4878360"/>
            <a:ext cx="0" cy="5408640"/>
          </a:xfrm>
          <a:prstGeom prst="line">
            <a:avLst/>
          </a:prstGeom>
          <a:ln cap="flat" w="19050">
            <a:solidFill>
              <a:srgbClr val="EBF29C"/>
            </a:solidFill>
            <a:prstDash val="solid"/>
            <a:headEnd type="none" len="sm" w="sm"/>
            <a:tailEnd type="none" len="sm" w="sm"/>
          </a:ln>
        </p:spPr>
      </p:sp>
      <p:graphicFrame>
        <p:nvGraphicFramePr>
          <p:cNvPr name="Table 9" id="9"/>
          <p:cNvGraphicFramePr>
            <a:graphicFrameLocks noGrp="true"/>
          </p:cNvGraphicFramePr>
          <p:nvPr/>
        </p:nvGraphicFramePr>
        <p:xfrm>
          <a:off x="1683658" y="5482348"/>
          <a:ext cx="9138213" cy="4030980"/>
        </p:xfrm>
        <a:graphic>
          <a:graphicData uri="http://schemas.openxmlformats.org/drawingml/2006/table">
            <a:tbl>
              <a:tblPr/>
              <a:tblGrid>
                <a:gridCol w="2502259"/>
                <a:gridCol w="1827370"/>
                <a:gridCol w="2175700"/>
                <a:gridCol w="2632883"/>
              </a:tblGrid>
              <a:tr h="821126">
                <a:tc>
                  <a:txBody>
                    <a:bodyPr anchor="t" rtlCol="false"/>
                    <a:lstStyle/>
                    <a:p>
                      <a:pPr algn="ctr">
                        <a:lnSpc>
                          <a:spcPts val="2239"/>
                        </a:lnSpc>
                        <a:defRPr/>
                      </a:pPr>
                      <a:r>
                        <a:rPr lang="en-US" sz="1599" b="true">
                          <a:solidFill>
                            <a:srgbClr val="000000"/>
                          </a:solidFill>
                          <a:latin typeface="Inter Bold"/>
                          <a:ea typeface="Inter Bold"/>
                          <a:cs typeface="Inter Bold"/>
                          <a:sym typeface="Inter Bold"/>
                        </a:rPr>
                        <a:t>Platform</a:t>
                      </a:r>
                      <a:endParaRPr lang="en-US" sz="1100"/>
                    </a:p>
                  </a:txBody>
                  <a:tcPr marL="190500" marR="190500" marT="190500" marB="190500" anchor="ctr">
                    <a:lnL cmpd="sng" algn="ctr" cap="flat" w="19050">
                      <a:solidFill>
                        <a:srgbClr val="EBF29C"/>
                      </a:solidFill>
                      <a:prstDash val="solid"/>
                      <a:round/>
                      <a:headEnd type="none" w="med" len="med"/>
                      <a:tailEnd type="none" w="med" len="med"/>
                    </a:lnL>
                    <a:lnR cmpd="sng" algn="ctr" cap="flat" w="19050">
                      <a:solidFill>
                        <a:srgbClr val="EBF29C"/>
                      </a:solidFill>
                      <a:prstDash val="solid"/>
                      <a:round/>
                      <a:headEnd type="none" w="med" len="med"/>
                      <a:tailEnd type="none" w="med" len="med"/>
                    </a:lnR>
                    <a:lnT cmpd="sng" algn="ctr" cap="flat" w="19050">
                      <a:solidFill>
                        <a:srgbClr val="EBF29C"/>
                      </a:solidFill>
                      <a:prstDash val="solid"/>
                      <a:round/>
                      <a:headEnd type="none" w="med" len="med"/>
                      <a:tailEnd type="none" w="med" len="med"/>
                    </a:lnT>
                    <a:lnB cmpd="sng" algn="ctr" cap="flat" w="19050">
                      <a:solidFill>
                        <a:srgbClr val="EBF29C"/>
                      </a:solidFill>
                      <a:prstDash val="solid"/>
                      <a:round/>
                      <a:headEnd type="none" w="med" len="med"/>
                      <a:tailEnd type="none" w="med" len="med"/>
                    </a:lnB>
                    <a:solidFill>
                      <a:srgbClr val="EBF29C"/>
                    </a:solidFill>
                  </a:tcPr>
                </a:tc>
                <a:tc>
                  <a:txBody>
                    <a:bodyPr anchor="t" rtlCol="false"/>
                    <a:lstStyle/>
                    <a:p>
                      <a:pPr algn="ctr">
                        <a:lnSpc>
                          <a:spcPts val="2239"/>
                        </a:lnSpc>
                        <a:defRPr/>
                      </a:pPr>
                      <a:r>
                        <a:rPr lang="en-US" sz="1599" b="true">
                          <a:solidFill>
                            <a:srgbClr val="000000"/>
                          </a:solidFill>
                          <a:latin typeface="Inter Bold"/>
                          <a:ea typeface="Inter Bold"/>
                          <a:cs typeface="Inter Bold"/>
                          <a:sym typeface="Inter Bold"/>
                        </a:rPr>
                        <a:t>Followers</a:t>
                      </a:r>
                      <a:endParaRPr lang="en-US" sz="1100"/>
                    </a:p>
                  </a:txBody>
                  <a:tcPr marL="190500" marR="190500" marT="190500" marB="190500" anchor="ctr">
                    <a:lnL cmpd="sng" algn="ctr" cap="flat" w="19050">
                      <a:solidFill>
                        <a:srgbClr val="EBF29C"/>
                      </a:solidFill>
                      <a:prstDash val="solid"/>
                      <a:round/>
                      <a:headEnd type="none" w="med" len="med"/>
                      <a:tailEnd type="none" w="med" len="med"/>
                    </a:lnL>
                    <a:lnR cmpd="sng" algn="ctr" cap="flat" w="19050">
                      <a:solidFill>
                        <a:srgbClr val="EBF29C"/>
                      </a:solidFill>
                      <a:prstDash val="solid"/>
                      <a:round/>
                      <a:headEnd type="none" w="med" len="med"/>
                      <a:tailEnd type="none" w="med" len="med"/>
                    </a:lnR>
                    <a:lnT cmpd="sng" algn="ctr" cap="flat" w="19050">
                      <a:solidFill>
                        <a:srgbClr val="EBF29C"/>
                      </a:solidFill>
                      <a:prstDash val="solid"/>
                      <a:round/>
                      <a:headEnd type="none" w="med" len="med"/>
                      <a:tailEnd type="none" w="med" len="med"/>
                    </a:lnT>
                    <a:lnB cmpd="sng" algn="ctr" cap="flat" w="19050">
                      <a:solidFill>
                        <a:srgbClr val="EBF29C"/>
                      </a:solidFill>
                      <a:prstDash val="solid"/>
                      <a:round/>
                      <a:headEnd type="none" w="med" len="med"/>
                      <a:tailEnd type="none" w="med" len="med"/>
                    </a:lnB>
                    <a:solidFill>
                      <a:srgbClr val="EBF29C"/>
                    </a:solidFill>
                  </a:tcPr>
                </a:tc>
                <a:tc>
                  <a:txBody>
                    <a:bodyPr anchor="t" rtlCol="false"/>
                    <a:lstStyle/>
                    <a:p>
                      <a:pPr algn="ctr">
                        <a:lnSpc>
                          <a:spcPts val="2239"/>
                        </a:lnSpc>
                        <a:defRPr/>
                      </a:pPr>
                      <a:r>
                        <a:rPr lang="en-US" sz="1599" b="true">
                          <a:solidFill>
                            <a:srgbClr val="000000"/>
                          </a:solidFill>
                          <a:latin typeface="Inter Bold"/>
                          <a:ea typeface="Inter Bold"/>
                          <a:cs typeface="Inter Bold"/>
                          <a:sym typeface="Inter Bold"/>
                        </a:rPr>
                        <a:t>Engagement Rate</a:t>
                      </a:r>
                      <a:endParaRPr lang="en-US" sz="1100"/>
                    </a:p>
                  </a:txBody>
                  <a:tcPr marL="190500" marR="190500" marT="190500" marB="190500" anchor="ctr">
                    <a:lnL cmpd="sng" algn="ctr" cap="flat" w="19050">
                      <a:solidFill>
                        <a:srgbClr val="EBF29C"/>
                      </a:solidFill>
                      <a:prstDash val="solid"/>
                      <a:round/>
                      <a:headEnd type="none" w="med" len="med"/>
                      <a:tailEnd type="none" w="med" len="med"/>
                    </a:lnL>
                    <a:lnR cmpd="sng" algn="ctr" cap="flat" w="19050">
                      <a:solidFill>
                        <a:srgbClr val="EBF29C"/>
                      </a:solidFill>
                      <a:prstDash val="solid"/>
                      <a:round/>
                      <a:headEnd type="none" w="med" len="med"/>
                      <a:tailEnd type="none" w="med" len="med"/>
                    </a:lnR>
                    <a:lnT cmpd="sng" algn="ctr" cap="flat" w="19050">
                      <a:solidFill>
                        <a:srgbClr val="EBF29C"/>
                      </a:solidFill>
                      <a:prstDash val="solid"/>
                      <a:round/>
                      <a:headEnd type="none" w="med" len="med"/>
                      <a:tailEnd type="none" w="med" len="med"/>
                    </a:lnT>
                    <a:lnB cmpd="sng" algn="ctr" cap="flat" w="19050">
                      <a:solidFill>
                        <a:srgbClr val="EBF29C"/>
                      </a:solidFill>
                      <a:prstDash val="solid"/>
                      <a:round/>
                      <a:headEnd type="none" w="med" len="med"/>
                      <a:tailEnd type="none" w="med" len="med"/>
                    </a:lnB>
                    <a:solidFill>
                      <a:srgbClr val="EBF29C"/>
                    </a:solidFill>
                  </a:tcPr>
                </a:tc>
                <a:tc>
                  <a:txBody>
                    <a:bodyPr anchor="t" rtlCol="false"/>
                    <a:lstStyle/>
                    <a:p>
                      <a:pPr algn="ctr">
                        <a:lnSpc>
                          <a:spcPts val="2239"/>
                        </a:lnSpc>
                        <a:defRPr/>
                      </a:pPr>
                      <a:r>
                        <a:rPr lang="en-US" sz="1599" b="true">
                          <a:solidFill>
                            <a:srgbClr val="000000"/>
                          </a:solidFill>
                          <a:latin typeface="Inter Bold"/>
                          <a:ea typeface="Inter Bold"/>
                          <a:cs typeface="Inter Bold"/>
                          <a:sym typeface="Inter Bold"/>
                        </a:rPr>
                        <a:t>Top Content Format</a:t>
                      </a:r>
                      <a:endParaRPr lang="en-US" sz="1100"/>
                    </a:p>
                  </a:txBody>
                  <a:tcPr marL="190500" marR="190500" marT="190500" marB="190500" anchor="ctr">
                    <a:lnL cmpd="sng" algn="ctr" cap="flat" w="19050">
                      <a:solidFill>
                        <a:srgbClr val="EBF29C"/>
                      </a:solidFill>
                      <a:prstDash val="solid"/>
                      <a:round/>
                      <a:headEnd type="none" w="med" len="med"/>
                      <a:tailEnd type="none" w="med" len="med"/>
                    </a:lnL>
                    <a:lnR cmpd="sng" algn="ctr" cap="flat" w="19050">
                      <a:solidFill>
                        <a:srgbClr val="EBF29C"/>
                      </a:solidFill>
                      <a:prstDash val="solid"/>
                      <a:round/>
                      <a:headEnd type="none" w="med" len="med"/>
                      <a:tailEnd type="none" w="med" len="med"/>
                    </a:lnR>
                    <a:lnT cmpd="sng" algn="ctr" cap="flat" w="19050">
                      <a:solidFill>
                        <a:srgbClr val="EBF29C"/>
                      </a:solidFill>
                      <a:prstDash val="solid"/>
                      <a:round/>
                      <a:headEnd type="none" w="med" len="med"/>
                      <a:tailEnd type="none" w="med" len="med"/>
                    </a:lnT>
                    <a:lnB cmpd="sng" algn="ctr" cap="flat" w="19050">
                      <a:solidFill>
                        <a:srgbClr val="EBF29C"/>
                      </a:solidFill>
                      <a:prstDash val="solid"/>
                      <a:round/>
                      <a:headEnd type="none" w="med" len="med"/>
                      <a:tailEnd type="none" w="med" len="med"/>
                    </a:lnB>
                    <a:solidFill>
                      <a:srgbClr val="EBF29C"/>
                    </a:solidFill>
                  </a:tcPr>
                </a:tc>
              </a:tr>
              <a:tr h="821126">
                <a:tc>
                  <a:txBody>
                    <a:bodyPr anchor="t" rtlCol="false"/>
                    <a:lstStyle/>
                    <a:p>
                      <a:pPr algn="ctr">
                        <a:lnSpc>
                          <a:spcPts val="2239"/>
                        </a:lnSpc>
                        <a:defRPr/>
                      </a:pPr>
                      <a:r>
                        <a:rPr lang="en-US" sz="1599">
                          <a:solidFill>
                            <a:srgbClr val="EBF29C"/>
                          </a:solidFill>
                          <a:latin typeface="Inter"/>
                          <a:ea typeface="Inter"/>
                          <a:cs typeface="Inter"/>
                          <a:sym typeface="Inter"/>
                        </a:rPr>
                        <a:t>Platform A</a:t>
                      </a:r>
                      <a:endParaRPr lang="en-US" sz="1100"/>
                    </a:p>
                  </a:txBody>
                  <a:tcPr marL="190500" marR="190500" marT="190500" marB="190500" anchor="ctr">
                    <a:lnL cmpd="sng" algn="ctr" cap="flat" w="19050">
                      <a:solidFill>
                        <a:srgbClr val="EBF29C"/>
                      </a:solidFill>
                      <a:prstDash val="solid"/>
                      <a:round/>
                      <a:headEnd type="none" w="med" len="med"/>
                      <a:tailEnd type="none" w="med" len="med"/>
                    </a:lnL>
                    <a:lnR cmpd="sng" algn="ctr" cap="flat" w="19050">
                      <a:solidFill>
                        <a:srgbClr val="EBF29C"/>
                      </a:solidFill>
                      <a:prstDash val="solid"/>
                      <a:round/>
                      <a:headEnd type="none" w="med" len="med"/>
                      <a:tailEnd type="none" w="med" len="med"/>
                    </a:lnR>
                    <a:lnT cmpd="sng" algn="ctr" cap="flat" w="19050">
                      <a:solidFill>
                        <a:srgbClr val="EBF29C"/>
                      </a:solidFill>
                      <a:prstDash val="solid"/>
                      <a:round/>
                      <a:headEnd type="none" w="med" len="med"/>
                      <a:tailEnd type="none" w="med" len="med"/>
                    </a:lnT>
                    <a:lnB cmpd="sng" algn="ctr" cap="flat" w="19050">
                      <a:solidFill>
                        <a:srgbClr val="EBF29C"/>
                      </a:solidFill>
                      <a:prstDash val="solid"/>
                      <a:round/>
                      <a:headEnd type="none" w="med" len="med"/>
                      <a:tailEnd type="none" w="med" len="med"/>
                    </a:lnB>
                  </a:tcPr>
                </a:tc>
                <a:tc>
                  <a:txBody>
                    <a:bodyPr anchor="t" rtlCol="false"/>
                    <a:lstStyle/>
                    <a:p>
                      <a:pPr algn="ctr">
                        <a:lnSpc>
                          <a:spcPts val="2239"/>
                        </a:lnSpc>
                        <a:defRPr/>
                      </a:pPr>
                      <a:r>
                        <a:rPr lang="en-US" sz="1599">
                          <a:solidFill>
                            <a:srgbClr val="EBF29C"/>
                          </a:solidFill>
                          <a:latin typeface="Inter"/>
                          <a:ea typeface="Inter"/>
                          <a:cs typeface="Inter"/>
                          <a:sym typeface="Inter"/>
                        </a:rPr>
                        <a:t>50K</a:t>
                      </a:r>
                      <a:endParaRPr lang="en-US" sz="1100"/>
                    </a:p>
                  </a:txBody>
                  <a:tcPr marL="190500" marR="190500" marT="190500" marB="190500" anchor="ctr">
                    <a:lnL cmpd="sng" algn="ctr" cap="flat" w="19050">
                      <a:solidFill>
                        <a:srgbClr val="EBF29C"/>
                      </a:solidFill>
                      <a:prstDash val="solid"/>
                      <a:round/>
                      <a:headEnd type="none" w="med" len="med"/>
                      <a:tailEnd type="none" w="med" len="med"/>
                    </a:lnL>
                    <a:lnR cmpd="sng" algn="ctr" cap="flat" w="19050">
                      <a:solidFill>
                        <a:srgbClr val="EBF29C"/>
                      </a:solidFill>
                      <a:prstDash val="solid"/>
                      <a:round/>
                      <a:headEnd type="none" w="med" len="med"/>
                      <a:tailEnd type="none" w="med" len="med"/>
                    </a:lnR>
                    <a:lnT cmpd="sng" algn="ctr" cap="flat" w="19050">
                      <a:solidFill>
                        <a:srgbClr val="EBF29C"/>
                      </a:solidFill>
                      <a:prstDash val="solid"/>
                      <a:round/>
                      <a:headEnd type="none" w="med" len="med"/>
                      <a:tailEnd type="none" w="med" len="med"/>
                    </a:lnT>
                    <a:lnB cmpd="sng" algn="ctr" cap="flat" w="19050">
                      <a:solidFill>
                        <a:srgbClr val="EBF29C"/>
                      </a:solidFill>
                      <a:prstDash val="solid"/>
                      <a:round/>
                      <a:headEnd type="none" w="med" len="med"/>
                      <a:tailEnd type="none" w="med" len="med"/>
                    </a:lnB>
                  </a:tcPr>
                </a:tc>
                <a:tc>
                  <a:txBody>
                    <a:bodyPr anchor="t" rtlCol="false"/>
                    <a:lstStyle/>
                    <a:p>
                      <a:pPr algn="ctr">
                        <a:lnSpc>
                          <a:spcPts val="2239"/>
                        </a:lnSpc>
                        <a:defRPr/>
                      </a:pPr>
                      <a:r>
                        <a:rPr lang="en-US" sz="1599">
                          <a:solidFill>
                            <a:srgbClr val="EBF29C"/>
                          </a:solidFill>
                          <a:latin typeface="Inter"/>
                          <a:ea typeface="Inter"/>
                          <a:cs typeface="Inter"/>
                          <a:sym typeface="Inter"/>
                        </a:rPr>
                        <a:t>10.5%</a:t>
                      </a:r>
                      <a:endParaRPr lang="en-US" sz="1100"/>
                    </a:p>
                  </a:txBody>
                  <a:tcPr marL="190500" marR="190500" marT="190500" marB="190500" anchor="ctr">
                    <a:lnL cmpd="sng" algn="ctr" cap="flat" w="19050">
                      <a:solidFill>
                        <a:srgbClr val="EBF29C"/>
                      </a:solidFill>
                      <a:prstDash val="solid"/>
                      <a:round/>
                      <a:headEnd type="none" w="med" len="med"/>
                      <a:tailEnd type="none" w="med" len="med"/>
                    </a:lnL>
                    <a:lnR cmpd="sng" algn="ctr" cap="flat" w="19050">
                      <a:solidFill>
                        <a:srgbClr val="EBF29C"/>
                      </a:solidFill>
                      <a:prstDash val="solid"/>
                      <a:round/>
                      <a:headEnd type="none" w="med" len="med"/>
                      <a:tailEnd type="none" w="med" len="med"/>
                    </a:lnR>
                    <a:lnT cmpd="sng" algn="ctr" cap="flat" w="19050">
                      <a:solidFill>
                        <a:srgbClr val="EBF29C"/>
                      </a:solidFill>
                      <a:prstDash val="solid"/>
                      <a:round/>
                      <a:headEnd type="none" w="med" len="med"/>
                      <a:tailEnd type="none" w="med" len="med"/>
                    </a:lnT>
                    <a:lnB cmpd="sng" algn="ctr" cap="flat" w="19050">
                      <a:solidFill>
                        <a:srgbClr val="EBF29C"/>
                      </a:solidFill>
                      <a:prstDash val="solid"/>
                      <a:round/>
                      <a:headEnd type="none" w="med" len="med"/>
                      <a:tailEnd type="none" w="med" len="med"/>
                    </a:lnB>
                  </a:tcPr>
                </a:tc>
                <a:tc>
                  <a:txBody>
                    <a:bodyPr anchor="t" rtlCol="false"/>
                    <a:lstStyle/>
                    <a:p>
                      <a:pPr algn="ctr">
                        <a:lnSpc>
                          <a:spcPts val="2239"/>
                        </a:lnSpc>
                        <a:defRPr/>
                      </a:pPr>
                      <a:r>
                        <a:rPr lang="en-US" sz="1599">
                          <a:solidFill>
                            <a:srgbClr val="EBF29C"/>
                          </a:solidFill>
                          <a:latin typeface="Inter"/>
                          <a:ea typeface="Inter"/>
                          <a:cs typeface="Inter"/>
                          <a:sym typeface="Inter"/>
                        </a:rPr>
                        <a:t>Video</a:t>
                      </a:r>
                      <a:endParaRPr lang="en-US" sz="1100"/>
                    </a:p>
                  </a:txBody>
                  <a:tcPr marL="190500" marR="190500" marT="190500" marB="190500" anchor="ctr">
                    <a:lnL cmpd="sng" algn="ctr" cap="flat" w="19050">
                      <a:solidFill>
                        <a:srgbClr val="EBF29C"/>
                      </a:solidFill>
                      <a:prstDash val="solid"/>
                      <a:round/>
                      <a:headEnd type="none" w="med" len="med"/>
                      <a:tailEnd type="none" w="med" len="med"/>
                    </a:lnL>
                    <a:lnR cmpd="sng" algn="ctr" cap="flat" w="19050">
                      <a:solidFill>
                        <a:srgbClr val="EBF29C"/>
                      </a:solidFill>
                      <a:prstDash val="solid"/>
                      <a:round/>
                      <a:headEnd type="none" w="med" len="med"/>
                      <a:tailEnd type="none" w="med" len="med"/>
                    </a:lnR>
                    <a:lnT cmpd="sng" algn="ctr" cap="flat" w="19050">
                      <a:solidFill>
                        <a:srgbClr val="EBF29C"/>
                      </a:solidFill>
                      <a:prstDash val="solid"/>
                      <a:round/>
                      <a:headEnd type="none" w="med" len="med"/>
                      <a:tailEnd type="none" w="med" len="med"/>
                    </a:lnT>
                    <a:lnB cmpd="sng" algn="ctr" cap="flat" w="19050">
                      <a:solidFill>
                        <a:srgbClr val="EBF29C"/>
                      </a:solidFill>
                      <a:prstDash val="solid"/>
                      <a:round/>
                      <a:headEnd type="none" w="med" len="med"/>
                      <a:tailEnd type="none" w="med" len="med"/>
                    </a:lnB>
                  </a:tcPr>
                </a:tc>
              </a:tr>
              <a:tr h="821126">
                <a:tc>
                  <a:txBody>
                    <a:bodyPr anchor="t" rtlCol="false"/>
                    <a:lstStyle/>
                    <a:p>
                      <a:pPr algn="ctr">
                        <a:lnSpc>
                          <a:spcPts val="2239"/>
                        </a:lnSpc>
                        <a:defRPr/>
                      </a:pPr>
                      <a:r>
                        <a:rPr lang="en-US" sz="1599">
                          <a:solidFill>
                            <a:srgbClr val="EBF29C"/>
                          </a:solidFill>
                          <a:latin typeface="Inter"/>
                          <a:ea typeface="Inter"/>
                          <a:cs typeface="Inter"/>
                          <a:sym typeface="Inter"/>
                        </a:rPr>
                        <a:t>Platform B</a:t>
                      </a:r>
                      <a:endParaRPr lang="en-US" sz="1100"/>
                    </a:p>
                  </a:txBody>
                  <a:tcPr marL="190500" marR="190500" marT="190500" marB="190500" anchor="ctr">
                    <a:lnL cmpd="sng" algn="ctr" cap="flat" w="19050">
                      <a:solidFill>
                        <a:srgbClr val="EBF29C"/>
                      </a:solidFill>
                      <a:prstDash val="solid"/>
                      <a:round/>
                      <a:headEnd type="none" w="med" len="med"/>
                      <a:tailEnd type="none" w="med" len="med"/>
                    </a:lnL>
                    <a:lnR cmpd="sng" algn="ctr" cap="flat" w="19050">
                      <a:solidFill>
                        <a:srgbClr val="EBF29C"/>
                      </a:solidFill>
                      <a:prstDash val="solid"/>
                      <a:round/>
                      <a:headEnd type="none" w="med" len="med"/>
                      <a:tailEnd type="none" w="med" len="med"/>
                    </a:lnR>
                    <a:lnT cmpd="sng" algn="ctr" cap="flat" w="19050">
                      <a:solidFill>
                        <a:srgbClr val="EBF29C"/>
                      </a:solidFill>
                      <a:prstDash val="solid"/>
                      <a:round/>
                      <a:headEnd type="none" w="med" len="med"/>
                      <a:tailEnd type="none" w="med" len="med"/>
                    </a:lnT>
                    <a:lnB cmpd="sng" algn="ctr" cap="flat" w="19050">
                      <a:solidFill>
                        <a:srgbClr val="EBF29C"/>
                      </a:solidFill>
                      <a:prstDash val="solid"/>
                      <a:round/>
                      <a:headEnd type="none" w="med" len="med"/>
                      <a:tailEnd type="none" w="med" len="med"/>
                    </a:lnB>
                  </a:tcPr>
                </a:tc>
                <a:tc>
                  <a:txBody>
                    <a:bodyPr anchor="t" rtlCol="false"/>
                    <a:lstStyle/>
                    <a:p>
                      <a:pPr algn="ctr">
                        <a:lnSpc>
                          <a:spcPts val="2239"/>
                        </a:lnSpc>
                        <a:defRPr/>
                      </a:pPr>
                      <a:r>
                        <a:rPr lang="en-US" sz="1599">
                          <a:solidFill>
                            <a:srgbClr val="EBF29C"/>
                          </a:solidFill>
                          <a:latin typeface="Inter"/>
                          <a:ea typeface="Inter"/>
                          <a:cs typeface="Inter"/>
                          <a:sym typeface="Inter"/>
                        </a:rPr>
                        <a:t>30K</a:t>
                      </a:r>
                      <a:endParaRPr lang="en-US" sz="1100"/>
                    </a:p>
                  </a:txBody>
                  <a:tcPr marL="190500" marR="190500" marT="190500" marB="190500" anchor="ctr">
                    <a:lnL cmpd="sng" algn="ctr" cap="flat" w="19050">
                      <a:solidFill>
                        <a:srgbClr val="EBF29C"/>
                      </a:solidFill>
                      <a:prstDash val="solid"/>
                      <a:round/>
                      <a:headEnd type="none" w="med" len="med"/>
                      <a:tailEnd type="none" w="med" len="med"/>
                    </a:lnL>
                    <a:lnR cmpd="sng" algn="ctr" cap="flat" w="19050">
                      <a:solidFill>
                        <a:srgbClr val="EBF29C"/>
                      </a:solidFill>
                      <a:prstDash val="solid"/>
                      <a:round/>
                      <a:headEnd type="none" w="med" len="med"/>
                      <a:tailEnd type="none" w="med" len="med"/>
                    </a:lnR>
                    <a:lnT cmpd="sng" algn="ctr" cap="flat" w="19050">
                      <a:solidFill>
                        <a:srgbClr val="EBF29C"/>
                      </a:solidFill>
                      <a:prstDash val="solid"/>
                      <a:round/>
                      <a:headEnd type="none" w="med" len="med"/>
                      <a:tailEnd type="none" w="med" len="med"/>
                    </a:lnT>
                    <a:lnB cmpd="sng" algn="ctr" cap="flat" w="19050">
                      <a:solidFill>
                        <a:srgbClr val="EBF29C"/>
                      </a:solidFill>
                      <a:prstDash val="solid"/>
                      <a:round/>
                      <a:headEnd type="none" w="med" len="med"/>
                      <a:tailEnd type="none" w="med" len="med"/>
                    </a:lnB>
                  </a:tcPr>
                </a:tc>
                <a:tc>
                  <a:txBody>
                    <a:bodyPr anchor="t" rtlCol="false"/>
                    <a:lstStyle/>
                    <a:p>
                      <a:pPr algn="ctr">
                        <a:lnSpc>
                          <a:spcPts val="2239"/>
                        </a:lnSpc>
                        <a:defRPr/>
                      </a:pPr>
                      <a:r>
                        <a:rPr lang="en-US" sz="1599">
                          <a:solidFill>
                            <a:srgbClr val="EBF29C"/>
                          </a:solidFill>
                          <a:latin typeface="Inter"/>
                          <a:ea typeface="Inter"/>
                          <a:cs typeface="Inter"/>
                          <a:sym typeface="Inter"/>
                        </a:rPr>
                        <a:t>7.2%</a:t>
                      </a:r>
                      <a:endParaRPr lang="en-US" sz="1100"/>
                    </a:p>
                  </a:txBody>
                  <a:tcPr marL="190500" marR="190500" marT="190500" marB="190500" anchor="ctr">
                    <a:lnL cmpd="sng" algn="ctr" cap="flat" w="19050">
                      <a:solidFill>
                        <a:srgbClr val="EBF29C"/>
                      </a:solidFill>
                      <a:prstDash val="solid"/>
                      <a:round/>
                      <a:headEnd type="none" w="med" len="med"/>
                      <a:tailEnd type="none" w="med" len="med"/>
                    </a:lnL>
                    <a:lnR cmpd="sng" algn="ctr" cap="flat" w="19050">
                      <a:solidFill>
                        <a:srgbClr val="EBF29C"/>
                      </a:solidFill>
                      <a:prstDash val="solid"/>
                      <a:round/>
                      <a:headEnd type="none" w="med" len="med"/>
                      <a:tailEnd type="none" w="med" len="med"/>
                    </a:lnR>
                    <a:lnT cmpd="sng" algn="ctr" cap="flat" w="19050">
                      <a:solidFill>
                        <a:srgbClr val="EBF29C"/>
                      </a:solidFill>
                      <a:prstDash val="solid"/>
                      <a:round/>
                      <a:headEnd type="none" w="med" len="med"/>
                      <a:tailEnd type="none" w="med" len="med"/>
                    </a:lnT>
                    <a:lnB cmpd="sng" algn="ctr" cap="flat" w="19050">
                      <a:solidFill>
                        <a:srgbClr val="EBF29C"/>
                      </a:solidFill>
                      <a:prstDash val="solid"/>
                      <a:round/>
                      <a:headEnd type="none" w="med" len="med"/>
                      <a:tailEnd type="none" w="med" len="med"/>
                    </a:lnB>
                  </a:tcPr>
                </a:tc>
                <a:tc>
                  <a:txBody>
                    <a:bodyPr anchor="t" rtlCol="false"/>
                    <a:lstStyle/>
                    <a:p>
                      <a:pPr algn="ctr">
                        <a:lnSpc>
                          <a:spcPts val="2239"/>
                        </a:lnSpc>
                        <a:defRPr/>
                      </a:pPr>
                      <a:r>
                        <a:rPr lang="en-US" sz="1599">
                          <a:solidFill>
                            <a:srgbClr val="EBF29C"/>
                          </a:solidFill>
                          <a:latin typeface="Inter"/>
                          <a:ea typeface="Inter"/>
                          <a:cs typeface="Inter"/>
                          <a:sym typeface="Inter"/>
                        </a:rPr>
                        <a:t>Images</a:t>
                      </a:r>
                      <a:endParaRPr lang="en-US" sz="1100"/>
                    </a:p>
                  </a:txBody>
                  <a:tcPr marL="190500" marR="190500" marT="190500" marB="190500" anchor="ctr">
                    <a:lnL cmpd="sng" algn="ctr" cap="flat" w="19050">
                      <a:solidFill>
                        <a:srgbClr val="EBF29C"/>
                      </a:solidFill>
                      <a:prstDash val="solid"/>
                      <a:round/>
                      <a:headEnd type="none" w="med" len="med"/>
                      <a:tailEnd type="none" w="med" len="med"/>
                    </a:lnL>
                    <a:lnR cmpd="sng" algn="ctr" cap="flat" w="19050">
                      <a:solidFill>
                        <a:srgbClr val="EBF29C"/>
                      </a:solidFill>
                      <a:prstDash val="solid"/>
                      <a:round/>
                      <a:headEnd type="none" w="med" len="med"/>
                      <a:tailEnd type="none" w="med" len="med"/>
                    </a:lnR>
                    <a:lnT cmpd="sng" algn="ctr" cap="flat" w="19050">
                      <a:solidFill>
                        <a:srgbClr val="EBF29C"/>
                      </a:solidFill>
                      <a:prstDash val="solid"/>
                      <a:round/>
                      <a:headEnd type="none" w="med" len="med"/>
                      <a:tailEnd type="none" w="med" len="med"/>
                    </a:lnT>
                    <a:lnB cmpd="sng" algn="ctr" cap="flat" w="19050">
                      <a:solidFill>
                        <a:srgbClr val="EBF29C"/>
                      </a:solidFill>
                      <a:prstDash val="solid"/>
                      <a:round/>
                      <a:headEnd type="none" w="med" len="med"/>
                      <a:tailEnd type="none" w="med" len="med"/>
                    </a:lnB>
                  </a:tcPr>
                </a:tc>
              </a:tr>
              <a:tr h="821126">
                <a:tc>
                  <a:txBody>
                    <a:bodyPr anchor="t" rtlCol="false"/>
                    <a:lstStyle/>
                    <a:p>
                      <a:pPr algn="ctr">
                        <a:lnSpc>
                          <a:spcPts val="2239"/>
                        </a:lnSpc>
                        <a:defRPr/>
                      </a:pPr>
                      <a:r>
                        <a:rPr lang="en-US" sz="1599">
                          <a:solidFill>
                            <a:srgbClr val="EBF29C"/>
                          </a:solidFill>
                          <a:latin typeface="Inter"/>
                          <a:ea typeface="Inter"/>
                          <a:cs typeface="Inter"/>
                          <a:sym typeface="Inter"/>
                        </a:rPr>
                        <a:t>Platform C</a:t>
                      </a:r>
                      <a:endParaRPr lang="en-US" sz="1100"/>
                    </a:p>
                  </a:txBody>
                  <a:tcPr marL="190500" marR="190500" marT="190500" marB="190500" anchor="ctr">
                    <a:lnL cmpd="sng" algn="ctr" cap="flat" w="19050">
                      <a:solidFill>
                        <a:srgbClr val="EBF29C"/>
                      </a:solidFill>
                      <a:prstDash val="solid"/>
                      <a:round/>
                      <a:headEnd type="none" w="med" len="med"/>
                      <a:tailEnd type="none" w="med" len="med"/>
                    </a:lnL>
                    <a:lnR cmpd="sng" algn="ctr" cap="flat" w="19050">
                      <a:solidFill>
                        <a:srgbClr val="EBF29C"/>
                      </a:solidFill>
                      <a:prstDash val="solid"/>
                      <a:round/>
                      <a:headEnd type="none" w="med" len="med"/>
                      <a:tailEnd type="none" w="med" len="med"/>
                    </a:lnR>
                    <a:lnT cmpd="sng" algn="ctr" cap="flat" w="19050">
                      <a:solidFill>
                        <a:srgbClr val="EBF29C"/>
                      </a:solidFill>
                      <a:prstDash val="solid"/>
                      <a:round/>
                      <a:headEnd type="none" w="med" len="med"/>
                      <a:tailEnd type="none" w="med" len="med"/>
                    </a:lnT>
                    <a:lnB cmpd="sng" algn="ctr" cap="flat" w="19050">
                      <a:solidFill>
                        <a:srgbClr val="EBF29C"/>
                      </a:solidFill>
                      <a:prstDash val="solid"/>
                      <a:round/>
                      <a:headEnd type="none" w="med" len="med"/>
                      <a:tailEnd type="none" w="med" len="med"/>
                    </a:lnB>
                  </a:tcPr>
                </a:tc>
                <a:tc>
                  <a:txBody>
                    <a:bodyPr anchor="t" rtlCol="false"/>
                    <a:lstStyle/>
                    <a:p>
                      <a:pPr algn="ctr">
                        <a:lnSpc>
                          <a:spcPts val="2239"/>
                        </a:lnSpc>
                        <a:defRPr/>
                      </a:pPr>
                      <a:r>
                        <a:rPr lang="en-US" sz="1599">
                          <a:solidFill>
                            <a:srgbClr val="EBF29C"/>
                          </a:solidFill>
                          <a:latin typeface="Inter"/>
                          <a:ea typeface="Inter"/>
                          <a:cs typeface="Inter"/>
                          <a:sym typeface="Inter"/>
                        </a:rPr>
                        <a:t>20K</a:t>
                      </a:r>
                      <a:endParaRPr lang="en-US" sz="1100"/>
                    </a:p>
                  </a:txBody>
                  <a:tcPr marL="190500" marR="190500" marT="190500" marB="190500" anchor="ctr">
                    <a:lnL cmpd="sng" algn="ctr" cap="flat" w="19050">
                      <a:solidFill>
                        <a:srgbClr val="EBF29C"/>
                      </a:solidFill>
                      <a:prstDash val="solid"/>
                      <a:round/>
                      <a:headEnd type="none" w="med" len="med"/>
                      <a:tailEnd type="none" w="med" len="med"/>
                    </a:lnL>
                    <a:lnR cmpd="sng" algn="ctr" cap="flat" w="19050">
                      <a:solidFill>
                        <a:srgbClr val="EBF29C"/>
                      </a:solidFill>
                      <a:prstDash val="solid"/>
                      <a:round/>
                      <a:headEnd type="none" w="med" len="med"/>
                      <a:tailEnd type="none" w="med" len="med"/>
                    </a:lnR>
                    <a:lnT cmpd="sng" algn="ctr" cap="flat" w="19050">
                      <a:solidFill>
                        <a:srgbClr val="EBF29C"/>
                      </a:solidFill>
                      <a:prstDash val="solid"/>
                      <a:round/>
                      <a:headEnd type="none" w="med" len="med"/>
                      <a:tailEnd type="none" w="med" len="med"/>
                    </a:lnT>
                    <a:lnB cmpd="sng" algn="ctr" cap="flat" w="19050">
                      <a:solidFill>
                        <a:srgbClr val="EBF29C"/>
                      </a:solidFill>
                      <a:prstDash val="solid"/>
                      <a:round/>
                      <a:headEnd type="none" w="med" len="med"/>
                      <a:tailEnd type="none" w="med" len="med"/>
                    </a:lnB>
                  </a:tcPr>
                </a:tc>
                <a:tc>
                  <a:txBody>
                    <a:bodyPr anchor="t" rtlCol="false"/>
                    <a:lstStyle/>
                    <a:p>
                      <a:pPr algn="ctr">
                        <a:lnSpc>
                          <a:spcPts val="2239"/>
                        </a:lnSpc>
                        <a:defRPr/>
                      </a:pPr>
                      <a:r>
                        <a:rPr lang="en-US" sz="1599">
                          <a:solidFill>
                            <a:srgbClr val="EBF29C"/>
                          </a:solidFill>
                          <a:latin typeface="Inter"/>
                          <a:ea typeface="Inter"/>
                          <a:cs typeface="Inter"/>
                          <a:sym typeface="Inter"/>
                        </a:rPr>
                        <a:t>5.8%</a:t>
                      </a:r>
                      <a:endParaRPr lang="en-US" sz="1100"/>
                    </a:p>
                  </a:txBody>
                  <a:tcPr marL="190500" marR="190500" marT="190500" marB="190500" anchor="ctr">
                    <a:lnL cmpd="sng" algn="ctr" cap="flat" w="19050">
                      <a:solidFill>
                        <a:srgbClr val="EBF29C"/>
                      </a:solidFill>
                      <a:prstDash val="solid"/>
                      <a:round/>
                      <a:headEnd type="none" w="med" len="med"/>
                      <a:tailEnd type="none" w="med" len="med"/>
                    </a:lnL>
                    <a:lnR cmpd="sng" algn="ctr" cap="flat" w="19050">
                      <a:solidFill>
                        <a:srgbClr val="EBF29C"/>
                      </a:solidFill>
                      <a:prstDash val="solid"/>
                      <a:round/>
                      <a:headEnd type="none" w="med" len="med"/>
                      <a:tailEnd type="none" w="med" len="med"/>
                    </a:lnR>
                    <a:lnT cmpd="sng" algn="ctr" cap="flat" w="19050">
                      <a:solidFill>
                        <a:srgbClr val="EBF29C"/>
                      </a:solidFill>
                      <a:prstDash val="solid"/>
                      <a:round/>
                      <a:headEnd type="none" w="med" len="med"/>
                      <a:tailEnd type="none" w="med" len="med"/>
                    </a:lnT>
                    <a:lnB cmpd="sng" algn="ctr" cap="flat" w="19050">
                      <a:solidFill>
                        <a:srgbClr val="EBF29C"/>
                      </a:solidFill>
                      <a:prstDash val="solid"/>
                      <a:round/>
                      <a:headEnd type="none" w="med" len="med"/>
                      <a:tailEnd type="none" w="med" len="med"/>
                    </a:lnB>
                  </a:tcPr>
                </a:tc>
                <a:tc>
                  <a:txBody>
                    <a:bodyPr anchor="t" rtlCol="false"/>
                    <a:lstStyle/>
                    <a:p>
                      <a:pPr algn="ctr">
                        <a:lnSpc>
                          <a:spcPts val="2239"/>
                        </a:lnSpc>
                        <a:defRPr/>
                      </a:pPr>
                      <a:r>
                        <a:rPr lang="en-US" sz="1599">
                          <a:solidFill>
                            <a:srgbClr val="EBF29C"/>
                          </a:solidFill>
                          <a:latin typeface="Inter"/>
                          <a:ea typeface="Inter"/>
                          <a:cs typeface="Inter"/>
                          <a:sym typeface="Inter"/>
                        </a:rPr>
                        <a:t>Polls</a:t>
                      </a:r>
                      <a:endParaRPr lang="en-US" sz="1100"/>
                    </a:p>
                  </a:txBody>
                  <a:tcPr marL="190500" marR="190500" marT="190500" marB="190500" anchor="ctr">
                    <a:lnL cmpd="sng" algn="ctr" cap="flat" w="19050">
                      <a:solidFill>
                        <a:srgbClr val="EBF29C"/>
                      </a:solidFill>
                      <a:prstDash val="solid"/>
                      <a:round/>
                      <a:headEnd type="none" w="med" len="med"/>
                      <a:tailEnd type="none" w="med" len="med"/>
                    </a:lnL>
                    <a:lnR cmpd="sng" algn="ctr" cap="flat" w="19050">
                      <a:solidFill>
                        <a:srgbClr val="EBF29C"/>
                      </a:solidFill>
                      <a:prstDash val="solid"/>
                      <a:round/>
                      <a:headEnd type="none" w="med" len="med"/>
                      <a:tailEnd type="none" w="med" len="med"/>
                    </a:lnR>
                    <a:lnT cmpd="sng" algn="ctr" cap="flat" w="19050">
                      <a:solidFill>
                        <a:srgbClr val="EBF29C"/>
                      </a:solidFill>
                      <a:prstDash val="solid"/>
                      <a:round/>
                      <a:headEnd type="none" w="med" len="med"/>
                      <a:tailEnd type="none" w="med" len="med"/>
                    </a:lnT>
                    <a:lnB cmpd="sng" algn="ctr" cap="flat" w="19050">
                      <a:solidFill>
                        <a:srgbClr val="EBF29C"/>
                      </a:solidFill>
                      <a:prstDash val="solid"/>
                      <a:round/>
                      <a:headEnd type="none" w="med" len="med"/>
                      <a:tailEnd type="none" w="med" len="med"/>
                    </a:lnB>
                  </a:tcPr>
                </a:tc>
              </a:tr>
              <a:tr h="746478">
                <a:tc>
                  <a:txBody>
                    <a:bodyPr anchor="t" rtlCol="false"/>
                    <a:lstStyle/>
                    <a:p>
                      <a:pPr algn="ctr">
                        <a:lnSpc>
                          <a:spcPts val="2239"/>
                        </a:lnSpc>
                        <a:defRPr/>
                      </a:pPr>
                      <a:r>
                        <a:rPr lang="en-US" sz="1599">
                          <a:solidFill>
                            <a:srgbClr val="EBF29C"/>
                          </a:solidFill>
                          <a:latin typeface="Inter"/>
                          <a:ea typeface="Inter"/>
                          <a:cs typeface="Inter"/>
                          <a:sym typeface="Inter"/>
                        </a:rPr>
                        <a:t>Platform D</a:t>
                      </a:r>
                      <a:endParaRPr lang="en-US" sz="1100"/>
                    </a:p>
                  </a:txBody>
                  <a:tcPr marL="190500" marR="190500" marT="190500" marB="190500" anchor="ctr">
                    <a:lnL cmpd="sng" algn="ctr" cap="flat" w="19050">
                      <a:solidFill>
                        <a:srgbClr val="EBF29C"/>
                      </a:solidFill>
                      <a:prstDash val="solid"/>
                      <a:round/>
                      <a:headEnd type="none" w="med" len="med"/>
                      <a:tailEnd type="none" w="med" len="med"/>
                    </a:lnL>
                    <a:lnR cmpd="sng" algn="ctr" cap="flat" w="19050">
                      <a:solidFill>
                        <a:srgbClr val="EBF29C"/>
                      </a:solidFill>
                      <a:prstDash val="solid"/>
                      <a:round/>
                      <a:headEnd type="none" w="med" len="med"/>
                      <a:tailEnd type="none" w="med" len="med"/>
                    </a:lnR>
                    <a:lnT cmpd="sng" algn="ctr" cap="flat" w="19050">
                      <a:solidFill>
                        <a:srgbClr val="EBF29C"/>
                      </a:solidFill>
                      <a:prstDash val="solid"/>
                      <a:round/>
                      <a:headEnd type="none" w="med" len="med"/>
                      <a:tailEnd type="none" w="med" len="med"/>
                    </a:lnT>
                    <a:lnB cmpd="sng" algn="ctr" cap="flat" w="19050">
                      <a:solidFill>
                        <a:srgbClr val="EBF29C"/>
                      </a:solidFill>
                      <a:prstDash val="solid"/>
                      <a:round/>
                      <a:headEnd type="none" w="med" len="med"/>
                      <a:tailEnd type="none" w="med" len="med"/>
                    </a:lnB>
                  </a:tcPr>
                </a:tc>
                <a:tc>
                  <a:txBody>
                    <a:bodyPr anchor="t" rtlCol="false"/>
                    <a:lstStyle/>
                    <a:p>
                      <a:pPr algn="ctr">
                        <a:lnSpc>
                          <a:spcPts val="2239"/>
                        </a:lnSpc>
                        <a:defRPr/>
                      </a:pPr>
                      <a:r>
                        <a:rPr lang="en-US" sz="1599">
                          <a:solidFill>
                            <a:srgbClr val="EBF29C"/>
                          </a:solidFill>
                          <a:latin typeface="Inter"/>
                          <a:ea typeface="Inter"/>
                          <a:cs typeface="Inter"/>
                          <a:sym typeface="Inter"/>
                        </a:rPr>
                        <a:t>15K</a:t>
                      </a:r>
                      <a:endParaRPr lang="en-US" sz="1100"/>
                    </a:p>
                  </a:txBody>
                  <a:tcPr marL="190500" marR="190500" marT="190500" marB="190500" anchor="ctr">
                    <a:lnL cmpd="sng" algn="ctr" cap="flat" w="19050">
                      <a:solidFill>
                        <a:srgbClr val="EBF29C"/>
                      </a:solidFill>
                      <a:prstDash val="solid"/>
                      <a:round/>
                      <a:headEnd type="none" w="med" len="med"/>
                      <a:tailEnd type="none" w="med" len="med"/>
                    </a:lnL>
                    <a:lnR cmpd="sng" algn="ctr" cap="flat" w="19050">
                      <a:solidFill>
                        <a:srgbClr val="EBF29C"/>
                      </a:solidFill>
                      <a:prstDash val="solid"/>
                      <a:round/>
                      <a:headEnd type="none" w="med" len="med"/>
                      <a:tailEnd type="none" w="med" len="med"/>
                    </a:lnR>
                    <a:lnT cmpd="sng" algn="ctr" cap="flat" w="19050">
                      <a:solidFill>
                        <a:srgbClr val="EBF29C"/>
                      </a:solidFill>
                      <a:prstDash val="solid"/>
                      <a:round/>
                      <a:headEnd type="none" w="med" len="med"/>
                      <a:tailEnd type="none" w="med" len="med"/>
                    </a:lnT>
                    <a:lnB cmpd="sng" algn="ctr" cap="flat" w="19050">
                      <a:solidFill>
                        <a:srgbClr val="EBF29C"/>
                      </a:solidFill>
                      <a:prstDash val="solid"/>
                      <a:round/>
                      <a:headEnd type="none" w="med" len="med"/>
                      <a:tailEnd type="none" w="med" len="med"/>
                    </a:lnB>
                  </a:tcPr>
                </a:tc>
                <a:tc>
                  <a:txBody>
                    <a:bodyPr anchor="t" rtlCol="false"/>
                    <a:lstStyle/>
                    <a:p>
                      <a:pPr algn="ctr">
                        <a:lnSpc>
                          <a:spcPts val="2239"/>
                        </a:lnSpc>
                        <a:defRPr/>
                      </a:pPr>
                      <a:r>
                        <a:rPr lang="en-US" sz="1599">
                          <a:solidFill>
                            <a:srgbClr val="EBF29C"/>
                          </a:solidFill>
                          <a:latin typeface="Inter"/>
                          <a:ea typeface="Inter"/>
                          <a:cs typeface="Inter"/>
                          <a:sym typeface="Inter"/>
                        </a:rPr>
                        <a:t>6.1%</a:t>
                      </a:r>
                      <a:endParaRPr lang="en-US" sz="1100"/>
                    </a:p>
                  </a:txBody>
                  <a:tcPr marL="190500" marR="190500" marT="190500" marB="190500" anchor="ctr">
                    <a:lnL cmpd="sng" algn="ctr" cap="flat" w="19050">
                      <a:solidFill>
                        <a:srgbClr val="EBF29C"/>
                      </a:solidFill>
                      <a:prstDash val="solid"/>
                      <a:round/>
                      <a:headEnd type="none" w="med" len="med"/>
                      <a:tailEnd type="none" w="med" len="med"/>
                    </a:lnL>
                    <a:lnR cmpd="sng" algn="ctr" cap="flat" w="19050">
                      <a:solidFill>
                        <a:srgbClr val="EBF29C"/>
                      </a:solidFill>
                      <a:prstDash val="solid"/>
                      <a:round/>
                      <a:headEnd type="none" w="med" len="med"/>
                      <a:tailEnd type="none" w="med" len="med"/>
                    </a:lnR>
                    <a:lnT cmpd="sng" algn="ctr" cap="flat" w="19050">
                      <a:solidFill>
                        <a:srgbClr val="EBF29C"/>
                      </a:solidFill>
                      <a:prstDash val="solid"/>
                      <a:round/>
                      <a:headEnd type="none" w="med" len="med"/>
                      <a:tailEnd type="none" w="med" len="med"/>
                    </a:lnT>
                    <a:lnB cmpd="sng" algn="ctr" cap="flat" w="19050">
                      <a:solidFill>
                        <a:srgbClr val="EBF29C"/>
                      </a:solidFill>
                      <a:prstDash val="solid"/>
                      <a:round/>
                      <a:headEnd type="none" w="med" len="med"/>
                      <a:tailEnd type="none" w="med" len="med"/>
                    </a:lnB>
                  </a:tcPr>
                </a:tc>
                <a:tc>
                  <a:txBody>
                    <a:bodyPr anchor="t" rtlCol="false"/>
                    <a:lstStyle/>
                    <a:p>
                      <a:pPr algn="ctr">
                        <a:lnSpc>
                          <a:spcPts val="2239"/>
                        </a:lnSpc>
                        <a:defRPr/>
                      </a:pPr>
                      <a:r>
                        <a:rPr lang="en-US" sz="1599">
                          <a:solidFill>
                            <a:srgbClr val="EBF29C"/>
                          </a:solidFill>
                          <a:latin typeface="Inter"/>
                          <a:ea typeface="Inter"/>
                          <a:cs typeface="Inter"/>
                          <a:sym typeface="Inter"/>
                        </a:rPr>
                        <a:t>Articles</a:t>
                      </a:r>
                      <a:endParaRPr lang="en-US" sz="1100"/>
                    </a:p>
                  </a:txBody>
                  <a:tcPr marL="190500" marR="190500" marT="190500" marB="190500" anchor="ctr">
                    <a:lnL cmpd="sng" algn="ctr" cap="flat" w="19050">
                      <a:solidFill>
                        <a:srgbClr val="EBF29C"/>
                      </a:solidFill>
                      <a:prstDash val="solid"/>
                      <a:round/>
                      <a:headEnd type="none" w="med" len="med"/>
                      <a:tailEnd type="none" w="med" len="med"/>
                    </a:lnL>
                    <a:lnR cmpd="sng" algn="ctr" cap="flat" w="19050">
                      <a:solidFill>
                        <a:srgbClr val="EBF29C"/>
                      </a:solidFill>
                      <a:prstDash val="solid"/>
                      <a:round/>
                      <a:headEnd type="none" w="med" len="med"/>
                      <a:tailEnd type="none" w="med" len="med"/>
                    </a:lnR>
                    <a:lnT cmpd="sng" algn="ctr" cap="flat" w="19050">
                      <a:solidFill>
                        <a:srgbClr val="EBF29C"/>
                      </a:solidFill>
                      <a:prstDash val="solid"/>
                      <a:round/>
                      <a:headEnd type="none" w="med" len="med"/>
                      <a:tailEnd type="none" w="med" len="med"/>
                    </a:lnT>
                    <a:lnB cmpd="sng" algn="ctr" cap="flat" w="19050">
                      <a:solidFill>
                        <a:srgbClr val="EBF29C"/>
                      </a:solidFill>
                      <a:prstDash val="solid"/>
                      <a:round/>
                      <a:headEnd type="none" w="med" len="med"/>
                      <a:tailEnd type="none" w="med" len="med"/>
                    </a:lnB>
                  </a:tcPr>
                </a:tc>
              </a:tr>
            </a:tbl>
          </a:graphicData>
        </a:graphic>
      </p:graphicFrame>
      <p:sp>
        <p:nvSpPr>
          <p:cNvPr name="TextBox 10" id="10"/>
          <p:cNvSpPr txBox="true"/>
          <p:nvPr/>
        </p:nvSpPr>
        <p:spPr>
          <a:xfrm rot="0">
            <a:off x="3741779" y="949051"/>
            <a:ext cx="10804441" cy="2244732"/>
          </a:xfrm>
          <a:prstGeom prst="rect">
            <a:avLst/>
          </a:prstGeom>
        </p:spPr>
        <p:txBody>
          <a:bodyPr anchor="t" rtlCol="false" tIns="0" lIns="0" bIns="0" rIns="0">
            <a:spAutoFit/>
          </a:bodyPr>
          <a:lstStyle/>
          <a:p>
            <a:pPr algn="ctr">
              <a:lnSpc>
                <a:spcPts val="7900"/>
              </a:lnSpc>
            </a:pPr>
            <a:r>
              <a:rPr lang="en-US" b="true" sz="10000" spc="-630">
                <a:solidFill>
                  <a:srgbClr val="EBF29C"/>
                </a:solidFill>
                <a:latin typeface="Telegraf Ultra-Bold"/>
                <a:ea typeface="Telegraf Ultra-Bold"/>
                <a:cs typeface="Telegraf Ultra-Bold"/>
                <a:sym typeface="Telegraf Ultra-Bold"/>
              </a:rPr>
              <a:t>PLATFORM COMPARISON</a:t>
            </a:r>
          </a:p>
        </p:txBody>
      </p:sp>
      <p:sp>
        <p:nvSpPr>
          <p:cNvPr name="TextBox 11" id="11"/>
          <p:cNvSpPr txBox="true"/>
          <p:nvPr/>
        </p:nvSpPr>
        <p:spPr>
          <a:xfrm rot="0">
            <a:off x="4407109" y="3870057"/>
            <a:ext cx="9473782" cy="617778"/>
          </a:xfrm>
          <a:prstGeom prst="rect">
            <a:avLst/>
          </a:prstGeom>
        </p:spPr>
        <p:txBody>
          <a:bodyPr anchor="t" rtlCol="false" tIns="0" lIns="0" bIns="0" rIns="0">
            <a:spAutoFit/>
          </a:bodyPr>
          <a:lstStyle/>
          <a:p>
            <a:pPr algn="ctr">
              <a:lnSpc>
                <a:spcPts val="4799"/>
              </a:lnSpc>
              <a:spcBef>
                <a:spcPct val="0"/>
              </a:spcBef>
            </a:pPr>
            <a:r>
              <a:rPr lang="en-US" b="true" sz="3428">
                <a:solidFill>
                  <a:srgbClr val="EBF29C"/>
                </a:solidFill>
                <a:latin typeface="Telegraf Bold"/>
                <a:ea typeface="Telegraf Bold"/>
                <a:cs typeface="Telegraf Bold"/>
                <a:sym typeface="Telegraf Bold"/>
              </a:rPr>
              <a:t>Comparing Platforms at a Glance</a:t>
            </a:r>
          </a:p>
        </p:txBody>
      </p:sp>
      <p:sp>
        <p:nvSpPr>
          <p:cNvPr name="TextBox 12" id="12"/>
          <p:cNvSpPr txBox="true"/>
          <p:nvPr/>
        </p:nvSpPr>
        <p:spPr>
          <a:xfrm rot="0">
            <a:off x="12058334" y="6065913"/>
            <a:ext cx="4640777" cy="2816225"/>
          </a:xfrm>
          <a:prstGeom prst="rect">
            <a:avLst/>
          </a:prstGeom>
        </p:spPr>
        <p:txBody>
          <a:bodyPr anchor="t" rtlCol="false" tIns="0" lIns="0" bIns="0" rIns="0">
            <a:spAutoFit/>
          </a:bodyPr>
          <a:lstStyle/>
          <a:p>
            <a:pPr algn="just">
              <a:lnSpc>
                <a:spcPts val="2800"/>
              </a:lnSpc>
              <a:spcBef>
                <a:spcPct val="0"/>
              </a:spcBef>
            </a:pPr>
            <a:r>
              <a:rPr lang="en-US" sz="2000" spc="52">
                <a:solidFill>
                  <a:srgbClr val="EBF29C"/>
                </a:solidFill>
                <a:latin typeface="Inter Light"/>
                <a:ea typeface="Inter Light"/>
                <a:cs typeface="Inter Light"/>
                <a:sym typeface="Inter Light"/>
              </a:rPr>
              <a:t>Lorem ipsum dolor sit amet, consectetur adipiscing elit. Sed vehicula sodales pellentesque. Morbi tempus rutrum auctor. Nam feugiat eget orci in fringilla. Aliquam tincidunt luctus justo, at semper libero euismod quis. Curabitur nec felis ipsum.</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2A2A2E"/>
        </a:solidFill>
      </p:bgPr>
    </p:bg>
    <p:spTree>
      <p:nvGrpSpPr>
        <p:cNvPr id="1" name=""/>
        <p:cNvGrpSpPr/>
        <p:nvPr/>
      </p:nvGrpSpPr>
      <p:grpSpPr>
        <a:xfrm>
          <a:off x="0" y="0"/>
          <a:ext cx="0" cy="0"/>
          <a:chOff x="0" y="0"/>
          <a:chExt cx="0" cy="0"/>
        </a:xfrm>
      </p:grpSpPr>
      <p:sp>
        <p:nvSpPr>
          <p:cNvPr name="AutoShape 2" id="2"/>
          <p:cNvSpPr/>
          <p:nvPr/>
        </p:nvSpPr>
        <p:spPr>
          <a:xfrm flipV="true">
            <a:off x="10372966" y="0"/>
            <a:ext cx="0" cy="10287000"/>
          </a:xfrm>
          <a:prstGeom prst="line">
            <a:avLst/>
          </a:prstGeom>
          <a:ln cap="flat" w="19050">
            <a:solidFill>
              <a:srgbClr val="EBF29C"/>
            </a:solidFill>
            <a:prstDash val="solid"/>
            <a:headEnd type="none" len="sm" w="sm"/>
            <a:tailEnd type="none" len="sm" w="sm"/>
          </a:ln>
        </p:spPr>
      </p:sp>
      <p:sp>
        <p:nvSpPr>
          <p:cNvPr name="AutoShape 3" id="3"/>
          <p:cNvSpPr/>
          <p:nvPr/>
        </p:nvSpPr>
        <p:spPr>
          <a:xfrm>
            <a:off x="10372966" y="5143500"/>
            <a:ext cx="7915034" cy="0"/>
          </a:xfrm>
          <a:prstGeom prst="line">
            <a:avLst/>
          </a:prstGeom>
          <a:ln cap="flat" w="19050">
            <a:solidFill>
              <a:srgbClr val="EBF29C"/>
            </a:solidFill>
            <a:prstDash val="solid"/>
            <a:headEnd type="none" len="sm" w="sm"/>
            <a:tailEnd type="none" len="sm" w="sm"/>
          </a:ln>
        </p:spPr>
      </p:sp>
      <p:sp>
        <p:nvSpPr>
          <p:cNvPr name="Freeform 4" id="4"/>
          <p:cNvSpPr/>
          <p:nvPr/>
        </p:nvSpPr>
        <p:spPr>
          <a:xfrm flipH="false" flipV="true" rot="0">
            <a:off x="1028700" y="1028700"/>
            <a:ext cx="667854" cy="639926"/>
          </a:xfrm>
          <a:custGeom>
            <a:avLst/>
            <a:gdLst/>
            <a:ahLst/>
            <a:cxnLst/>
            <a:rect r="r" b="b" t="t" l="l"/>
            <a:pathLst>
              <a:path h="639926" w="667854">
                <a:moveTo>
                  <a:pt x="0" y="639926"/>
                </a:moveTo>
                <a:lnTo>
                  <a:pt x="667854" y="639926"/>
                </a:lnTo>
                <a:lnTo>
                  <a:pt x="667854" y="0"/>
                </a:lnTo>
                <a:lnTo>
                  <a:pt x="0" y="0"/>
                </a:lnTo>
                <a:lnTo>
                  <a:pt x="0" y="63992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8734603" y="8388375"/>
            <a:ext cx="667854" cy="639926"/>
          </a:xfrm>
          <a:custGeom>
            <a:avLst/>
            <a:gdLst/>
            <a:ahLst/>
            <a:cxnLst/>
            <a:rect r="r" b="b" t="t" l="l"/>
            <a:pathLst>
              <a:path h="639926" w="667854">
                <a:moveTo>
                  <a:pt x="0" y="0"/>
                </a:moveTo>
                <a:lnTo>
                  <a:pt x="667855" y="0"/>
                </a:lnTo>
                <a:lnTo>
                  <a:pt x="667855" y="639926"/>
                </a:lnTo>
                <a:lnTo>
                  <a:pt x="0" y="6399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028700" y="4161026"/>
            <a:ext cx="8373758" cy="2244732"/>
          </a:xfrm>
          <a:prstGeom prst="rect">
            <a:avLst/>
          </a:prstGeom>
        </p:spPr>
        <p:txBody>
          <a:bodyPr anchor="t" rtlCol="false" tIns="0" lIns="0" bIns="0" rIns="0">
            <a:spAutoFit/>
          </a:bodyPr>
          <a:lstStyle/>
          <a:p>
            <a:pPr algn="l">
              <a:lnSpc>
                <a:spcPts val="7900"/>
              </a:lnSpc>
            </a:pPr>
            <a:r>
              <a:rPr lang="en-US" b="true" sz="10000" spc="-630">
                <a:solidFill>
                  <a:srgbClr val="EBF29C"/>
                </a:solidFill>
                <a:latin typeface="Telegraf Ultra-Bold"/>
                <a:ea typeface="Telegraf Ultra-Bold"/>
                <a:cs typeface="Telegraf Ultra-Bold"/>
                <a:sym typeface="Telegraf Ultra-Bold"/>
              </a:rPr>
              <a:t>CHALLENGES &amp; LEARNINGS</a:t>
            </a:r>
          </a:p>
        </p:txBody>
      </p:sp>
      <p:grpSp>
        <p:nvGrpSpPr>
          <p:cNvPr name="Group 7" id="7"/>
          <p:cNvGrpSpPr/>
          <p:nvPr/>
        </p:nvGrpSpPr>
        <p:grpSpPr>
          <a:xfrm rot="0">
            <a:off x="11257428" y="1258699"/>
            <a:ext cx="6146109" cy="2626101"/>
            <a:chOff x="0" y="0"/>
            <a:chExt cx="8194812" cy="3501469"/>
          </a:xfrm>
        </p:grpSpPr>
        <p:sp>
          <p:nvSpPr>
            <p:cNvPr name="TextBox 8" id="8"/>
            <p:cNvSpPr txBox="true"/>
            <p:nvPr/>
          </p:nvSpPr>
          <p:spPr>
            <a:xfrm rot="0">
              <a:off x="0" y="-104775"/>
              <a:ext cx="7915026" cy="788779"/>
            </a:xfrm>
            <a:prstGeom prst="rect">
              <a:avLst/>
            </a:prstGeom>
          </p:spPr>
          <p:txBody>
            <a:bodyPr anchor="t" rtlCol="false" tIns="0" lIns="0" bIns="0" rIns="0">
              <a:spAutoFit/>
            </a:bodyPr>
            <a:lstStyle/>
            <a:p>
              <a:pPr algn="l">
                <a:lnSpc>
                  <a:spcPts val="4799"/>
                </a:lnSpc>
                <a:spcBef>
                  <a:spcPct val="0"/>
                </a:spcBef>
              </a:pPr>
              <a:r>
                <a:rPr lang="en-US" sz="3428" b="true">
                  <a:solidFill>
                    <a:srgbClr val="EBF29C"/>
                  </a:solidFill>
                  <a:latin typeface="Telegraf Bold"/>
                  <a:ea typeface="Telegraf Bold"/>
                  <a:cs typeface="Telegraf Bold"/>
                  <a:sym typeface="Telegraf Bold"/>
                </a:rPr>
                <a:t>Challenges</a:t>
              </a:r>
            </a:p>
          </p:txBody>
        </p:sp>
        <p:sp>
          <p:nvSpPr>
            <p:cNvPr name="TextBox 9" id="9"/>
            <p:cNvSpPr txBox="true"/>
            <p:nvPr/>
          </p:nvSpPr>
          <p:spPr>
            <a:xfrm rot="0">
              <a:off x="0" y="1172077"/>
              <a:ext cx="8194812" cy="2329392"/>
            </a:xfrm>
            <a:prstGeom prst="rect">
              <a:avLst/>
            </a:prstGeom>
          </p:spPr>
          <p:txBody>
            <a:bodyPr anchor="t" rtlCol="false" tIns="0" lIns="0" bIns="0" rIns="0">
              <a:spAutoFit/>
            </a:bodyPr>
            <a:lstStyle/>
            <a:p>
              <a:pPr algn="just">
                <a:lnSpc>
                  <a:spcPts val="2800"/>
                </a:lnSpc>
                <a:spcBef>
                  <a:spcPct val="0"/>
                </a:spcBef>
              </a:pPr>
              <a:r>
                <a:rPr lang="en-US" sz="2000" spc="52">
                  <a:solidFill>
                    <a:srgbClr val="EBF29C"/>
                  </a:solidFill>
                  <a:latin typeface="Inter Light"/>
                  <a:ea typeface="Inter Light"/>
                  <a:cs typeface="Inter Light"/>
                  <a:sym typeface="Inter Light"/>
                </a:rPr>
                <a:t>Lorem ipsum dolor sit amet, consectetur adipiscing elit. Sed vehicula sodales pellentesque. Morbi tempus rutrum auctor. Nam feugiat eget orci in fringilla. Aliquam tincidunt luctus justo, at semper libero euismod quis.</a:t>
              </a:r>
            </a:p>
          </p:txBody>
        </p:sp>
      </p:grpSp>
      <p:grpSp>
        <p:nvGrpSpPr>
          <p:cNvPr name="Group 10" id="10"/>
          <p:cNvGrpSpPr/>
          <p:nvPr/>
        </p:nvGrpSpPr>
        <p:grpSpPr>
          <a:xfrm rot="0">
            <a:off x="11257428" y="6402199"/>
            <a:ext cx="6146109" cy="2626101"/>
            <a:chOff x="0" y="0"/>
            <a:chExt cx="8194812" cy="3501469"/>
          </a:xfrm>
        </p:grpSpPr>
        <p:sp>
          <p:nvSpPr>
            <p:cNvPr name="TextBox 11" id="11"/>
            <p:cNvSpPr txBox="true"/>
            <p:nvPr/>
          </p:nvSpPr>
          <p:spPr>
            <a:xfrm rot="0">
              <a:off x="0" y="-104775"/>
              <a:ext cx="7915026" cy="788779"/>
            </a:xfrm>
            <a:prstGeom prst="rect">
              <a:avLst/>
            </a:prstGeom>
          </p:spPr>
          <p:txBody>
            <a:bodyPr anchor="t" rtlCol="false" tIns="0" lIns="0" bIns="0" rIns="0">
              <a:spAutoFit/>
            </a:bodyPr>
            <a:lstStyle/>
            <a:p>
              <a:pPr algn="l">
                <a:lnSpc>
                  <a:spcPts val="4799"/>
                </a:lnSpc>
                <a:spcBef>
                  <a:spcPct val="0"/>
                </a:spcBef>
              </a:pPr>
              <a:r>
                <a:rPr lang="en-US" sz="3428" b="true">
                  <a:solidFill>
                    <a:srgbClr val="EBF29C"/>
                  </a:solidFill>
                  <a:latin typeface="Telegraf Bold"/>
                  <a:ea typeface="Telegraf Bold"/>
                  <a:cs typeface="Telegraf Bold"/>
                  <a:sym typeface="Telegraf Bold"/>
                </a:rPr>
                <a:t>Solutions</a:t>
              </a:r>
            </a:p>
          </p:txBody>
        </p:sp>
        <p:sp>
          <p:nvSpPr>
            <p:cNvPr name="TextBox 12" id="12"/>
            <p:cNvSpPr txBox="true"/>
            <p:nvPr/>
          </p:nvSpPr>
          <p:spPr>
            <a:xfrm rot="0">
              <a:off x="0" y="1172077"/>
              <a:ext cx="8194812" cy="2329392"/>
            </a:xfrm>
            <a:prstGeom prst="rect">
              <a:avLst/>
            </a:prstGeom>
          </p:spPr>
          <p:txBody>
            <a:bodyPr anchor="t" rtlCol="false" tIns="0" lIns="0" bIns="0" rIns="0">
              <a:spAutoFit/>
            </a:bodyPr>
            <a:lstStyle/>
            <a:p>
              <a:pPr algn="just">
                <a:lnSpc>
                  <a:spcPts val="2800"/>
                </a:lnSpc>
                <a:spcBef>
                  <a:spcPct val="0"/>
                </a:spcBef>
              </a:pPr>
              <a:r>
                <a:rPr lang="en-US" sz="2000" spc="52">
                  <a:solidFill>
                    <a:srgbClr val="EBF29C"/>
                  </a:solidFill>
                  <a:latin typeface="Inter Light"/>
                  <a:ea typeface="Inter Light"/>
                  <a:cs typeface="Inter Light"/>
                  <a:sym typeface="Inter Light"/>
                </a:rPr>
                <a:t>Lorem ipsum dolor sit amet, consectetur adipiscing elit. Sed vehicula sodales pellentesque. Morbi tempus rutrum auctor. Nam feugiat eget orci in fringilla. Aliquam tincidunt luctus justo, at semper libero euismod quis.</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2A2A2E"/>
        </a:solidFill>
      </p:bgPr>
    </p:bg>
    <p:spTree>
      <p:nvGrpSpPr>
        <p:cNvPr id="1" name=""/>
        <p:cNvGrpSpPr/>
        <p:nvPr/>
      </p:nvGrpSpPr>
      <p:grpSpPr>
        <a:xfrm>
          <a:off x="0" y="0"/>
          <a:ext cx="0" cy="0"/>
          <a:chOff x="0" y="0"/>
          <a:chExt cx="0" cy="0"/>
        </a:xfrm>
      </p:grpSpPr>
      <p:sp>
        <p:nvSpPr>
          <p:cNvPr name="AutoShape 2" id="2"/>
          <p:cNvSpPr/>
          <p:nvPr/>
        </p:nvSpPr>
        <p:spPr>
          <a:xfrm flipV="true">
            <a:off x="1019175" y="37937"/>
            <a:ext cx="0" cy="10287000"/>
          </a:xfrm>
          <a:prstGeom prst="line">
            <a:avLst/>
          </a:prstGeom>
          <a:ln cap="flat" w="19050">
            <a:solidFill>
              <a:srgbClr val="EBF29C"/>
            </a:solidFill>
            <a:prstDash val="solid"/>
            <a:headEnd type="none" len="sm" w="sm"/>
            <a:tailEnd type="none" len="sm" w="sm"/>
          </a:ln>
        </p:spPr>
      </p:sp>
      <p:sp>
        <p:nvSpPr>
          <p:cNvPr name="AutoShape 3" id="3"/>
          <p:cNvSpPr/>
          <p:nvPr/>
        </p:nvSpPr>
        <p:spPr>
          <a:xfrm flipV="true">
            <a:off x="17268825" y="0"/>
            <a:ext cx="0" cy="10287000"/>
          </a:xfrm>
          <a:prstGeom prst="line">
            <a:avLst/>
          </a:prstGeom>
          <a:ln cap="flat" w="19050">
            <a:solidFill>
              <a:srgbClr val="EBF29C"/>
            </a:solidFill>
            <a:prstDash val="solid"/>
            <a:headEnd type="none" len="sm" w="sm"/>
            <a:tailEnd type="none" len="sm" w="sm"/>
          </a:ln>
        </p:spPr>
      </p:sp>
      <p:sp>
        <p:nvSpPr>
          <p:cNvPr name="Freeform 4" id="4"/>
          <p:cNvSpPr/>
          <p:nvPr/>
        </p:nvSpPr>
        <p:spPr>
          <a:xfrm flipH="false" flipV="true" rot="0">
            <a:off x="685248" y="5757573"/>
            <a:ext cx="667854" cy="639926"/>
          </a:xfrm>
          <a:custGeom>
            <a:avLst/>
            <a:gdLst/>
            <a:ahLst/>
            <a:cxnLst/>
            <a:rect r="r" b="b" t="t" l="l"/>
            <a:pathLst>
              <a:path h="639926" w="667854">
                <a:moveTo>
                  <a:pt x="0" y="639926"/>
                </a:moveTo>
                <a:lnTo>
                  <a:pt x="667854" y="639926"/>
                </a:lnTo>
                <a:lnTo>
                  <a:pt x="667854" y="0"/>
                </a:lnTo>
                <a:lnTo>
                  <a:pt x="0" y="0"/>
                </a:lnTo>
                <a:lnTo>
                  <a:pt x="0" y="63992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934898" y="5757573"/>
            <a:ext cx="667854" cy="639926"/>
          </a:xfrm>
          <a:custGeom>
            <a:avLst/>
            <a:gdLst/>
            <a:ahLst/>
            <a:cxnLst/>
            <a:rect r="r" b="b" t="t" l="l"/>
            <a:pathLst>
              <a:path h="639926" w="667854">
                <a:moveTo>
                  <a:pt x="0" y="0"/>
                </a:moveTo>
                <a:lnTo>
                  <a:pt x="667854" y="0"/>
                </a:lnTo>
                <a:lnTo>
                  <a:pt x="667854" y="639926"/>
                </a:lnTo>
                <a:lnTo>
                  <a:pt x="0" y="6399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028700" y="1295282"/>
            <a:ext cx="16230600" cy="7696437"/>
            <a:chOff x="0" y="0"/>
            <a:chExt cx="21640800" cy="10261915"/>
          </a:xfrm>
        </p:grpSpPr>
        <p:sp>
          <p:nvSpPr>
            <p:cNvPr name="TextBox 7" id="7"/>
            <p:cNvSpPr txBox="true"/>
            <p:nvPr/>
          </p:nvSpPr>
          <p:spPr>
            <a:xfrm rot="0">
              <a:off x="5237895" y="276225"/>
              <a:ext cx="11165010" cy="1751550"/>
            </a:xfrm>
            <a:prstGeom prst="rect">
              <a:avLst/>
            </a:prstGeom>
          </p:spPr>
          <p:txBody>
            <a:bodyPr anchor="t" rtlCol="false" tIns="0" lIns="0" bIns="0" rIns="0">
              <a:spAutoFit/>
            </a:bodyPr>
            <a:lstStyle/>
            <a:p>
              <a:pPr algn="l">
                <a:lnSpc>
                  <a:spcPts val="7900"/>
                </a:lnSpc>
              </a:pPr>
              <a:r>
                <a:rPr lang="en-US" b="true" sz="10000" spc="-630">
                  <a:solidFill>
                    <a:srgbClr val="EBF29C"/>
                  </a:solidFill>
                  <a:latin typeface="Telegraf Ultra-Bold"/>
                  <a:ea typeface="Telegraf Ultra-Bold"/>
                  <a:cs typeface="Telegraf Ultra-Bold"/>
                  <a:sym typeface="Telegraf Ultra-Bold"/>
                </a:rPr>
                <a:t>CONCLUSION</a:t>
              </a:r>
            </a:p>
          </p:txBody>
        </p:sp>
        <p:grpSp>
          <p:nvGrpSpPr>
            <p:cNvPr name="Group 8" id="8"/>
            <p:cNvGrpSpPr/>
            <p:nvPr/>
          </p:nvGrpSpPr>
          <p:grpSpPr>
            <a:xfrm rot="0">
              <a:off x="0" y="2561175"/>
              <a:ext cx="21640800" cy="7700740"/>
              <a:chOff x="0" y="0"/>
              <a:chExt cx="4274726" cy="1521134"/>
            </a:xfrm>
          </p:grpSpPr>
          <p:sp>
            <p:nvSpPr>
              <p:cNvPr name="Freeform 9" id="9"/>
              <p:cNvSpPr/>
              <p:nvPr/>
            </p:nvSpPr>
            <p:spPr>
              <a:xfrm flipH="false" flipV="false" rot="0">
                <a:off x="0" y="0"/>
                <a:ext cx="4274726" cy="1521134"/>
              </a:xfrm>
              <a:custGeom>
                <a:avLst/>
                <a:gdLst/>
                <a:ahLst/>
                <a:cxnLst/>
                <a:rect r="r" b="b" t="t" l="l"/>
                <a:pathLst>
                  <a:path h="1521134" w="4274726">
                    <a:moveTo>
                      <a:pt x="2137363" y="0"/>
                    </a:moveTo>
                    <a:cubicBezTo>
                      <a:pt x="956930" y="0"/>
                      <a:pt x="0" y="340517"/>
                      <a:pt x="0" y="760567"/>
                    </a:cubicBezTo>
                    <a:cubicBezTo>
                      <a:pt x="0" y="1180616"/>
                      <a:pt x="956930" y="1521134"/>
                      <a:pt x="2137363" y="1521134"/>
                    </a:cubicBezTo>
                    <a:cubicBezTo>
                      <a:pt x="3317796" y="1521134"/>
                      <a:pt x="4274726" y="1180616"/>
                      <a:pt x="4274726" y="760567"/>
                    </a:cubicBezTo>
                    <a:cubicBezTo>
                      <a:pt x="4274726" y="340517"/>
                      <a:pt x="3317796" y="0"/>
                      <a:pt x="2137363" y="0"/>
                    </a:cubicBezTo>
                    <a:close/>
                  </a:path>
                </a:pathLst>
              </a:custGeom>
              <a:ln w="19050" cap="sq">
                <a:solidFill>
                  <a:srgbClr val="EBF29C"/>
                </a:solidFill>
                <a:prstDash val="solid"/>
                <a:miter/>
              </a:ln>
            </p:spPr>
          </p:sp>
          <p:sp>
            <p:nvSpPr>
              <p:cNvPr name="TextBox 10" id="10"/>
              <p:cNvSpPr txBox="true"/>
              <p:nvPr/>
            </p:nvSpPr>
            <p:spPr>
              <a:xfrm>
                <a:off x="400756" y="218806"/>
                <a:ext cx="3473215" cy="1159721"/>
              </a:xfrm>
              <a:prstGeom prst="rect">
                <a:avLst/>
              </a:prstGeom>
            </p:spPr>
            <p:txBody>
              <a:bodyPr anchor="ctr" rtlCol="false" tIns="50800" lIns="50800" bIns="50800" rIns="50800"/>
              <a:lstStyle/>
              <a:p>
                <a:pPr algn="ctr">
                  <a:lnSpc>
                    <a:spcPts val="1997"/>
                  </a:lnSpc>
                </a:pPr>
              </a:p>
            </p:txBody>
          </p:sp>
        </p:grpSp>
        <p:sp>
          <p:nvSpPr>
            <p:cNvPr name="TextBox 11" id="11"/>
            <p:cNvSpPr txBox="true"/>
            <p:nvPr/>
          </p:nvSpPr>
          <p:spPr>
            <a:xfrm rot="0">
              <a:off x="6385431" y="4120760"/>
              <a:ext cx="8869937" cy="788779"/>
            </a:xfrm>
            <a:prstGeom prst="rect">
              <a:avLst/>
            </a:prstGeom>
          </p:spPr>
          <p:txBody>
            <a:bodyPr anchor="t" rtlCol="false" tIns="0" lIns="0" bIns="0" rIns="0">
              <a:spAutoFit/>
            </a:bodyPr>
            <a:lstStyle/>
            <a:p>
              <a:pPr algn="ctr">
                <a:lnSpc>
                  <a:spcPts val="4799"/>
                </a:lnSpc>
                <a:spcBef>
                  <a:spcPct val="0"/>
                </a:spcBef>
              </a:pPr>
              <a:r>
                <a:rPr lang="en-US" b="true" sz="3428">
                  <a:solidFill>
                    <a:srgbClr val="EBF29C"/>
                  </a:solidFill>
                  <a:latin typeface="Telegraf Bold"/>
                  <a:ea typeface="Telegraf Bold"/>
                  <a:cs typeface="Telegraf Bold"/>
                  <a:sym typeface="Telegraf Bold"/>
                </a:rPr>
                <a:t>Summary and Next Steps</a:t>
              </a:r>
            </a:p>
          </p:txBody>
        </p:sp>
        <p:sp>
          <p:nvSpPr>
            <p:cNvPr name="TextBox 12" id="12"/>
            <p:cNvSpPr txBox="true"/>
            <p:nvPr/>
          </p:nvSpPr>
          <p:spPr>
            <a:xfrm rot="0">
              <a:off x="3041270" y="5400615"/>
              <a:ext cx="15558261" cy="2329392"/>
            </a:xfrm>
            <a:prstGeom prst="rect">
              <a:avLst/>
            </a:prstGeom>
          </p:spPr>
          <p:txBody>
            <a:bodyPr anchor="t" rtlCol="false" tIns="0" lIns="0" bIns="0" rIns="0">
              <a:spAutoFit/>
            </a:bodyPr>
            <a:lstStyle/>
            <a:p>
              <a:pPr algn="ctr">
                <a:lnSpc>
                  <a:spcPts val="2800"/>
                </a:lnSpc>
                <a:spcBef>
                  <a:spcPct val="0"/>
                </a:spcBef>
              </a:pPr>
              <a:r>
                <a:rPr lang="en-US" sz="2000" spc="52">
                  <a:solidFill>
                    <a:srgbClr val="EBF29C"/>
                  </a:solidFill>
                  <a:latin typeface="Inter Light"/>
                  <a:ea typeface="Inter Light"/>
                  <a:cs typeface="Inter Light"/>
                  <a:sym typeface="Inter Light"/>
                </a:rPr>
                <a:t>Lorem ipsum dolor sit amet, consectetur adipiscing elit. Sed vehicula sodales pellentesque. Morbi tempus rutrum auctor. Nam feugiat eget orci in fringilla. Aliquam tincidunt luctus justo, at semper libero euismod quis. Curabitur nec felis ipsum. Vivamus rhoncus tellus ut metus lobortis lacinia. In molestie luctus dui, non feugiat nulla. Donec pulvinar lobortis ligula, eu semper eros euismod et. Aliquam erat volutpat.</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DAHElwQPxL0</dc:identifier>
  <dcterms:modified xsi:type="dcterms:W3CDTF">2011-08-01T06:04:30Z</dcterms:modified>
  <cp:revision>1</cp:revision>
  <dc:title>Black Yellow Simple Modern Social Media Report Presentation</dc:title>
</cp:coreProperties>
</file>