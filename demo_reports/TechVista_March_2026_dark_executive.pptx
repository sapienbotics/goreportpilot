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1216152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418320" y="457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TechVista Solutions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1, 2026 to Mar 31,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SapienBotics Agency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0" y="3657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554480"/>
            <a:ext cx="10149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CBD5E1"/>
                </a:solidFill>
                <a:latin typeface="Calibri"/>
              </a:rPr>
              <a:t>March 2026 was a breakthrough month for TechVista Solutions following the DataPulse product launch on February 15th. Website sessions surged 34.2% to 45,230, driven primarily by a well-executed Google Ads campaign and strong organic search performance.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The combined paid advertising effort across Meta Ads and Google yielded 1,240 conversions - a 67.5% increase over the previous period. Meta Ads delivered a strong 3.8x ROAS with the retargeting campaign performing exceptionally well at 4.2x ROAS.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SEO efforts are paying dividends, with organic traffic now representing 33.6% of total sessions. The TechCrunch feature on March 12th generated a notable referral traffic spike that contributed to 950 new users.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Key areas requiring attention include the Lookalike Audiences campaign which underperformed at 2.8x ROAS, and the overall bounce rate on mobile devices which remains elevated at 52.1% compared to 38.4% on desktop.</a:t>
            </a:r>
          </a:p>
        </p:txBody>
      </p:sp>
      <p:sp>
        <p:nvSpPr>
          <p:cNvPr id="6" name="Shape 4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417320"/>
            <a:ext cx="320040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32688" y="160020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1965960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45,230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32688" y="269748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+34.2%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20040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53128" y="160020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53128" y="1965960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28,450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53128" y="269748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+28.7%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141732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0" y="1417320"/>
            <a:ext cx="320040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973568" y="160020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73568" y="1965960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973568" y="269748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+67.5%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1520" y="3749040"/>
            <a:ext cx="320040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2688" y="393192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4297680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$8,450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32688" y="502920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+12.3%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51960" y="374904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251960" y="3749040"/>
            <a:ext cx="320040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53128" y="393192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53128" y="4297680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3.8x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453128" y="502920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+22.6%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74904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772400" y="3749040"/>
            <a:ext cx="320040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973568" y="393192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CONV.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73568" y="4297680"/>
            <a:ext cx="2798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$20.12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973568" y="5029200"/>
            <a:ext cx="2798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+14.4%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CBD5E1"/>
                </a:solidFill>
                <a:latin typeface="Calibri"/>
              </a:rPr>
              <a:t>TechVista's website experienced exceptional growth in March, with sessions climbing from 33,705 to 45,230 - a 34.2% increase. The DataPulse launch on February 15th continued to drive interest throughout March, with a visible traffic spike during March 15-18 coinciding with the TechCrunch feature article.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User acquisition was strong with 19,200 new users (67.5% of total users), indicating effective top-of-funnel marketing. Returning users also grew by 18.3%, suggesting the product is generating genuine interest.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The bounce rate improved significantly from 50.4% to 42.3%, a testament to the landing page optimizations implemented in late February. Average session duration of 3 minutes and 5 seconds indicates users are engaging deeply with product content.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Traffic sources showed healthy diversification: organic search (33.6%), paid search (28.3%), paid social (18.6%), direct (11.3%), LinkedIn (4.6%), and referrals (3.6%).</a:t>
            </a:r>
          </a:p>
        </p:txBody>
      </p:sp>
      <p:sp>
        <p:nvSpPr>
          <p:cNvPr id="9" name="Shape 7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4</a:t>
            </a:r>
            <a:endParaRPr lang="en-US" sz="800" dirty="0"/>
          </a:p>
        </p:txBody>
      </p:sp>
      <p:pic>
        <p:nvPicPr>
          <p:cNvPr id="11" name="Picture 10" descr="ses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120640" cy="2743200"/>
          </a:xfrm>
          <a:prstGeom prst="rect">
            <a:avLst/>
          </a:prstGeom>
        </p:spPr>
      </p:pic>
      <p:pic>
        <p:nvPicPr>
          <p:cNvPr id="12" name="Picture 11" descr="traffic_sour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2120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Advertising — Meta Ads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CBD5E1"/>
                </a:solidFill>
                <a:latin typeface="Calibri"/>
              </a:rPr>
              <a:t>Meta Ads investment of $8,450 delivered 420 conversions at a cost per acquisition of $20.12, generating an overall ROAS of 3.8x. This represents a 45.8% increase in conversions compared to February.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The DataPulse Retargeting campaign was the clear winner, generating 210 conversions at 4.2x ROAS - this campaign alone justified 50% of total conversions at the lowest CPA. The Brand Awareness campaign reached 220,000 impressions and contributed 120 conversions.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The Competitor Targeting campaign showed promising results with a 3.5x ROAS, successfully capturing users researching alternative solutions. However, the Lookalike Audiences campaign underperformed at 2.8x ROAS and warrants creative refresh or audience refinement.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CTR across all campaigns averaged 3.0%, above the industry benchmark of 2.1% for B2B SaaS. CPC remained efficient at $0.54, down from $0.62 in February.</a:t>
            </a:r>
          </a:p>
        </p:txBody>
      </p:sp>
      <p:sp>
        <p:nvSpPr>
          <p:cNvPr id="9" name="Shape 7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5</a:t>
            </a:r>
            <a:endParaRPr lang="en-US" sz="800" dirty="0"/>
          </a:p>
        </p:txBody>
      </p:sp>
      <p:pic>
        <p:nvPicPr>
          <p:cNvPr id="11" name="Picture 10" descr="spend_conver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120640" cy="2743200"/>
          </a:xfrm>
          <a:prstGeom prst="rect">
            <a:avLst/>
          </a:prstGeom>
        </p:spPr>
      </p:pic>
      <p:pic>
        <p:nvPicPr>
          <p:cNvPr id="12" name="Picture 11" descr="campaig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2120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Wins &amp;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554480"/>
            <a:ext cx="10149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>
                <a:solidFill>
                  <a:srgbClr val="CBD5E1"/>
                </a:solidFill>
                <a:latin typeface="Calibri"/>
              </a:rPr>
              <a:t>Sessions surged 34.2% to 45,230, marking the highest traffic month in company history</a:t>
            </a:r>
            <a:endParaRPr lang="en-US" sz="12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>
                <a:solidFill>
                  <a:srgbClr val="CBD5E1"/>
                </a:solidFill>
                <a:latin typeface="Calibri"/>
              </a:rPr>
              <a:t>Conversions jumped 67.5% to 1,240, exceeding the monthly target of 500 trial signups by 148%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>
                <a:solidFill>
                  <a:srgbClr val="CBD5E1"/>
                </a:solidFill>
                <a:latin typeface="Calibri"/>
              </a:rPr>
              <a:t>Meta Ads retargeting campaign delivered exceptional 4.2x ROAS with 210 conversions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>
                <a:solidFill>
                  <a:srgbClr val="CBD5E1"/>
                </a:solidFill>
                <a:latin typeface="Calibri"/>
              </a:rPr>
              <a:t>Bounce rate improved from 50.4% to 42.3%, indicating stronger landing page performance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>
                <a:solidFill>
                  <a:srgbClr val="CBD5E1"/>
                </a:solidFill>
                <a:latin typeface="Calibri"/>
              </a:rPr>
              <a:t>TechCrunch feature generated 950 referral users and boosted brand authority</a:t>
            </a:r>
          </a:p>
        </p:txBody>
      </p:sp>
      <p:sp>
        <p:nvSpPr>
          <p:cNvPr id="6" name="Shape 4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554480"/>
            <a:ext cx="10149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200" b="1">
                <a:solidFill>
                  <a:srgbClr val="D97706"/>
                </a:solidFill>
                <a:latin typeface="Calibri"/>
              </a:rPr>
              <a:t>⚠  </a:t>
            </a:r>
            <a:r>
              <a:rPr sz="1200">
                <a:solidFill>
                  <a:srgbClr val="CBD5E1"/>
                </a:solidFill>
                <a:latin typeface="Calibri"/>
              </a:rPr>
              <a:t>Lookalike Audiences campaign underperforming at 2.8x ROAS - recommend pausing and testing new audience segments based on DataPulse trial signups</a:t>
            </a:r>
            <a:endParaRPr lang="en-US" sz="12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⚠  </a:t>
            </a:r>
            <a:r>
              <a:rPr sz="1200">
                <a:solidFill>
                  <a:srgbClr val="CBD5E1"/>
                </a:solidFill>
                <a:latin typeface="Calibri"/>
              </a:rPr>
              <a:t>Mobile bounce rate at 52.1% vs 38.4% desktop - the DataPulse landing page needs mobile optimization, particularly the signup form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⚠  </a:t>
            </a:r>
            <a:r>
              <a:rPr sz="1200">
                <a:solidFill>
                  <a:srgbClr val="CBD5E1"/>
                </a:solidFill>
                <a:latin typeface="Calibri"/>
              </a:rPr>
              <a:t>LinkedIn organic traffic represents only 4.6% despite B2B audience - recommend increasing LinkedIn content frequency from 2x to 4x weekly</a:t>
            </a:r>
          </a:p>
        </p:txBody>
      </p:sp>
      <p:sp>
        <p:nvSpPr>
          <p:cNvPr id="6" name="Shape 4"/>
          <p:cNvSpPr/>
          <p:nvPr/>
        </p:nvSpPr>
        <p:spPr>
          <a:xfrm>
            <a:off x="0" y="6839712"/>
            <a:ext cx="1216152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3716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Action Items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554480"/>
            <a:ext cx="10149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200" b="1">
                <a:solidFill>
                  <a:srgbClr val="4338CA"/>
                </a:solidFill>
                <a:latin typeface="Calibri"/>
              </a:rPr>
              <a:t>→  </a:t>
            </a:r>
            <a:r>
              <a:rPr sz="1200">
                <a:solidFill>
                  <a:srgbClr val="CBD5E1"/>
                </a:solidFill>
                <a:latin typeface="Calibri"/>
              </a:rPr>
              <a:t>Pause Lookalike Audiences campaign and create new audience based on March trial signups - implement by April 5</a:t>
            </a:r>
            <a:endParaRPr lang="en-US" sz="12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4338CA"/>
                </a:solidFill>
                <a:latin typeface="Calibri"/>
              </a:rPr>
              <a:t>→  </a:t>
            </a:r>
            <a:r>
              <a:rPr sz="1200">
                <a:solidFill>
                  <a:srgbClr val="CBD5E1"/>
                </a:solidFill>
                <a:latin typeface="Calibri"/>
              </a:rPr>
              <a:t>A/B test mobile landing page with simplified signup form - launch test by April 3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4338CA"/>
                </a:solidFill>
                <a:latin typeface="Calibri"/>
              </a:rPr>
              <a:t>→  </a:t>
            </a:r>
            <a:r>
              <a:rPr sz="1200">
                <a:solidFill>
                  <a:srgbClr val="CBD5E1"/>
                </a:solidFill>
                <a:latin typeface="Calibri"/>
              </a:rPr>
              <a:t>Increase Meta retargeting budget by 25% ($800) given strong 4.2x ROAS - effective immediately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4338CA"/>
                </a:solidFill>
                <a:latin typeface="Calibri"/>
              </a:rPr>
              <a:t>→  </a:t>
            </a:r>
            <a:r>
              <a:rPr sz="1200">
                <a:solidFill>
                  <a:srgbClr val="CBD5E1"/>
                </a:solidFill>
                <a:latin typeface="Calibri"/>
              </a:rPr>
              <a:t>Develop LinkedIn thought leadership content calendar for April - draft by April 7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4338CA"/>
                </a:solidFill>
                <a:latin typeface="Calibri"/>
              </a:rPr>
              <a:t>→  </a:t>
            </a:r>
            <a:r>
              <a:rPr sz="1200">
                <a:solidFill>
                  <a:srgbClr val="CBD5E1"/>
                </a:solidFill>
                <a:latin typeface="Calibri"/>
              </a:rPr>
              <a:t>Schedule Google Ads keyword expansion targeting DataPulse competitor terms - launch April 10</a:t>
            </a:r>
          </a:p>
        </p:txBody>
      </p:sp>
      <p:sp>
        <p:nvSpPr>
          <p:cNvPr id="6" name="Shape 4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164E63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Reply to this email or schedule a call.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Report</dc:title>
  <dc:subject>PptxGenJS Presentation</dc:subject>
  <dc:creator>ReportPilot</dc:creator>
  <cp:lastModifiedBy>ReportPilot</cp:lastModifiedBy>
  <cp:revision>1</cp:revision>
  <dcterms:created xsi:type="dcterms:W3CDTF">2026-03-24T10:39:55Z</dcterms:created>
  <dcterms:modified xsi:type="dcterms:W3CDTF">2026-03-24T10:39:55Z</dcterms:modified>
</cp:coreProperties>
</file>