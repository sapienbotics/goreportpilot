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31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TechVista Solutions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166360" y="3657600"/>
            <a:ext cx="1828800" cy="91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9319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1, 2026 to Mar 31,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38912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5029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630936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SapienBotics Agency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554480"/>
            <a:ext cx="9418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334155"/>
                </a:solidFill>
                <a:latin typeface="Calibri"/>
              </a:rPr>
              <a:t>March 2026 was a breakthrough month for TechVista Solutions following the DataPulse product launch on February 15th. Website sessions surged 34.2% to 45,230, driven primarily by a well-executed Google Ads campaign and strong organic search performance.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The combined paid advertising effort across Meta Ads and Google yielded 1,240 conversions - a 67.5% increase over the previous period. Meta Ads delivered a strong 3.8x ROAS with the retargeting campaign performing exceptionally well at 4.2x ROAS.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SEO efforts are paying dividends, with organic traffic now representing 33.6% of total sessions. The TechCrunch feature on March 12th generated a notable referral traffic spike that contributed to 950 new users.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Key areas requiring attention include the Lookalike Audiences campaign which underperformed at 2.8x ROAS, and the overall bounce rate on mobile devices which remains elevated at 52.1% compared to 38.4% on desktop.</a:t>
            </a:r>
          </a:p>
        </p:txBody>
      </p:sp>
      <p:sp>
        <p:nvSpPr>
          <p:cNvPr id="5" name="Shape 3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600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45,230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+34.2%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337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0" y="1600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337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38160" y="1600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3816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13816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+67.5%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337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7160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4160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$8,450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71600" y="4937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5623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4160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54880" y="4937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+22.6%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5623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3816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CONV.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38160" y="4160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$20.12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138160" y="4937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+14.4%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5623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Page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TechVista's website experienced exceptional growth in March, with sessions climbing from 33,705 to 45,230 - a 34.2% increase. The DataPulse launch on February 15th continued to drive interest throughout March, with a visible traffic spike during March 15-18 coinciding with the TechCrunch feature article.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User acquisition was strong with 19,200 new users (67.5% of total users), indicating effective top-of-funnel marketing. Returning users also grew by 18.3%, suggesting the product is generating genuine interest.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bounce rate improved significantly from 50.4% to 42.3%, a testament to the landing page optimizations implemented in late February. Average session duration of 3 minutes and 5 seconds indicates users are engaging deeply with product content.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Traffic sources showed healthy diversification: organic search (33.6%), paid search (28.3%), paid social (18.6%), direct (11.3%), LinkedIn (4.6%), and referrals (3.6%).</a:t>
            </a:r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Page 4</a:t>
            </a:r>
            <a:endParaRPr lang="en-US" sz="700" dirty="0"/>
          </a:p>
        </p:txBody>
      </p:sp>
      <p:pic>
        <p:nvPicPr>
          <p:cNvPr id="9" name="Picture 8" descr="s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120640" cy="2743200"/>
          </a:xfrm>
          <a:prstGeom prst="rect">
            <a:avLst/>
          </a:prstGeom>
        </p:spPr>
      </p:pic>
      <p:pic>
        <p:nvPicPr>
          <p:cNvPr id="10" name="Picture 9" descr="traffic_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Advertising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Meta Ads investment of $8,450 delivered 420 conversions at a cost per acquisition of $20.12, generating an overall ROAS of 3.8x. This represents a 45.8% increase in conversions compared to February.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DataPulse Retargeting campaign was the clear winner, generating 210 conversions at 4.2x ROAS - this campaign alone justified 50% of total conversions at the lowest CPA. The Brand Awareness campaign reached 220,000 impressions and contributed 120 conversions.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Competitor Targeting campaign showed promising results with a 3.5x ROAS, successfully capturing users researching alternative solutions. However, the Lookalike Audiences campaign underperformed at 2.8x ROAS and warrants creative refresh or audience refinement.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CTR across all campaigns averaged 3.0%, above the industry benchmark of 2.1% for B2B SaaS. CPC remained efficient at $0.54, down from $0.62 in February.</a:t>
            </a:r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Page 5</a:t>
            </a:r>
            <a:endParaRPr lang="en-US" sz="700" dirty="0"/>
          </a:p>
        </p:txBody>
      </p:sp>
      <p:pic>
        <p:nvPicPr>
          <p:cNvPr id="9" name="Picture 8" descr="spend_conver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120640" cy="2743200"/>
          </a:xfrm>
          <a:prstGeom prst="rect">
            <a:avLst/>
          </a:prstGeom>
        </p:spPr>
      </p:pic>
      <p:pic>
        <p:nvPicPr>
          <p:cNvPr id="10" name="Picture 9" descr="campaig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Wins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554480"/>
            <a:ext cx="9418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Sessions surged 34.2% to 45,230, marking the highest traffic month in company history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Conversions jumped 67.5% to 1,240, exceeding the monthly target of 500 trial signups by 148%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Meta Ads retargeting campaign delivered exceptional 4.2x ROAS with 210 conversions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Bounce rate improved from 50.4% to 42.3%, indicating stronger landing page performance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TechCrunch feature generated 950 referral users and boosted brand authority</a:t>
            </a:r>
          </a:p>
        </p:txBody>
      </p:sp>
      <p:sp>
        <p:nvSpPr>
          <p:cNvPr id="5" name="Shape 3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Page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554480"/>
            <a:ext cx="9418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Lookalike Audiences campaign underperforming at 2.8x ROAS - recommend pausing and testing new audience segments based on DataPulse trial signups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Mobile bounce rate at 52.1% vs 38.4% desktop - the DataPulse landing page needs mobile optimization, particularly the signup form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LinkedIn organic traffic represents only 4.6% despite B2B audience - recommend increasing LinkedIn content frequency from 2x to 4x weekly</a:t>
            </a:r>
          </a:p>
        </p:txBody>
      </p:sp>
      <p:sp>
        <p:nvSpPr>
          <p:cNvPr id="5" name="Shape 3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Page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55448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Pause Lookalike Audiences campaign and create new audience based on March trial signups - implement by April 5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A/B test mobile landing page with simplified signup form - launch test by April 3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Increase Meta retargeting budget by 25% ($800) given strong 4.2x ROAS - effective immediately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Develop LinkedIn thought leadership content calendar for April - draft by April 7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Schedule Google Ads keyword expansion targeting DataPulse competitor terms - launch April 10</a:t>
            </a:r>
          </a:p>
        </p:txBody>
      </p:sp>
      <p:sp>
        <p:nvSpPr>
          <p:cNvPr id="5" name="Shape 3"/>
          <p:cNvSpPr/>
          <p:nvPr/>
        </p:nvSpPr>
        <p:spPr>
          <a:xfrm>
            <a:off x="1371600" y="5669280"/>
            <a:ext cx="9418320" cy="91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5852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SapienBotics Agency  •  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Page 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2026-03-24T10:39:56Z</dcterms:created>
  <dcterms:modified xsi:type="dcterms:W3CDTF">2026-03-24T10:39:56Z</dcterms:modified>
</cp:coreProperties>
</file>