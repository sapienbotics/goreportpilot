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338C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75120" y="0"/>
            <a:ext cx="5486400" cy="6858000"/>
          </a:xfrm>
          <a:prstGeom prst="rtTriangle">
            <a:avLst/>
          </a:prstGeom>
          <a:solidFill>
            <a:srgbClr val="3730A3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73152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6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REPORT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2743200" cy="3657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" name="Text 3"/>
          <p:cNvSpPr/>
          <p:nvPr/>
        </p:nvSpPr>
        <p:spPr>
          <a:xfrm>
            <a:off x="9418320" y="457200"/>
            <a:ext cx="20116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7D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{{agency_logo}}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731520" y="1828800"/>
            <a:ext cx="64008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{{client_name}}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731520" y="3566160"/>
            <a:ext cx="5486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7D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{{report_period}}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4069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{{report_type}}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961120" y="3657600"/>
            <a:ext cx="22860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7D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{{client_logo}}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731520" y="62179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by {{agency_name}}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188720"/>
          </a:xfrm>
          <a:prstGeom prst="rect">
            <a:avLst/>
          </a:prstGeom>
          <a:solidFill>
            <a:srgbClr val="4338CA"/>
          </a:solidFill>
          <a:ln/>
        </p:spPr>
      </p:sp>
      <p:sp>
        <p:nvSpPr>
          <p:cNvPr id="3" name="Shape 1"/>
          <p:cNvSpPr/>
          <p:nvPr/>
        </p:nvSpPr>
        <p:spPr>
          <a:xfrm>
            <a:off x="8961120" y="0"/>
            <a:ext cx="3200400" cy="1188720"/>
          </a:xfrm>
          <a:prstGeom prst="rtTriangle">
            <a:avLst/>
          </a:prstGeom>
          <a:solidFill>
            <a:srgbClr val="3730A3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228600"/>
            <a:ext cx="7589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Summary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31520" y="1463040"/>
            <a:ext cx="1069848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{{executive_summary}}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31520" y="65105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Confidential  •  Page 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188720"/>
          </a:xfrm>
          <a:prstGeom prst="rect">
            <a:avLst/>
          </a:prstGeom>
          <a:solidFill>
            <a:srgbClr val="4338CA"/>
          </a:solidFill>
          <a:ln/>
        </p:spPr>
      </p:sp>
      <p:sp>
        <p:nvSpPr>
          <p:cNvPr id="3" name="Shape 1"/>
          <p:cNvSpPr/>
          <p:nvPr/>
        </p:nvSpPr>
        <p:spPr>
          <a:xfrm>
            <a:off x="8961120" y="0"/>
            <a:ext cx="3200400" cy="1188720"/>
          </a:xfrm>
          <a:prstGeom prst="rtTriangle">
            <a:avLst/>
          </a:prstGeom>
          <a:solidFill>
            <a:srgbClr val="3730A3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228600"/>
            <a:ext cx="7589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Performance Indicators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31520" y="1508760"/>
            <a:ext cx="3200400" cy="20116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31520" y="1508760"/>
            <a:ext cx="73152" cy="2011680"/>
          </a:xfrm>
          <a:prstGeom prst="rect">
            <a:avLst/>
          </a:prstGeom>
          <a:solidFill>
            <a:srgbClr val="4338CA"/>
          </a:solidFill>
          <a:ln/>
        </p:spPr>
      </p:sp>
      <p:sp>
        <p:nvSpPr>
          <p:cNvPr id="7" name="Text 5"/>
          <p:cNvSpPr/>
          <p:nvPr/>
        </p:nvSpPr>
        <p:spPr>
          <a:xfrm>
            <a:off x="987552" y="1691640"/>
            <a:ext cx="27614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{{kpi_0_label}}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987552" y="2057400"/>
            <a:ext cx="2761488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{{kpi_0_value}}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987552" y="2834640"/>
            <a:ext cx="276148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{{kpi_0_change}}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251960" y="1508760"/>
            <a:ext cx="3200400" cy="20116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251960" y="1508760"/>
            <a:ext cx="73152" cy="2011680"/>
          </a:xfrm>
          <a:prstGeom prst="rect">
            <a:avLst/>
          </a:prstGeom>
          <a:solidFill>
            <a:srgbClr val="4338CA"/>
          </a:solidFill>
          <a:ln/>
        </p:spPr>
      </p:sp>
      <p:sp>
        <p:nvSpPr>
          <p:cNvPr id="12" name="Text 10"/>
          <p:cNvSpPr/>
          <p:nvPr/>
        </p:nvSpPr>
        <p:spPr>
          <a:xfrm>
            <a:off x="4507992" y="1691640"/>
            <a:ext cx="27614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{{kpi_1_label}}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507992" y="2057400"/>
            <a:ext cx="2761488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{{kpi_1_value}}</a:t>
            </a:r>
            <a:endParaRPr lang="en-US" sz="3200" dirty="0"/>
          </a:p>
        </p:txBody>
      </p:sp>
      <p:sp>
        <p:nvSpPr>
          <p:cNvPr id="14" name="Text 12"/>
          <p:cNvSpPr/>
          <p:nvPr/>
        </p:nvSpPr>
        <p:spPr>
          <a:xfrm>
            <a:off x="4507992" y="2834640"/>
            <a:ext cx="276148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{{kpi_1_change}}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772400" y="1508760"/>
            <a:ext cx="3200400" cy="20116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7772400" y="1508760"/>
            <a:ext cx="73152" cy="2011680"/>
          </a:xfrm>
          <a:prstGeom prst="rect">
            <a:avLst/>
          </a:prstGeom>
          <a:solidFill>
            <a:srgbClr val="4338CA"/>
          </a:solidFill>
          <a:ln/>
        </p:spPr>
      </p:sp>
      <p:sp>
        <p:nvSpPr>
          <p:cNvPr id="17" name="Text 15"/>
          <p:cNvSpPr/>
          <p:nvPr/>
        </p:nvSpPr>
        <p:spPr>
          <a:xfrm>
            <a:off x="8028432" y="1691640"/>
            <a:ext cx="27614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{{kpi_2_label}}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8028432" y="2057400"/>
            <a:ext cx="2761488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{{kpi_2_value}}</a:t>
            </a:r>
            <a:endParaRPr lang="en-US" sz="3200" dirty="0"/>
          </a:p>
        </p:txBody>
      </p:sp>
      <p:sp>
        <p:nvSpPr>
          <p:cNvPr id="19" name="Text 17"/>
          <p:cNvSpPr/>
          <p:nvPr/>
        </p:nvSpPr>
        <p:spPr>
          <a:xfrm>
            <a:off x="8028432" y="2834640"/>
            <a:ext cx="276148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{{kpi_2_change}}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731520" y="3840480"/>
            <a:ext cx="3200400" cy="20116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731520" y="3840480"/>
            <a:ext cx="73152" cy="2011680"/>
          </a:xfrm>
          <a:prstGeom prst="rect">
            <a:avLst/>
          </a:prstGeom>
          <a:solidFill>
            <a:srgbClr val="4338CA"/>
          </a:solidFill>
          <a:ln/>
        </p:spPr>
      </p:sp>
      <p:sp>
        <p:nvSpPr>
          <p:cNvPr id="22" name="Text 20"/>
          <p:cNvSpPr/>
          <p:nvPr/>
        </p:nvSpPr>
        <p:spPr>
          <a:xfrm>
            <a:off x="987552" y="4023360"/>
            <a:ext cx="27614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{{kpi_3_label}}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987552" y="4389120"/>
            <a:ext cx="2761488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{{kpi_3_value}}</a:t>
            </a:r>
            <a:endParaRPr lang="en-US" sz="3200" dirty="0"/>
          </a:p>
        </p:txBody>
      </p:sp>
      <p:sp>
        <p:nvSpPr>
          <p:cNvPr id="24" name="Text 22"/>
          <p:cNvSpPr/>
          <p:nvPr/>
        </p:nvSpPr>
        <p:spPr>
          <a:xfrm>
            <a:off x="987552" y="5166360"/>
            <a:ext cx="276148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{{kpi_3_change}}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4251960" y="3840480"/>
            <a:ext cx="3200400" cy="20116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251960" y="3840480"/>
            <a:ext cx="73152" cy="2011680"/>
          </a:xfrm>
          <a:prstGeom prst="rect">
            <a:avLst/>
          </a:prstGeom>
          <a:solidFill>
            <a:srgbClr val="4338CA"/>
          </a:solidFill>
          <a:ln/>
        </p:spPr>
      </p:sp>
      <p:sp>
        <p:nvSpPr>
          <p:cNvPr id="27" name="Text 25"/>
          <p:cNvSpPr/>
          <p:nvPr/>
        </p:nvSpPr>
        <p:spPr>
          <a:xfrm>
            <a:off x="4507992" y="4023360"/>
            <a:ext cx="27614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{{kpi_4_label}}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4507992" y="4389120"/>
            <a:ext cx="2761488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{{kpi_4_value}}</a:t>
            </a:r>
            <a:endParaRPr lang="en-US" sz="3200" dirty="0"/>
          </a:p>
        </p:txBody>
      </p:sp>
      <p:sp>
        <p:nvSpPr>
          <p:cNvPr id="29" name="Text 27"/>
          <p:cNvSpPr/>
          <p:nvPr/>
        </p:nvSpPr>
        <p:spPr>
          <a:xfrm>
            <a:off x="4507992" y="5166360"/>
            <a:ext cx="276148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{{kpi_4_change}}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7772400" y="3840480"/>
            <a:ext cx="3200400" cy="20116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7772400" y="3840480"/>
            <a:ext cx="73152" cy="2011680"/>
          </a:xfrm>
          <a:prstGeom prst="rect">
            <a:avLst/>
          </a:prstGeom>
          <a:solidFill>
            <a:srgbClr val="4338CA"/>
          </a:solidFill>
          <a:ln/>
        </p:spPr>
      </p:sp>
      <p:sp>
        <p:nvSpPr>
          <p:cNvPr id="32" name="Text 30"/>
          <p:cNvSpPr/>
          <p:nvPr/>
        </p:nvSpPr>
        <p:spPr>
          <a:xfrm>
            <a:off x="8028432" y="4023360"/>
            <a:ext cx="27614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{{kpi_5_label}}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028432" y="4389120"/>
            <a:ext cx="2761488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{{kpi_5_value}}</a:t>
            </a:r>
            <a:endParaRPr lang="en-US" sz="3200" dirty="0"/>
          </a:p>
        </p:txBody>
      </p:sp>
      <p:sp>
        <p:nvSpPr>
          <p:cNvPr id="34" name="Text 32"/>
          <p:cNvSpPr/>
          <p:nvPr/>
        </p:nvSpPr>
        <p:spPr>
          <a:xfrm>
            <a:off x="8028432" y="5166360"/>
            <a:ext cx="276148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{{kpi_5_change}}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731520" y="65105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Confidential  •  Page 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188720"/>
          </a:xfrm>
          <a:prstGeom prst="rect">
            <a:avLst/>
          </a:prstGeom>
          <a:solidFill>
            <a:srgbClr val="4338CA"/>
          </a:solidFill>
          <a:ln/>
        </p:spPr>
      </p:sp>
      <p:sp>
        <p:nvSpPr>
          <p:cNvPr id="3" name="Shape 1"/>
          <p:cNvSpPr/>
          <p:nvPr/>
        </p:nvSpPr>
        <p:spPr>
          <a:xfrm>
            <a:off x="8961120" y="0"/>
            <a:ext cx="3200400" cy="1188720"/>
          </a:xfrm>
          <a:prstGeom prst="rtTriangle">
            <a:avLst/>
          </a:prstGeom>
          <a:solidFill>
            <a:srgbClr val="3730A3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228600"/>
            <a:ext cx="7589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Website Performance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31520" y="1463040"/>
            <a:ext cx="5120640" cy="27432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31520" y="1463040"/>
            <a:ext cx="512064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{{chart_sessions}}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6217920" y="1463040"/>
            <a:ext cx="5212080" cy="27432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217920" y="1463040"/>
            <a:ext cx="521208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{{chart_traffic}}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31520" y="4480560"/>
            <a:ext cx="1069848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{{website_narrative}}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31520" y="65105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Confidential  •  Page 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188720"/>
          </a:xfrm>
          <a:prstGeom prst="rect">
            <a:avLst/>
          </a:prstGeom>
          <a:solidFill>
            <a:srgbClr val="4338CA"/>
          </a:solidFill>
          <a:ln/>
        </p:spPr>
      </p:sp>
      <p:sp>
        <p:nvSpPr>
          <p:cNvPr id="3" name="Shape 1"/>
          <p:cNvSpPr/>
          <p:nvPr/>
        </p:nvSpPr>
        <p:spPr>
          <a:xfrm>
            <a:off x="8961120" y="0"/>
            <a:ext cx="3200400" cy="1188720"/>
          </a:xfrm>
          <a:prstGeom prst="rtTriangle">
            <a:avLst/>
          </a:prstGeom>
          <a:solidFill>
            <a:srgbClr val="3730A3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228600"/>
            <a:ext cx="7589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Website Engagement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31520" y="1463040"/>
            <a:ext cx="5120640" cy="27432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31520" y="1463040"/>
            <a:ext cx="512064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{{chart_device_breakdown}}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6217920" y="1463040"/>
            <a:ext cx="5212080" cy="27432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217920" y="1463040"/>
            <a:ext cx="521208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{{chart_top_pages}}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31520" y="4480560"/>
            <a:ext cx="1069848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{{website_narrative}}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31520" y="65105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Confidential  •  Page 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188720"/>
          </a:xfrm>
          <a:prstGeom prst="rect">
            <a:avLst/>
          </a:prstGeom>
          <a:solidFill>
            <a:srgbClr val="4338CA"/>
          </a:solidFill>
          <a:ln/>
        </p:spPr>
      </p:sp>
      <p:sp>
        <p:nvSpPr>
          <p:cNvPr id="3" name="Shape 1"/>
          <p:cNvSpPr/>
          <p:nvPr/>
        </p:nvSpPr>
        <p:spPr>
          <a:xfrm>
            <a:off x="8961120" y="0"/>
            <a:ext cx="3200400" cy="1188720"/>
          </a:xfrm>
          <a:prstGeom prst="rtTriangle">
            <a:avLst/>
          </a:prstGeom>
          <a:solidFill>
            <a:srgbClr val="3730A3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228600"/>
            <a:ext cx="7589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Audience Insights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31520" y="1463040"/>
            <a:ext cx="5120640" cy="27432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31520" y="1463040"/>
            <a:ext cx="512064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{{chart_new_vs_returning}}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6217920" y="1463040"/>
            <a:ext cx="5212080" cy="27432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217920" y="1463040"/>
            <a:ext cx="521208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{{chart_top_countries}}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31520" y="4480560"/>
            <a:ext cx="1069848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{{website_narrative}}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31520" y="65105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Confidential  •  Page 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188720"/>
          </a:xfrm>
          <a:prstGeom prst="rect">
            <a:avLst/>
          </a:prstGeom>
          <a:solidFill>
            <a:srgbClr val="4338CA"/>
          </a:solidFill>
          <a:ln/>
        </p:spPr>
      </p:sp>
      <p:sp>
        <p:nvSpPr>
          <p:cNvPr id="3" name="Shape 1"/>
          <p:cNvSpPr/>
          <p:nvPr/>
        </p:nvSpPr>
        <p:spPr>
          <a:xfrm>
            <a:off x="8961120" y="0"/>
            <a:ext cx="3200400" cy="1188720"/>
          </a:xfrm>
          <a:prstGeom prst="rtTriangle">
            <a:avLst/>
          </a:prstGeom>
          <a:solidFill>
            <a:srgbClr val="3730A3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228600"/>
            <a:ext cx="7589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Bounce Rate Analysis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31520" y="1463040"/>
            <a:ext cx="10698480" cy="365760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31520" y="1463040"/>
            <a:ext cx="1069848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{{chart_bounce_rate}}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31520" y="5394960"/>
            <a:ext cx="1069848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{{website_narrative}}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31520" y="65105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Confidential  •  Page 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188720"/>
          </a:xfrm>
          <a:prstGeom prst="rect">
            <a:avLst/>
          </a:prstGeom>
          <a:solidFill>
            <a:srgbClr val="4338CA"/>
          </a:solidFill>
          <a:ln/>
        </p:spPr>
      </p:sp>
      <p:sp>
        <p:nvSpPr>
          <p:cNvPr id="3" name="Shape 1"/>
          <p:cNvSpPr/>
          <p:nvPr/>
        </p:nvSpPr>
        <p:spPr>
          <a:xfrm>
            <a:off x="8961120" y="0"/>
            <a:ext cx="3200400" cy="1188720"/>
          </a:xfrm>
          <a:prstGeom prst="rtTriangle">
            <a:avLst/>
          </a:prstGeom>
          <a:solidFill>
            <a:srgbClr val="3730A3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228600"/>
            <a:ext cx="7589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Paid Advertising — Meta Ads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31520" y="1463040"/>
            <a:ext cx="5120640" cy="27432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31520" y="1463040"/>
            <a:ext cx="512064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{{chart_spend}}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6217920" y="1463040"/>
            <a:ext cx="5212080" cy="27432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217920" y="1463040"/>
            <a:ext cx="521208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{{chart_campaigns}}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31520" y="4480560"/>
            <a:ext cx="1069848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{{ads_narrative}}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31520" y="65105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Confidential  •  Page 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188720"/>
          </a:xfrm>
          <a:prstGeom prst="rect">
            <a:avLst/>
          </a:prstGeom>
          <a:solidFill>
            <a:srgbClr val="4338CA"/>
          </a:solidFill>
          <a:ln/>
        </p:spPr>
      </p:sp>
      <p:sp>
        <p:nvSpPr>
          <p:cNvPr id="3" name="Shape 1"/>
          <p:cNvSpPr/>
          <p:nvPr/>
        </p:nvSpPr>
        <p:spPr>
          <a:xfrm>
            <a:off x="8961120" y="0"/>
            <a:ext cx="3200400" cy="1188720"/>
          </a:xfrm>
          <a:prstGeom prst="rtTriangle">
            <a:avLst/>
          </a:prstGeom>
          <a:solidFill>
            <a:srgbClr val="3730A3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228600"/>
            <a:ext cx="7589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 Ads — Audience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31520" y="1463040"/>
            <a:ext cx="5120640" cy="27432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31520" y="1463040"/>
            <a:ext cx="512064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{{chart_demographics}}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6217920" y="1463040"/>
            <a:ext cx="5212080" cy="27432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217920" y="1463040"/>
            <a:ext cx="521208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{{chart_placements}}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31520" y="4480560"/>
            <a:ext cx="1069848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{{ads_narrative}}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31520" y="65105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Confidential  •  Page 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188720"/>
          </a:xfrm>
          <a:prstGeom prst="rect">
            <a:avLst/>
          </a:prstGeom>
          <a:solidFill>
            <a:srgbClr val="4338CA"/>
          </a:solidFill>
          <a:ln/>
        </p:spPr>
      </p:sp>
      <p:sp>
        <p:nvSpPr>
          <p:cNvPr id="3" name="Shape 1"/>
          <p:cNvSpPr/>
          <p:nvPr/>
        </p:nvSpPr>
        <p:spPr>
          <a:xfrm>
            <a:off x="8961120" y="0"/>
            <a:ext cx="3200400" cy="1188720"/>
          </a:xfrm>
          <a:prstGeom prst="rtTriangle">
            <a:avLst/>
          </a:prstGeom>
          <a:solidFill>
            <a:srgbClr val="3730A3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228600"/>
            <a:ext cx="7589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 Ads — Top Ads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31520" y="1463040"/>
            <a:ext cx="10698480" cy="365760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31520" y="1463040"/>
            <a:ext cx="1069848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{{chart_campaigns}}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31520" y="5394960"/>
            <a:ext cx="1069848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{{ads_narrative}}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31520" y="65105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Confidential  •  Page 10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188720"/>
          </a:xfrm>
          <a:prstGeom prst="rect">
            <a:avLst/>
          </a:prstGeom>
          <a:solidFill>
            <a:srgbClr val="4338CA"/>
          </a:solidFill>
          <a:ln/>
        </p:spPr>
      </p:sp>
      <p:sp>
        <p:nvSpPr>
          <p:cNvPr id="3" name="Shape 1"/>
          <p:cNvSpPr/>
          <p:nvPr/>
        </p:nvSpPr>
        <p:spPr>
          <a:xfrm>
            <a:off x="8961120" y="0"/>
            <a:ext cx="3200400" cy="1188720"/>
          </a:xfrm>
          <a:prstGeom prst="rtTriangle">
            <a:avLst/>
          </a:prstGeom>
          <a:solidFill>
            <a:srgbClr val="3730A3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228600"/>
            <a:ext cx="7589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Advertising — Google Ads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31520" y="1463040"/>
            <a:ext cx="5120640" cy="27432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31520" y="1463040"/>
            <a:ext cx="512064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{{chart_gads_spend}}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6217920" y="1463040"/>
            <a:ext cx="5212080" cy="27432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217920" y="1463040"/>
            <a:ext cx="521208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{{chart_gads_campaigns}}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31520" y="4480560"/>
            <a:ext cx="1069848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{{google_ads_narrative}}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31520" y="65105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Confidential  •  Page 11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188720"/>
          </a:xfrm>
          <a:prstGeom prst="rect">
            <a:avLst/>
          </a:prstGeom>
          <a:solidFill>
            <a:srgbClr val="4338CA"/>
          </a:solidFill>
          <a:ln/>
        </p:spPr>
      </p:sp>
      <p:sp>
        <p:nvSpPr>
          <p:cNvPr id="3" name="Shape 1"/>
          <p:cNvSpPr/>
          <p:nvPr/>
        </p:nvSpPr>
        <p:spPr>
          <a:xfrm>
            <a:off x="8961120" y="0"/>
            <a:ext cx="3200400" cy="1188720"/>
          </a:xfrm>
          <a:prstGeom prst="rtTriangle">
            <a:avLst/>
          </a:prstGeom>
          <a:solidFill>
            <a:srgbClr val="3730A3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228600"/>
            <a:ext cx="7589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Terms Performance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31520" y="1463040"/>
            <a:ext cx="10698480" cy="365760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31520" y="1463040"/>
            <a:ext cx="1069848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{{chart_search_terms}}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31520" y="5394960"/>
            <a:ext cx="1069848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{{google_ads_narrative}}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31520" y="65105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Confidential  •  Page 12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188720"/>
          </a:xfrm>
          <a:prstGeom prst="rect">
            <a:avLst/>
          </a:prstGeom>
          <a:solidFill>
            <a:srgbClr val="4338CA"/>
          </a:solidFill>
          <a:ln/>
        </p:spPr>
      </p:sp>
      <p:sp>
        <p:nvSpPr>
          <p:cNvPr id="3" name="Shape 1"/>
          <p:cNvSpPr/>
          <p:nvPr/>
        </p:nvSpPr>
        <p:spPr>
          <a:xfrm>
            <a:off x="8961120" y="0"/>
            <a:ext cx="3200400" cy="1188720"/>
          </a:xfrm>
          <a:prstGeom prst="rtTriangle">
            <a:avLst/>
          </a:prstGeom>
          <a:solidFill>
            <a:srgbClr val="3730A3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228600"/>
            <a:ext cx="7589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Organic Search — SEO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31520" y="1463040"/>
            <a:ext cx="5120640" cy="27432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31520" y="1463040"/>
            <a:ext cx="512064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{{chart_seo_trend}}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6217920" y="1463040"/>
            <a:ext cx="5212080" cy="27432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217920" y="1463040"/>
            <a:ext cx="521208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{{chart_top_queries}}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31520" y="4480560"/>
            <a:ext cx="1069848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{{seo_narrative}}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31520" y="65105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Confidential  •  Page 13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188720"/>
          </a:xfrm>
          <a:prstGeom prst="rect">
            <a:avLst/>
          </a:prstGeom>
          <a:solidFill>
            <a:srgbClr val="4338CA"/>
          </a:solidFill>
          <a:ln/>
        </p:spPr>
      </p:sp>
      <p:sp>
        <p:nvSpPr>
          <p:cNvPr id="3" name="Shape 1"/>
          <p:cNvSpPr/>
          <p:nvPr/>
        </p:nvSpPr>
        <p:spPr>
          <a:xfrm>
            <a:off x="8961120" y="0"/>
            <a:ext cx="3200400" cy="1188720"/>
          </a:xfrm>
          <a:prstGeom prst="rtTriangle">
            <a:avLst/>
          </a:prstGeom>
          <a:solidFill>
            <a:srgbClr val="3730A3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228600"/>
            <a:ext cx="7589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{{csv_source_name}}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31520" y="1463040"/>
            <a:ext cx="5029200" cy="68580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31520" y="1463040"/>
            <a:ext cx="73152" cy="685800"/>
          </a:xfrm>
          <a:prstGeom prst="rect">
            <a:avLst/>
          </a:prstGeom>
          <a:solidFill>
            <a:srgbClr val="4338CA"/>
          </a:solidFill>
          <a:ln/>
        </p:spPr>
      </p:sp>
      <p:sp>
        <p:nvSpPr>
          <p:cNvPr id="7" name="Text 5"/>
          <p:cNvSpPr/>
          <p:nvPr/>
        </p:nvSpPr>
        <p:spPr>
          <a:xfrm>
            <a:off x="932688" y="1508760"/>
            <a:ext cx="473659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{{csv_kpi_0_label}}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932688" y="1737360"/>
            <a:ext cx="473659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{{csv_kpi_0_value}}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6583680" y="1463040"/>
            <a:ext cx="5029200" cy="68580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583680" y="1463040"/>
            <a:ext cx="73152" cy="685800"/>
          </a:xfrm>
          <a:prstGeom prst="rect">
            <a:avLst/>
          </a:prstGeom>
          <a:solidFill>
            <a:srgbClr val="4338CA"/>
          </a:solidFill>
          <a:ln/>
        </p:spPr>
      </p:sp>
      <p:sp>
        <p:nvSpPr>
          <p:cNvPr id="11" name="Text 9"/>
          <p:cNvSpPr/>
          <p:nvPr/>
        </p:nvSpPr>
        <p:spPr>
          <a:xfrm>
            <a:off x="6784848" y="1508760"/>
            <a:ext cx="473659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{{csv_kpi_1_label}}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784848" y="1737360"/>
            <a:ext cx="473659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{{csv_kpi_1_value}}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731520" y="2286000"/>
            <a:ext cx="5029200" cy="68580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731520" y="2286000"/>
            <a:ext cx="73152" cy="685800"/>
          </a:xfrm>
          <a:prstGeom prst="rect">
            <a:avLst/>
          </a:prstGeom>
          <a:solidFill>
            <a:srgbClr val="4338CA"/>
          </a:solidFill>
          <a:ln/>
        </p:spPr>
      </p:sp>
      <p:sp>
        <p:nvSpPr>
          <p:cNvPr id="15" name="Text 13"/>
          <p:cNvSpPr/>
          <p:nvPr/>
        </p:nvSpPr>
        <p:spPr>
          <a:xfrm>
            <a:off x="932688" y="2331720"/>
            <a:ext cx="473659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{{csv_kpi_2_label}}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932688" y="2560320"/>
            <a:ext cx="473659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{{csv_kpi_2_value}}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6583680" y="2286000"/>
            <a:ext cx="5029200" cy="68580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583680" y="2286000"/>
            <a:ext cx="73152" cy="685800"/>
          </a:xfrm>
          <a:prstGeom prst="rect">
            <a:avLst/>
          </a:prstGeom>
          <a:solidFill>
            <a:srgbClr val="4338CA"/>
          </a:solidFill>
          <a:ln/>
        </p:spPr>
      </p:sp>
      <p:sp>
        <p:nvSpPr>
          <p:cNvPr id="19" name="Text 17"/>
          <p:cNvSpPr/>
          <p:nvPr/>
        </p:nvSpPr>
        <p:spPr>
          <a:xfrm>
            <a:off x="6784848" y="2331720"/>
            <a:ext cx="473659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{{csv_kpi_3_label}}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784848" y="2560320"/>
            <a:ext cx="473659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{{csv_kpi_3_value}}</a:t>
            </a:r>
            <a:endParaRPr lang="en-US" sz="2000" dirty="0"/>
          </a:p>
        </p:txBody>
      </p:sp>
      <p:sp>
        <p:nvSpPr>
          <p:cNvPr id="21" name="Shape 19"/>
          <p:cNvSpPr/>
          <p:nvPr/>
        </p:nvSpPr>
        <p:spPr>
          <a:xfrm>
            <a:off x="731520" y="3108960"/>
            <a:ext cx="5029200" cy="68580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731520" y="3108960"/>
            <a:ext cx="73152" cy="685800"/>
          </a:xfrm>
          <a:prstGeom prst="rect">
            <a:avLst/>
          </a:prstGeom>
          <a:solidFill>
            <a:srgbClr val="4338CA"/>
          </a:solidFill>
          <a:ln/>
        </p:spPr>
      </p:sp>
      <p:sp>
        <p:nvSpPr>
          <p:cNvPr id="23" name="Text 21"/>
          <p:cNvSpPr/>
          <p:nvPr/>
        </p:nvSpPr>
        <p:spPr>
          <a:xfrm>
            <a:off x="932688" y="3154680"/>
            <a:ext cx="473659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{{csv_kpi_4_label}}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932688" y="3383280"/>
            <a:ext cx="473659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{{csv_kpi_4_value}}</a:t>
            </a:r>
            <a:endParaRPr lang="en-US" sz="2000" dirty="0"/>
          </a:p>
        </p:txBody>
      </p:sp>
      <p:sp>
        <p:nvSpPr>
          <p:cNvPr id="25" name="Shape 23"/>
          <p:cNvSpPr/>
          <p:nvPr/>
        </p:nvSpPr>
        <p:spPr>
          <a:xfrm>
            <a:off x="6583680" y="3108960"/>
            <a:ext cx="5029200" cy="68580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6583680" y="3108960"/>
            <a:ext cx="73152" cy="685800"/>
          </a:xfrm>
          <a:prstGeom prst="rect">
            <a:avLst/>
          </a:prstGeom>
          <a:solidFill>
            <a:srgbClr val="4338CA"/>
          </a:solidFill>
          <a:ln/>
        </p:spPr>
      </p:sp>
      <p:sp>
        <p:nvSpPr>
          <p:cNvPr id="27" name="Text 25"/>
          <p:cNvSpPr/>
          <p:nvPr/>
        </p:nvSpPr>
        <p:spPr>
          <a:xfrm>
            <a:off x="6784848" y="3154680"/>
            <a:ext cx="473659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{{csv_kpi_5_label}}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784848" y="3383280"/>
            <a:ext cx="473659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{{csv_kpi_5_value}}</a:t>
            </a:r>
            <a:endParaRPr lang="en-US" sz="2000" dirty="0"/>
          </a:p>
        </p:txBody>
      </p:sp>
      <p:sp>
        <p:nvSpPr>
          <p:cNvPr id="29" name="Shape 27"/>
          <p:cNvSpPr/>
          <p:nvPr/>
        </p:nvSpPr>
        <p:spPr>
          <a:xfrm>
            <a:off x="731520" y="3749040"/>
            <a:ext cx="106984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731520" y="3749040"/>
            <a:ext cx="1069848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{{chart_csv_data}}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731520" y="65105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Confidential  •  Page 14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188720"/>
          </a:xfrm>
          <a:prstGeom prst="rect">
            <a:avLst/>
          </a:prstGeom>
          <a:solidFill>
            <a:srgbClr val="4338CA"/>
          </a:solidFill>
          <a:ln/>
        </p:spPr>
      </p:sp>
      <p:sp>
        <p:nvSpPr>
          <p:cNvPr id="3" name="Shape 1"/>
          <p:cNvSpPr/>
          <p:nvPr/>
        </p:nvSpPr>
        <p:spPr>
          <a:xfrm>
            <a:off x="8961120" y="0"/>
            <a:ext cx="3200400" cy="1188720"/>
          </a:xfrm>
          <a:prstGeom prst="rtTriangle">
            <a:avLst/>
          </a:prstGeom>
          <a:solidFill>
            <a:srgbClr val="3730A3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228600"/>
            <a:ext cx="7589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Conversion Funnel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31520" y="1463040"/>
            <a:ext cx="10698480" cy="365760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31520" y="1463040"/>
            <a:ext cx="1069848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{{chart_conversion_funnel}}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31520" y="5394960"/>
            <a:ext cx="1069848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{{website_narrative}}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31520" y="65105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Confidential  •  Page 15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18872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3" name="Shape 1"/>
          <p:cNvSpPr/>
          <p:nvPr/>
        </p:nvSpPr>
        <p:spPr>
          <a:xfrm>
            <a:off x="8961120" y="0"/>
            <a:ext cx="3200400" cy="1188720"/>
          </a:xfrm>
          <a:prstGeom prst="rtTriangle">
            <a:avLst/>
          </a:prstGeom>
          <a:solidFill>
            <a:srgbClr val="047857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228600"/>
            <a:ext cx="7589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Wins &amp; Highlights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31520" y="1463040"/>
            <a:ext cx="1069848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{{key_wins}}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31520" y="65105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Confidential  •  Page 16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18872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3" name="Shape 1"/>
          <p:cNvSpPr/>
          <p:nvPr/>
        </p:nvSpPr>
        <p:spPr>
          <a:xfrm>
            <a:off x="8961120" y="0"/>
            <a:ext cx="3200400" cy="1188720"/>
          </a:xfrm>
          <a:prstGeom prst="rtTriangle">
            <a:avLst/>
          </a:prstGeom>
          <a:solidFill>
            <a:srgbClr val="B45309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228600"/>
            <a:ext cx="7589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Concerns &amp; Recommendations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31520" y="1463040"/>
            <a:ext cx="1069848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{{concerns}}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31520" y="65105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Confidential  •  Page 17</a:t>
            </a:r>
            <a:endParaRPr lang="en-US" sz="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188720"/>
          </a:xfrm>
          <a:prstGeom prst="rect">
            <a:avLst/>
          </a:prstGeom>
          <a:solidFill>
            <a:srgbClr val="4338CA"/>
          </a:solidFill>
          <a:ln/>
        </p:spPr>
      </p:sp>
      <p:sp>
        <p:nvSpPr>
          <p:cNvPr id="3" name="Shape 1"/>
          <p:cNvSpPr/>
          <p:nvPr/>
        </p:nvSpPr>
        <p:spPr>
          <a:xfrm>
            <a:off x="8961120" y="0"/>
            <a:ext cx="3200400" cy="1188720"/>
          </a:xfrm>
          <a:prstGeom prst="rtTriangle">
            <a:avLst/>
          </a:prstGeom>
          <a:solidFill>
            <a:srgbClr val="3730A3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228600"/>
            <a:ext cx="7589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 &amp; Action Items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31520" y="1463040"/>
            <a:ext cx="1069848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{{next_steps}}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0" y="5760720"/>
            <a:ext cx="12161520" cy="1097280"/>
          </a:xfrm>
          <a:prstGeom prst="rect">
            <a:avLst/>
          </a:prstGeom>
          <a:solidFill>
            <a:srgbClr val="4338CA"/>
          </a:solidFill>
          <a:ln/>
        </p:spPr>
      </p:sp>
      <p:sp>
        <p:nvSpPr>
          <p:cNvPr id="7" name="Shape 5"/>
          <p:cNvSpPr/>
          <p:nvPr/>
        </p:nvSpPr>
        <p:spPr>
          <a:xfrm>
            <a:off x="9418320" y="5760720"/>
            <a:ext cx="2743200" cy="1097280"/>
          </a:xfrm>
          <a:prstGeom prst="rtTriangle">
            <a:avLst/>
          </a:prstGeom>
          <a:solidFill>
            <a:srgbClr val="3730A3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5806440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Questions? Reply to this email or schedule a call.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31520" y="6263640"/>
            <a:ext cx="10698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7D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{{agency_email}}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188720"/>
          </a:xfrm>
          <a:prstGeom prst="rect">
            <a:avLst/>
          </a:prstGeom>
          <a:solidFill>
            <a:srgbClr val="4338CA"/>
          </a:solidFill>
          <a:ln/>
        </p:spPr>
      </p:sp>
      <p:sp>
        <p:nvSpPr>
          <p:cNvPr id="3" name="Shape 1"/>
          <p:cNvSpPr/>
          <p:nvPr/>
        </p:nvSpPr>
        <p:spPr>
          <a:xfrm>
            <a:off x="8961120" y="0"/>
            <a:ext cx="3200400" cy="1188720"/>
          </a:xfrm>
          <a:prstGeom prst="rtTriangle">
            <a:avLst/>
          </a:prstGeom>
          <a:solidFill>
            <a:srgbClr val="3730A3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228600"/>
            <a:ext cx="7589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{{custom_section_title}}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31520" y="1463040"/>
            <a:ext cx="1069848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{{custom_section_text}}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31520" y="65105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Confidential  •  Page 19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Performance Report</dc:title>
  <dc:subject>PptxGenJS Presentation</dc:subject>
  <dc:creator>ReportPilot</dc:creator>
  <cp:lastModifiedBy>ReportPilot</cp:lastModifiedBy>
  <cp:revision>1</cp:revision>
  <dcterms:created xsi:type="dcterms:W3CDTF">2026-03-24T14:10:22Z</dcterms:created>
  <dcterms:modified xsi:type="dcterms:W3CDTF">2026-03-24T14:10:22Z</dcterms:modified>
</cp:coreProperties>
</file>